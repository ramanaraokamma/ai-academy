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942231"/>
            <a:ext cx="4503390" cy="23132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198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198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Academy</a:t>
            </a:r>
            <a:pPr indent="0" marL="0">
              <a:buNone/>
            </a:pPr>
            <a:r>
              <a:rPr lang="en-US" sz="6600" b="1" spc="-19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609600" y="3522166"/>
            <a:ext cx="3619500" cy="74562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2100"/>
              </a:spcBef>
              <a:buNone/>
            </a:pPr>
            <a:r>
              <a:rPr lang="en-US" sz="1350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Literacy for 250M Middle Schoolers</a:t>
            </a:r>
            <a:pPr indent="0" marL="0">
              <a:buNone/>
            </a:pPr>
            <a:r>
              <a:rPr lang="en-US" sz="1350" dirty="0">
                <a:solidFill>
                  <a:srgbClr val="2B3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The first complete platform for Grades 6-9. 144 weeks, no hardware, verified no gaps.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4401145"/>
            <a:ext cx="3619500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50"/>
              </a:spcBef>
              <a:buNone/>
            </a:pPr>
            <a:r>
              <a:rPr lang="en-US" sz="1125" dirty="0">
                <a:solidFill>
                  <a:srgbClr val="2B3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Teaching kids to understand, build, and question AI — not just use it.</a:t>
            </a:r>
            <a:endParaRPr lang="en-US" sz="112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120283"/>
            <a:ext cx="1567160" cy="30956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23900" y="5196483"/>
            <a:ext cx="133856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33" kern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 weeks • 1296 sections</a:t>
            </a:r>
            <a:endParaRPr lang="en-US" sz="825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060" y="5120283"/>
            <a:ext cx="1268909" cy="309563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2405360" y="5196483"/>
            <a:ext cx="1040309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33" kern="0" dirty="0">
                <a:solidFill>
                  <a:srgbClr val="042E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LIVE: PWA • Offline</a:t>
            </a:r>
            <a:endParaRPr lang="en-US" sz="825" dirty="0"/>
          </a:p>
        </p:txBody>
      </p:sp>
      <p:sp>
        <p:nvSpPr>
          <p:cNvPr id="11" name="Text 5"/>
          <p:cNvSpPr txBox="1"/>
          <p:nvPr/>
        </p:nvSpPr>
        <p:spPr>
          <a:xfrm>
            <a:off x="609600" y="5601295"/>
            <a:ext cx="450339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350"/>
              </a:spcBef>
              <a:buNone/>
            </a:pPr>
            <a:r>
              <a:rPr lang="en-US" sz="825" spc="17" kern="0" dirty="0">
                <a:solidFill>
                  <a:srgbClr val="5A6D8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ai-academy.pages.dev • github.com/ramanaraokamma/ai-academy • student1234 / teacher1234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66725"/>
            <a:ext cx="109728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100"/>
              </a:spcAft>
              <a:buNone/>
            </a:pPr>
            <a:r>
              <a:rPr lang="en-US" sz="900" b="1" spc="10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Vision — Why this must exist now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66764"/>
            <a:ext cx="6098977" cy="119479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144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middle-schooler </a:t>
            </a:r>
            <a:pPr indent="0" marL="0">
              <a:buNone/>
            </a:pPr>
            <a:r>
              <a:rPr lang="en-US" sz="4800" b="1" spc="-144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literate</a:t>
            </a:r>
            <a:pPr indent="0" marL="0">
              <a:buNone/>
            </a:pPr>
            <a:r>
              <a:rPr lang="en-US" sz="4800" b="1" spc="-144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by 2030.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475881"/>
            <a:ext cx="6098977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2400"/>
              </a:spcBef>
              <a:buNone/>
            </a:pPr>
            <a:r>
              <a:rPr lang="en-US" sz="1350" dirty="0">
                <a:solidFill>
                  <a:srgbClr val="34455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Able to build, evaluate, and ethically use AI — not just consume ChatGPT, Reels, and YouTube recommendations with zero mental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600" y="4286250"/>
            <a:ext cx="2971800" cy="1047750"/>
          </a:xfrm>
          <a:prstGeom prst="roundRect">
            <a:avLst>
              <a:gd name="adj" fmla="val 14545"/>
            </a:avLst>
          </a:prstGeom>
          <a:solidFill>
            <a:srgbClr val="1520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4485531"/>
            <a:ext cx="2592288" cy="485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85%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00100" y="5009406"/>
            <a:ext cx="2592288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 jobs in 2030 will require AI literacy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33800" y="4286250"/>
            <a:ext cx="2971800" cy="1047750"/>
          </a:xfrm>
          <a:prstGeom prst="roundRect">
            <a:avLst>
              <a:gd name="adj" fmla="val 14545"/>
            </a:avLst>
          </a:prstGeom>
          <a:solidFill>
            <a:srgbClr val="1520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25788" y="4485531"/>
            <a:ext cx="2592288" cy="485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925788" y="5009406"/>
            <a:ext cx="2592288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schools teach AI before Grade 11 today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777" y="1403598"/>
            <a:ext cx="4416623" cy="137561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32477" y="1632198"/>
            <a:ext cx="391179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</a:t>
            </a:r>
            <a:endParaRPr lang="en-US" sz="825" dirty="0"/>
          </a:p>
        </p:txBody>
      </p:sp>
      <p:sp>
        <p:nvSpPr>
          <p:cNvPr id="13" name="Text 10"/>
          <p:cNvSpPr txBox="1"/>
          <p:nvPr/>
        </p:nvSpPr>
        <p:spPr>
          <a:xfrm>
            <a:off x="7432477" y="1856036"/>
            <a:ext cx="3911798" cy="7041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Kids use AI daily — deepfakes, bias, hallucination — with no ethics, no safety, no understanding of how it works.</a:t>
            </a:r>
            <a:endParaRPr lang="en-US" sz="1275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77" y="2969716"/>
            <a:ext cx="4416623" cy="13756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3902" y="3198316"/>
            <a:ext cx="394037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analogy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7403902" y="3422154"/>
            <a:ext cx="3940373" cy="7041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literacy is reading literacy. Foundational, not optional. Starts in middle school, spiral revisits deeper each year.</a:t>
            </a:r>
            <a:endParaRPr lang="en-US" sz="1275" dirty="0"/>
          </a:p>
        </p:txBody>
      </p:sp>
      <p:sp>
        <p:nvSpPr>
          <p:cNvPr id="17" name="Shape 13"/>
          <p:cNvSpPr/>
          <p:nvPr/>
        </p:nvSpPr>
        <p:spPr>
          <a:xfrm>
            <a:off x="7162800" y="4533900"/>
            <a:ext cx="4419600" cy="1352550"/>
          </a:xfrm>
          <a:prstGeom prst="roundRect">
            <a:avLst>
              <a:gd name="adj" fmla="val 14085"/>
            </a:avLst>
          </a:prstGeom>
          <a:solidFill>
            <a:srgbClr val="06649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94377" y="4754910"/>
            <a:ext cx="395942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8FDD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Academy answer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7394377" y="4978747"/>
            <a:ext cx="3959423" cy="7041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complete 144-week platform: understand → build → question. No hardware, India-ready, verified no gaps.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95300"/>
            <a:ext cx="3004096" cy="5867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Schools are </a:t>
            </a:r>
            <a:pPr indent="0" marL="0">
              <a:buNone/>
            </a:pPr>
            <a:r>
              <a:rPr lang="en-US" sz="3900" b="1" spc="-7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unprepared</a:t>
            </a:r>
            <a:pPr indent="0" marL="0">
              <a:buNone/>
            </a:pPr>
            <a:r>
              <a:rPr lang="en-US" sz="3900" b="1" spc="-78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kids are </a:t>
            </a:r>
            <a:pPr indent="0" marL="0">
              <a:buNone/>
            </a:pPr>
            <a:r>
              <a:rPr lang="en-US" sz="3900" b="1" spc="-7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exposed</a:t>
            </a:r>
            <a:pPr indent="0" marL="0">
              <a:buNone/>
            </a:pPr>
            <a:r>
              <a:rPr lang="en-US" sz="3900" b="1" spc="-78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696" y="800100"/>
            <a:ext cx="2441525" cy="250224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21" y="1019175"/>
            <a:ext cx="342900" cy="3429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950196" y="1090613"/>
            <a:ext cx="244525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4347121" y="1019175"/>
            <a:ext cx="14699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curriculum for Grades 6-9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4347121" y="1433513"/>
            <a:ext cx="1469975" cy="9666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Only coding or no tech. Zero AI literacy. Students learn to use tools, never to understand them.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71" y="800100"/>
            <a:ext cx="2441674" cy="250224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796" y="1019175"/>
            <a:ext cx="342900" cy="342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563171" y="1090613"/>
            <a:ext cx="244525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6960096" y="1019175"/>
            <a:ext cx="1470124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Teachers have zero AI background</a:t>
            </a:r>
            <a:endParaRPr lang="en-US" sz="1125" dirty="0"/>
          </a:p>
        </p:txBody>
      </p:sp>
      <p:sp>
        <p:nvSpPr>
          <p:cNvPr id="12" name="Text 6"/>
          <p:cNvSpPr txBox="1"/>
          <p:nvPr/>
        </p:nvSpPr>
        <p:spPr>
          <a:xfrm>
            <a:off x="6960096" y="1433513"/>
            <a:ext cx="1470124" cy="96663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Zero-to-Hero needed. Existing resources assume CS degree — no 15-min training, no exact scripts.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696" y="3473797"/>
            <a:ext cx="2441525" cy="288890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21" y="3692872"/>
            <a:ext cx="342900" cy="3429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950196" y="3764310"/>
            <a:ext cx="244525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4347121" y="3692872"/>
            <a:ext cx="14699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solutions not India-ready</a:t>
            </a:r>
            <a:endParaRPr lang="en-US" sz="1125" dirty="0"/>
          </a:p>
        </p:txBody>
      </p:sp>
      <p:sp>
        <p:nvSpPr>
          <p:cNvPr id="17" name="Text 9"/>
          <p:cNvSpPr txBox="1"/>
          <p:nvPr/>
        </p:nvSpPr>
        <p:spPr>
          <a:xfrm>
            <a:off x="4347121" y="4107210"/>
            <a:ext cx="1469975" cy="13532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 expensive kits, trademarks, US examples. No Hindi/Telugu, no monsoon, auto-rickshaw, Diwali context.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671" y="3473797"/>
            <a:ext cx="2441674" cy="2888903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796" y="3692872"/>
            <a:ext cx="342900" cy="3429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563171" y="3764310"/>
            <a:ext cx="244525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1"/>
          <p:cNvSpPr txBox="1"/>
          <p:nvPr/>
        </p:nvSpPr>
        <p:spPr>
          <a:xfrm>
            <a:off x="6960096" y="3692872"/>
            <a:ext cx="1470124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ethics training for real risks</a:t>
            </a:r>
            <a:endParaRPr lang="en-US" sz="1125" dirty="0"/>
          </a:p>
        </p:txBody>
      </p:sp>
      <p:sp>
        <p:nvSpPr>
          <p:cNvPr id="22" name="Text 12"/>
          <p:cNvSpPr txBox="1"/>
          <p:nvPr/>
        </p:nvSpPr>
        <p:spPr>
          <a:xfrm>
            <a:off x="6960096" y="4107210"/>
            <a:ext cx="1470124" cy="11599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Kids face deepfakes, bias, hallucination, copyright — with no framework to question, no pledge to act.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8667750" y="762000"/>
            <a:ext cx="2914650" cy="5600700"/>
          </a:xfrm>
          <a:prstGeom prst="roundRect">
            <a:avLst>
              <a:gd name="adj" fmla="val 5882"/>
            </a:avLst>
          </a:prstGeom>
          <a:solidFill>
            <a:srgbClr val="15202B"/>
          </a:solidFill>
          <a:ln/>
        </p:spPr>
      </p:sp>
      <p:sp>
        <p:nvSpPr>
          <p:cNvPr id="24" name="Text 14"/>
          <p:cNvSpPr txBox="1"/>
          <p:nvPr/>
        </p:nvSpPr>
        <p:spPr>
          <a:xfrm>
            <a:off x="8896945" y="3348038"/>
            <a:ext cx="848171" cy="4572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255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250M</a:t>
            </a:r>
            <a:endParaRPr lang="en-US" sz="2550" dirty="0"/>
          </a:p>
        </p:txBody>
      </p:sp>
      <p:sp>
        <p:nvSpPr>
          <p:cNvPr id="25" name="Text 15"/>
          <p:cNvSpPr txBox="1"/>
          <p:nvPr/>
        </p:nvSpPr>
        <p:spPr>
          <a:xfrm>
            <a:off x="9935617" y="2562225"/>
            <a:ext cx="1418183" cy="2000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Indian middle-schoolers use ChatGPT, Instagram AI, YouTube recommendations daily with no mental model of how it works — and no safety net. The gap is now a risk.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57200"/>
            <a:ext cx="11049000" cy="4572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Solution: </a:t>
            </a:r>
            <a:pPr indent="0" marL="0">
              <a:buNone/>
            </a:pPr>
            <a:r>
              <a:rPr lang="en-US" sz="3600" b="1" spc="-72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Levels, 144 Weeks, Spiral</a:t>
            </a:r>
            <a:pPr indent="0" marL="0"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019175"/>
            <a:ext cx="11049000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Concepts revisit deeper each year — Pattern → Data → Neuron → Robot → Agent → Startup. India-ready, no hardware.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47800"/>
            <a:ext cx="4097238" cy="5029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457325"/>
            <a:ext cx="4078188" cy="50101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6043613"/>
            <a:ext cx="1695152" cy="30956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47725" y="6129338"/>
            <a:ext cx="146655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Spiral: revisit • deepen • build</a:t>
            </a:r>
            <a:endParaRPr lang="en-US" sz="82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538" y="1447800"/>
            <a:ext cx="3266182" cy="16127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983063" y="1457325"/>
            <a:ext cx="324713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513" y="1676400"/>
            <a:ext cx="1361331" cy="21907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230713" y="1724025"/>
            <a:ext cx="12089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065F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L1 G6 EXPLORER • 36W</a:t>
            </a:r>
            <a:endParaRPr lang="en-US" sz="750" dirty="0"/>
          </a:p>
        </p:txBody>
      </p:sp>
      <p:sp>
        <p:nvSpPr>
          <p:cNvPr id="12" name="Text 5"/>
          <p:cNvSpPr txBox="1"/>
          <p:nvPr/>
        </p:nvSpPr>
        <p:spPr>
          <a:xfrm>
            <a:off x="5154513" y="1990725"/>
            <a:ext cx="2904232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Pattern Detector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5154513" y="2223046"/>
            <a:ext cx="2904232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A5F7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Bouncer at Club, Messy Room 80% cleaning, Report Card, Fishing Net</a:t>
            </a:r>
            <a:endParaRPr lang="en-US" sz="938" dirty="0"/>
          </a:p>
        </p:txBody>
      </p:sp>
      <p:sp>
        <p:nvSpPr>
          <p:cNvPr id="14" name="Text 7"/>
          <p:cNvSpPr txBox="1"/>
          <p:nvPr/>
        </p:nvSpPr>
        <p:spPr>
          <a:xfrm>
            <a:off x="5154513" y="2781449"/>
            <a:ext cx="290423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B7E9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#10B981 • See patterns in world</a:t>
            </a:r>
            <a:endParaRPr lang="en-US" sz="825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120" y="1447800"/>
            <a:ext cx="3266331" cy="16127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401645" y="1457325"/>
            <a:ext cx="3247282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095" y="1676400"/>
            <a:ext cx="1271290" cy="21907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649295" y="1724025"/>
            <a:ext cx="11188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1E40A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L2 G7 BUILDER • 36W</a:t>
            </a:r>
            <a:endParaRPr lang="en-US" sz="750" dirty="0"/>
          </a:p>
        </p:txBody>
      </p:sp>
      <p:sp>
        <p:nvSpPr>
          <p:cNvPr id="19" name="Text 10"/>
          <p:cNvSpPr txBox="1"/>
          <p:nvPr/>
        </p:nvSpPr>
        <p:spPr>
          <a:xfrm>
            <a:off x="8573095" y="1990725"/>
            <a:ext cx="2904381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0" name="Text 11"/>
          <p:cNvSpPr txBox="1"/>
          <p:nvPr/>
        </p:nvSpPr>
        <p:spPr>
          <a:xfrm>
            <a:off x="8573095" y="2223046"/>
            <a:ext cx="2904381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A5F7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Auto-rickshaw fare regression, lunch line classification, best-fit string, precision/recall</a:t>
            </a:r>
            <a:endParaRPr lang="en-US" sz="938" dirty="0"/>
          </a:p>
        </p:txBody>
      </p:sp>
      <p:sp>
        <p:nvSpPr>
          <p:cNvPr id="21" name="Text 12"/>
          <p:cNvSpPr txBox="1"/>
          <p:nvPr/>
        </p:nvSpPr>
        <p:spPr>
          <a:xfrm>
            <a:off x="8573095" y="2781449"/>
            <a:ext cx="2904381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B7E9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#3B82F6 • Work with real data</a:t>
            </a:r>
            <a:endParaRPr lang="en-US" sz="825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3538" y="3212902"/>
            <a:ext cx="3266182" cy="161270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983063" y="3222427"/>
            <a:ext cx="3247130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4513" y="3441502"/>
            <a:ext cx="1296293" cy="21907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230713" y="3489127"/>
            <a:ext cx="114389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5B21B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L3 G8 CREATOR • 36W</a:t>
            </a:r>
            <a:endParaRPr lang="en-US" sz="750" dirty="0"/>
          </a:p>
        </p:txBody>
      </p:sp>
      <p:sp>
        <p:nvSpPr>
          <p:cNvPr id="26" name="Text 15"/>
          <p:cNvSpPr txBox="1"/>
          <p:nvPr/>
        </p:nvSpPr>
        <p:spPr>
          <a:xfrm>
            <a:off x="5154513" y="3755827"/>
            <a:ext cx="2904232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LEGO Neurons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5154513" y="3988147"/>
            <a:ext cx="2904232" cy="48220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A5F7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Weighted sum, activation, convolution 1989 LeCun, attention 2014, transformers 2017, GANs Goodfellow</a:t>
            </a:r>
            <a:endParaRPr lang="en-US" sz="938" dirty="0"/>
          </a:p>
        </p:txBody>
      </p:sp>
      <p:sp>
        <p:nvSpPr>
          <p:cNvPr id="28" name="Text 17"/>
          <p:cNvSpPr txBox="1"/>
          <p:nvPr/>
        </p:nvSpPr>
        <p:spPr>
          <a:xfrm>
            <a:off x="5154513" y="4546550"/>
            <a:ext cx="290423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B7E9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#8B5CF6 • Build neural ideas</a:t>
            </a:r>
            <a:endParaRPr lang="en-US" sz="825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2120" y="3212902"/>
            <a:ext cx="3266331" cy="161270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8401645" y="3222427"/>
            <a:ext cx="3247282" cy="38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3095" y="3441502"/>
            <a:ext cx="1422202" cy="21907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649295" y="3489127"/>
            <a:ext cx="12698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92400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L4 G9 INNOVATOR • 36W</a:t>
            </a:r>
            <a:endParaRPr lang="en-US" sz="750" dirty="0"/>
          </a:p>
        </p:txBody>
      </p:sp>
      <p:sp>
        <p:nvSpPr>
          <p:cNvPr id="33" name="Text 20"/>
          <p:cNvSpPr txBox="1"/>
          <p:nvPr/>
        </p:nvSpPr>
        <p:spPr>
          <a:xfrm>
            <a:off x="8573095" y="3755827"/>
            <a:ext cx="2904381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Robot Senses</a:t>
            </a:r>
            <a:endParaRPr lang="en-US" sz="1200" dirty="0"/>
          </a:p>
        </p:txBody>
      </p:sp>
      <p:sp>
        <p:nvSpPr>
          <p:cNvPr id="34" name="Text 21"/>
          <p:cNvSpPr txBox="1"/>
          <p:nvPr/>
        </p:nvSpPr>
        <p:spPr>
          <a:xfrm>
            <a:off x="8573095" y="3988147"/>
            <a:ext cx="2904381" cy="48220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A5F7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Distance 0-400cm, SLAM tiffin route, ReAct agents 2023, MVP skateboard→car, JFK 1962 moonshot Demo Day</a:t>
            </a:r>
            <a:endParaRPr lang="en-US" sz="938" dirty="0"/>
          </a:p>
        </p:txBody>
      </p:sp>
      <p:sp>
        <p:nvSpPr>
          <p:cNvPr id="35" name="Text 22"/>
          <p:cNvSpPr txBox="1"/>
          <p:nvPr/>
        </p:nvSpPr>
        <p:spPr>
          <a:xfrm>
            <a:off x="8573095" y="4546550"/>
            <a:ext cx="2904381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B7E9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#F59E0B • Ship to real audience</a:t>
            </a:r>
            <a:endParaRPr lang="en-US" sz="825" dirty="0"/>
          </a:p>
        </p:txBody>
      </p:sp>
      <p:sp>
        <p:nvSpPr>
          <p:cNvPr id="36" name="Shape 23"/>
          <p:cNvSpPr/>
          <p:nvPr/>
        </p:nvSpPr>
        <p:spPr>
          <a:xfrm>
            <a:off x="4972050" y="4962525"/>
            <a:ext cx="6686550" cy="552450"/>
          </a:xfrm>
          <a:prstGeom prst="roundRect">
            <a:avLst>
              <a:gd name="adj" fmla="val 24138"/>
            </a:avLst>
          </a:prstGeom>
          <a:solidFill>
            <a:srgbClr val="15202B"/>
          </a:solidFill>
          <a:ln/>
        </p:spPr>
      </p:sp>
      <p:sp>
        <p:nvSpPr>
          <p:cNvPr id="37" name="Text 24"/>
          <p:cNvSpPr txBox="1"/>
          <p:nvPr/>
        </p:nvSpPr>
        <p:spPr>
          <a:xfrm>
            <a:off x="5125938" y="5114181"/>
            <a:ext cx="13349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↻</a:t>
            </a:r>
            <a:endParaRPr lang="en-US" sz="1350" dirty="0"/>
          </a:p>
        </p:txBody>
      </p:sp>
      <p:sp>
        <p:nvSpPr>
          <p:cNvPr id="38" name="Text 25"/>
          <p:cNvSpPr txBox="1"/>
          <p:nvPr/>
        </p:nvSpPr>
        <p:spPr>
          <a:xfrm>
            <a:off x="5392787" y="5073253"/>
            <a:ext cx="6113264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Spiral payoff: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Grade 6 pattern “bouncer” → Grade 7 data classification → Grade 8 neuron AND/OR/XOR fail → Grade 9 agent that decides. Same idea, deeper math, real impact.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783509"/>
            <a:ext cx="1995190" cy="24267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 — </a:t>
            </a:r>
            <a:pPr indent="0" marL="0">
              <a:buNone/>
            </a:pPr>
            <a:r>
              <a:rPr lang="en-US" sz="3300" b="1" spc="-66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 min, 9 sections, no hardware.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2528590" y="2923729"/>
            <a:ext cx="616893" cy="32865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Exact script for Zero-to-Hero teachers. No-Tech default → Low-Tech simulator → High-Tech bonus. Works on 2G, offline, no projector.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82" y="419100"/>
            <a:ext cx="888355" cy="6019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3" y="333375"/>
            <a:ext cx="266700" cy="2667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93468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⚡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3288357" y="590550"/>
            <a:ext cx="60260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10M HOOK</a:t>
            </a:r>
            <a:endParaRPr lang="en-US" sz="825" dirty="0"/>
          </a:p>
        </p:txBody>
      </p:sp>
      <p:sp>
        <p:nvSpPr>
          <p:cNvPr id="8" name="Text 4"/>
          <p:cNvSpPr txBox="1"/>
          <p:nvPr/>
        </p:nvSpPr>
        <p:spPr>
          <a:xfrm>
            <a:off x="3288357" y="795338"/>
            <a:ext cx="602605" cy="639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computer be a bouncer?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288357" y="1492448"/>
            <a:ext cx="602605" cy="6131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Question + Predict. Draw analogy.</a:t>
            </a:r>
            <a:endParaRPr lang="en-US" sz="86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137" y="419100"/>
            <a:ext cx="783134" cy="60198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746" y="333375"/>
            <a:ext cx="266700" cy="2667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90901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🧠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4291013" y="590550"/>
            <a:ext cx="497384" cy="4619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15M MENTAL MODEL</a:t>
            </a:r>
            <a:endParaRPr lang="en-US" sz="825" dirty="0"/>
          </a:p>
        </p:txBody>
      </p:sp>
      <p:sp>
        <p:nvSpPr>
          <p:cNvPr id="14" name="Text 8"/>
          <p:cNvSpPr txBox="1"/>
          <p:nvPr/>
        </p:nvSpPr>
        <p:spPr>
          <a:xfrm>
            <a:off x="4291013" y="1109663"/>
            <a:ext cx="497384" cy="639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 + student analogy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4291013" y="1806773"/>
            <a:ext cx="497384" cy="76646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it breaks. Draw-Along 4 steps.</a:t>
            </a:r>
            <a:endParaRPr lang="en-US" sz="863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071" y="171450"/>
            <a:ext cx="1365200" cy="65151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246" y="333375"/>
            <a:ext cx="266700" cy="2667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689402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🧪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5188446" y="590550"/>
            <a:ext cx="698450" cy="4619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20M PHYSICAL LAB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5188446" y="1109663"/>
            <a:ext cx="698450" cy="639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No-Tech cards → simulator slider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5188446" y="1806773"/>
            <a:ext cx="698450" cy="6131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Weights/bias, distance 0-400cm, servo 0-180° live.</a:t>
            </a:r>
            <a:endParaRPr lang="en-US" sz="86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071" y="419100"/>
            <a:ext cx="1062335" cy="601980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5882" y="333375"/>
            <a:ext cx="266700" cy="2667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866037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👥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6286946" y="590550"/>
            <a:ext cx="776585" cy="4619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10M COMMUNITY POOL</a:t>
            </a:r>
            <a:endParaRPr lang="en-US" sz="825" dirty="0"/>
          </a:p>
        </p:txBody>
      </p:sp>
      <p:sp>
        <p:nvSpPr>
          <p:cNvPr id="26" name="Text 16"/>
          <p:cNvSpPr txBox="1"/>
          <p:nvPr/>
        </p:nvSpPr>
        <p:spPr>
          <a:xfrm>
            <a:off x="6286946" y="1109663"/>
            <a:ext cx="776585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Anonymized 60→180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6286946" y="1486793"/>
            <a:ext cx="776585" cy="45987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Hyderabad Delhi Chennai 72%→88%.</a:t>
            </a:r>
            <a:endParaRPr lang="en-US" sz="86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0707" y="419100"/>
            <a:ext cx="1448395" cy="601980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8577" y="333375"/>
            <a:ext cx="266700" cy="2667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8428732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⚖️</a:t>
            </a:r>
            <a:endParaRPr lang="en-US" sz="1050" dirty="0"/>
          </a:p>
        </p:txBody>
      </p:sp>
      <p:sp>
        <p:nvSpPr>
          <p:cNvPr id="31" name="Text 19"/>
          <p:cNvSpPr txBox="1"/>
          <p:nvPr/>
        </p:nvSpPr>
        <p:spPr>
          <a:xfrm>
            <a:off x="7463582" y="590550"/>
            <a:ext cx="11626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15M ETHICS</a:t>
            </a:r>
            <a:endParaRPr lang="en-US" sz="825" dirty="0"/>
          </a:p>
        </p:txBody>
      </p:sp>
      <p:sp>
        <p:nvSpPr>
          <p:cNvPr id="32" name="Text 20"/>
          <p:cNvSpPr txBox="1"/>
          <p:nvPr/>
        </p:nvSpPr>
        <p:spPr>
          <a:xfrm>
            <a:off x="7463582" y="795338"/>
            <a:ext cx="1162645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Traffic light Red/Yellow/Green</a:t>
            </a:r>
            <a:endParaRPr lang="en-US" sz="1050" dirty="0"/>
          </a:p>
        </p:txBody>
      </p:sp>
      <p:sp>
        <p:nvSpPr>
          <p:cNvPr id="33" name="Text 21"/>
          <p:cNvSpPr txBox="1"/>
          <p:nvPr/>
        </p:nvSpPr>
        <p:spPr>
          <a:xfrm>
            <a:off x="7463582" y="1172468"/>
            <a:ext cx="1162645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Gender Shades 2018, action pledge.</a:t>
            </a:r>
            <a:endParaRPr lang="en-US" sz="863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2902" y="171450"/>
            <a:ext cx="1187053" cy="6515100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8930" y="333375"/>
            <a:ext cx="266700" cy="2667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9349085" y="366713"/>
            <a:ext cx="21654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🚀</a:t>
            </a:r>
            <a:endParaRPr lang="en-US" sz="1050" dirty="0"/>
          </a:p>
        </p:txBody>
      </p:sp>
      <p:sp>
        <p:nvSpPr>
          <p:cNvPr id="37" name="Text 23"/>
          <p:cNvSpPr txBox="1"/>
          <p:nvPr/>
        </p:nvSpPr>
        <p:spPr>
          <a:xfrm>
            <a:off x="9026277" y="590550"/>
            <a:ext cx="520303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20M PROJECT</a:t>
            </a:r>
            <a:endParaRPr lang="en-US" sz="825" dirty="0"/>
          </a:p>
        </p:txBody>
      </p:sp>
      <p:sp>
        <p:nvSpPr>
          <p:cNvPr id="38" name="Text 24"/>
          <p:cNvSpPr txBox="1"/>
          <p:nvPr/>
        </p:nvSpPr>
        <p:spPr>
          <a:xfrm>
            <a:off x="9026277" y="952500"/>
            <a:ext cx="520303" cy="639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Choice Board + 60-sec pitch</a:t>
            </a:r>
            <a:endParaRPr lang="en-US" sz="1050" dirty="0"/>
          </a:p>
        </p:txBody>
      </p:sp>
      <p:sp>
        <p:nvSpPr>
          <p:cNvPr id="39" name="Text 25"/>
          <p:cNvSpPr txBox="1"/>
          <p:nvPr/>
        </p:nvSpPr>
        <p:spPr>
          <a:xfrm>
            <a:off x="9026277" y="1649611"/>
            <a:ext cx="520303" cy="76646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4256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Science Fair / Game / Art + real audience.</a:t>
            </a:r>
            <a:endParaRPr lang="en-US" sz="863" dirty="0"/>
          </a:p>
        </p:txBody>
      </p:sp>
      <p:sp>
        <p:nvSpPr>
          <p:cNvPr id="40" name="Shape 26"/>
          <p:cNvSpPr/>
          <p:nvPr/>
        </p:nvSpPr>
        <p:spPr>
          <a:xfrm>
            <a:off x="9686925" y="571500"/>
            <a:ext cx="0" cy="57150"/>
          </a:xfrm>
          <a:prstGeom prst="roundRect">
            <a:avLst>
              <a:gd name="adj" fmla="val Infinity"/>
            </a:avLst>
          </a:prstGeom>
          <a:solidFill>
            <a:srgbClr val="E6EEF6"/>
          </a:solidFill>
          <a:ln/>
        </p:spPr>
      </p:sp>
      <p:sp>
        <p:nvSpPr>
          <p:cNvPr id="41" name="Shape 27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12CABF"/>
          </a:solidFill>
          <a:ln/>
        </p:spPr>
      </p:sp>
      <p:sp>
        <p:nvSpPr>
          <p:cNvPr id="42" name="Shape 28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066491"/>
          </a:solidFill>
          <a:ln/>
        </p:spPr>
      </p:sp>
      <p:sp>
        <p:nvSpPr>
          <p:cNvPr id="43" name="Shape 29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0F9DA0"/>
          </a:solidFill>
          <a:ln/>
        </p:spPr>
      </p:sp>
      <p:sp>
        <p:nvSpPr>
          <p:cNvPr id="44" name="Shape 30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31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D6453B"/>
          </a:solidFill>
          <a:ln/>
        </p:spPr>
      </p:sp>
      <p:sp>
        <p:nvSpPr>
          <p:cNvPr id="46" name="Shape 32"/>
          <p:cNvSpPr/>
          <p:nvPr/>
        </p:nvSpPr>
        <p:spPr>
          <a:xfrm>
            <a:off x="9686925" y="571500"/>
            <a:ext cx="0" cy="571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33"/>
          <p:cNvSpPr/>
          <p:nvPr/>
        </p:nvSpPr>
        <p:spPr>
          <a:xfrm>
            <a:off x="9686925" y="419100"/>
            <a:ext cx="1276350" cy="6019800"/>
          </a:xfrm>
          <a:prstGeom prst="roundRect">
            <a:avLst>
              <a:gd name="adj" fmla="val 11940"/>
            </a:avLst>
          </a:prstGeom>
          <a:solidFill>
            <a:srgbClr val="15202B"/>
          </a:solidFill>
          <a:ln/>
        </p:spPr>
      </p:sp>
      <p:sp>
        <p:nvSpPr>
          <p:cNvPr id="48" name="Text 34"/>
          <p:cNvSpPr txBox="1"/>
          <p:nvPr/>
        </p:nvSpPr>
        <p:spPr>
          <a:xfrm>
            <a:off x="9860905" y="571500"/>
            <a:ext cx="928836" cy="4455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spc="-10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 Training — 15 min</a:t>
            </a:r>
            <a:endParaRPr lang="en-US" sz="975" dirty="0"/>
          </a:p>
        </p:txBody>
      </p:sp>
      <p:sp>
        <p:nvSpPr>
          <p:cNvPr id="49" name="Text 35"/>
          <p:cNvSpPr txBox="1"/>
          <p:nvPr/>
        </p:nvSpPr>
        <p:spPr>
          <a:xfrm>
            <a:off x="9860905" y="1074241"/>
            <a:ext cx="928836" cy="14399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9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One-Sentence Core Idea • 3 Misconceptions • Socratic 342 • Vocab kid/adult/gesture • Tips: cards pre-cut, timer visible.</a:t>
            </a:r>
            <a:endParaRPr lang="en-US" sz="9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0905" y="2628454"/>
            <a:ext cx="890736" cy="36195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9937105" y="2676079"/>
            <a:ext cx="738336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B4A48"/>
                </a:solidFill>
                <a:highlight>
                  <a:srgbClr val="E8F7F6"/>
                </a:highlight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SAY: exact script</a:t>
            </a:r>
            <a:endParaRPr lang="en-US" sz="75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0905" y="3028504"/>
            <a:ext cx="890736" cy="36195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37105" y="3076129"/>
            <a:ext cx="738336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B4A4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DO: student action</a:t>
            </a:r>
            <a:endParaRPr lang="en-US" sz="7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94541" y="419100"/>
            <a:ext cx="1097459" cy="6019800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11275516" y="581025"/>
            <a:ext cx="1290042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spc="-10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Workbook + Eval</a:t>
            </a:r>
            <a:endParaRPr lang="en-US" sz="975" dirty="0"/>
          </a:p>
        </p:txBody>
      </p:sp>
      <p:sp>
        <p:nvSpPr>
          <p:cNvPr id="56" name="Text 39"/>
          <p:cNvSpPr txBox="1"/>
          <p:nvPr/>
        </p:nvSpPr>
        <p:spPr>
          <a:xfrm>
            <a:off x="11275516" y="786705"/>
            <a:ext cx="1290042" cy="12799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9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Sentence starters "My model worked when... but failed when..." • Exit ticket What/So What/Now What • Confusion matrix SVG • Self-assessment Red/Yellow/Blue/Green.</a:t>
            </a:r>
            <a:endParaRPr lang="en-US" sz="9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79884" y="419100"/>
            <a:ext cx="9525" cy="60198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13060859" y="581025"/>
            <a:ext cx="1025277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spc="-10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Wiring — teacher only</a:t>
            </a:r>
            <a:endParaRPr lang="en-US" sz="975" dirty="0"/>
          </a:p>
        </p:txBody>
      </p:sp>
      <p:sp>
        <p:nvSpPr>
          <p:cNvPr id="59" name="Text 41"/>
          <p:cNvSpPr txBox="1"/>
          <p:nvPr/>
        </p:nvSpPr>
        <p:spPr>
          <a:xfrm>
            <a:off x="13060859" y="935236"/>
            <a:ext cx="1025277" cy="111993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8554E">
                    <a:alpha val="9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SVG diagram + Troubleshooting Problem|Cause|Fix + Failure Museum 3 fails ❌→✅ + Early finisher XOR ladder.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95300"/>
            <a:ext cx="10972800" cy="48488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-117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has — </a:t>
            </a:r>
            <a:pPr indent="0" marL="0">
              <a:buNone/>
            </a:pPr>
            <a:r>
              <a:rPr lang="en-US" sz="3900" b="1" spc="-117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full, no gaps.</a:t>
            </a:r>
            <a:endParaRPr lang="en-US" sz="39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075432"/>
            <a:ext cx="7239000" cy="2208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3A4F6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 weeks × 9 sections = 1296 sections — each &gt;200 chars, checked on load. Not titles, real content.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600" y="1828800"/>
            <a:ext cx="2152650" cy="733425"/>
          </a:xfrm>
          <a:prstGeom prst="roundRect">
            <a:avLst>
              <a:gd name="adj" fmla="val 18182"/>
            </a:avLst>
          </a:prstGeom>
          <a:solidFill>
            <a:srgbClr val="0F2F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59335"/>
            <a:ext cx="266700" cy="266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6712" y="2073622"/>
            <a:ext cx="191988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42E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23950" y="2137470"/>
            <a:ext cx="1483668" cy="3065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144/144 VERIFIED</a:t>
            </a:r>
            <a:pPr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sections filled</a:t>
            </a:r>
            <a:endParaRPr lang="en-US" sz="135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 if missing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368" y="1543943"/>
            <a:ext cx="1011585" cy="12974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36243" y="1686818"/>
            <a:ext cx="72583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268+</a:t>
            </a:r>
            <a:endParaRPr lang="en-US" sz="1950" dirty="0"/>
          </a:p>
        </p:txBody>
      </p:sp>
      <p:sp>
        <p:nvSpPr>
          <p:cNvPr id="10" name="Text 6"/>
          <p:cNvSpPr txBox="1"/>
          <p:nvPr/>
        </p:nvSpPr>
        <p:spPr>
          <a:xfrm>
            <a:off x="3036243" y="1991618"/>
            <a:ext cx="725835" cy="7069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3E55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SVGs — hero, wiring, charts, flowcharts, 114 dots</a:t>
            </a:r>
            <a:endParaRPr lang="en-US" sz="82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252" y="1543943"/>
            <a:ext cx="1011585" cy="12974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62127" y="1686818"/>
            <a:ext cx="725835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1950" dirty="0"/>
          </a:p>
        </p:txBody>
      </p:sp>
      <p:sp>
        <p:nvSpPr>
          <p:cNvPr id="13" name="Text 8"/>
          <p:cNvSpPr txBox="1"/>
          <p:nvPr/>
        </p:nvSpPr>
        <p:spPr>
          <a:xfrm>
            <a:off x="4162127" y="1991618"/>
            <a:ext cx="725835" cy="7069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3E55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simulators — weights, bias, 0-400cm, servo</a:t>
            </a:r>
            <a:endParaRPr lang="en-US" sz="8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137" y="1543943"/>
            <a:ext cx="1011734" cy="12974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88012" y="1686818"/>
            <a:ext cx="725984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144+</a:t>
            </a:r>
            <a:endParaRPr lang="en-US" sz="1950" dirty="0"/>
          </a:p>
        </p:txBody>
      </p:sp>
      <p:sp>
        <p:nvSpPr>
          <p:cNvPr id="16" name="Text 10"/>
          <p:cNvSpPr txBox="1"/>
          <p:nvPr/>
        </p:nvSpPr>
        <p:spPr>
          <a:xfrm>
            <a:off x="5288012" y="1991618"/>
            <a:ext cx="725984" cy="5655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3E55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Choice Board, Failure Museum, Where breaks</a:t>
            </a:r>
            <a:endParaRPr lang="en-US" sz="825" dirty="0"/>
          </a:p>
        </p:txBody>
      </p:sp>
      <p:sp>
        <p:nvSpPr>
          <p:cNvPr id="17" name="Shape 11"/>
          <p:cNvSpPr/>
          <p:nvPr/>
        </p:nvSpPr>
        <p:spPr>
          <a:xfrm>
            <a:off x="609600" y="30575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62000" y="2993827"/>
            <a:ext cx="4928592" cy="173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Choice Board 3 options</a:t>
            </a:r>
            <a:pPr indent="0" marL="0">
              <a:buNone/>
            </a:pPr>
            <a:r>
              <a:rPr lang="en-US" sz="9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Science Fair / Game / Art same skill, 60-sec pitch structure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609600" y="3314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62000" y="3243263"/>
            <a:ext cx="5394871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Failure Museum 3 fails</a:t>
            </a:r>
            <a:pPr indent="0" marL="0">
              <a:buNone/>
            </a:pPr>
            <a:r>
              <a:rPr lang="en-US" sz="9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❌→✅ + Where breaks “bouncer doesn’t learn” + Common Wrong “weight=0 but bias matters” + What If “bias +5?”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609600" y="3733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62000" y="3665934"/>
            <a:ext cx="5394871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Zero-backend PWA</a:t>
            </a:r>
            <a:pPr indent="0" marL="0">
              <a:buNone/>
            </a:pPr>
            <a:r>
              <a:rPr lang="en-US" sz="9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offline service worker, fuzzy search bouncer→Classification, printable 1-page cards, Nunito↔OpenDyslexic, SHA-256 no hint</a:t>
            </a:r>
            <a:endParaRPr lang="en-US" sz="97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71" y="1543943"/>
            <a:ext cx="5120580" cy="481875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600825" y="1685925"/>
            <a:ext cx="1552575" cy="1362075"/>
          </a:xfrm>
          <a:prstGeom prst="roundRect">
            <a:avLst>
              <a:gd name="adj" fmla="val 8392"/>
            </a:avLst>
          </a:prstGeom>
          <a:solidFill>
            <a:srgbClr val="F4F8FD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699796" y="1801118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🎓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6699796" y="2058293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 Training 15m</a:t>
            </a:r>
            <a:endParaRPr lang="en-US" sz="825" dirty="0"/>
          </a:p>
        </p:txBody>
      </p:sp>
      <p:sp>
        <p:nvSpPr>
          <p:cNvPr id="27" name="Text 20"/>
          <p:cNvSpPr txBox="1"/>
          <p:nvPr/>
        </p:nvSpPr>
        <p:spPr>
          <a:xfrm>
            <a:off x="6699796" y="2241054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One-sentence core idea + 3 misconceptions + Socratic 342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8248650" y="1685925"/>
            <a:ext cx="1552575" cy="1362075"/>
          </a:xfrm>
          <a:prstGeom prst="roundRect">
            <a:avLst>
              <a:gd name="adj" fmla="val 8392"/>
            </a:avLst>
          </a:prstGeom>
          <a:solidFill>
            <a:srgbClr val="F4F8FD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343156" y="1801118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🧠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8343156" y="2058293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Mental Model Deep</a:t>
            </a:r>
            <a:endParaRPr lang="en-US" sz="825" dirty="0"/>
          </a:p>
        </p:txBody>
      </p:sp>
      <p:sp>
        <p:nvSpPr>
          <p:cNvPr id="31" name="Text 24"/>
          <p:cNvSpPr txBox="1"/>
          <p:nvPr/>
        </p:nvSpPr>
        <p:spPr>
          <a:xfrm>
            <a:off x="8343156" y="2241054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Bouncer, LEGO neurons, draw-along 4 steps Play/Pause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9886950" y="1685925"/>
            <a:ext cx="1552575" cy="1362075"/>
          </a:xfrm>
          <a:prstGeom prst="roundRect">
            <a:avLst>
              <a:gd name="adj" fmla="val 8392"/>
            </a:avLst>
          </a:prstGeom>
          <a:solidFill>
            <a:srgbClr val="F4F8FD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986516" y="1801118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🧪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9986516" y="2058293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Examples</a:t>
            </a:r>
            <a:endParaRPr lang="en-US" sz="825" dirty="0"/>
          </a:p>
        </p:txBody>
      </p:sp>
      <p:sp>
        <p:nvSpPr>
          <p:cNvPr id="35" name="Text 28"/>
          <p:cNvSpPr txBox="1"/>
          <p:nvPr/>
        </p:nvSpPr>
        <p:spPr>
          <a:xfrm>
            <a:off x="9986516" y="2241054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 2/6 auto-rickshaw, monsoon + ethics traffic light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6600825" y="3143250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F4F8FD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699796" y="3258145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🔧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6699796" y="3515320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Lab</a:t>
            </a:r>
            <a:endParaRPr lang="en-US" sz="825" dirty="0"/>
          </a:p>
        </p:txBody>
      </p:sp>
      <p:sp>
        <p:nvSpPr>
          <p:cNvPr id="39" name="Text 32"/>
          <p:cNvSpPr txBox="1"/>
          <p:nvPr/>
        </p:nvSpPr>
        <p:spPr>
          <a:xfrm>
            <a:off x="6699796" y="3698081"/>
            <a:ext cx="135761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No-Tech cards default → simulator sliders → high-tech bonus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8248650" y="3143250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15202B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8343156" y="3258145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🌐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8343156" y="3515320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Community Pool</a:t>
            </a:r>
            <a:endParaRPr lang="en-US" sz="825" dirty="0"/>
          </a:p>
        </p:txBody>
      </p:sp>
      <p:sp>
        <p:nvSpPr>
          <p:cNvPr id="43" name="Text 36"/>
          <p:cNvSpPr txBox="1"/>
          <p:nvPr/>
        </p:nvSpPr>
        <p:spPr>
          <a:xfrm>
            <a:off x="8343156" y="3698081"/>
            <a:ext cx="135761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B9C8D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60→180 anonymized 72%→88% Hyderabad Delhi Chennai diversity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9886950" y="3143250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F4F8FD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9986516" y="3258145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🚀</a:t>
            </a:r>
            <a:endParaRPr lang="en-US" sz="1050" dirty="0"/>
          </a:p>
        </p:txBody>
      </p:sp>
      <p:sp>
        <p:nvSpPr>
          <p:cNvPr id="46" name="Text 39"/>
          <p:cNvSpPr txBox="1"/>
          <p:nvPr/>
        </p:nvSpPr>
        <p:spPr>
          <a:xfrm>
            <a:off x="9986516" y="3515320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Studio</a:t>
            </a:r>
            <a:endParaRPr lang="en-US" sz="825" dirty="0"/>
          </a:p>
        </p:txBody>
      </p:sp>
      <p:sp>
        <p:nvSpPr>
          <p:cNvPr id="47" name="Text 40"/>
          <p:cNvSpPr txBox="1"/>
          <p:nvPr/>
        </p:nvSpPr>
        <p:spPr>
          <a:xfrm>
            <a:off x="9986516" y="3698081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 audience Demo Day parents + portfolio auto-build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6600825" y="4733925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F4F8FD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699796" y="4843760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📓</a:t>
            </a:r>
            <a:endParaRPr lang="en-US" sz="1050" dirty="0"/>
          </a:p>
        </p:txBody>
      </p:sp>
      <p:sp>
        <p:nvSpPr>
          <p:cNvPr id="50" name="Text 43"/>
          <p:cNvSpPr txBox="1"/>
          <p:nvPr/>
        </p:nvSpPr>
        <p:spPr>
          <a:xfrm>
            <a:off x="6699796" y="5100935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Workbook</a:t>
            </a:r>
            <a:endParaRPr lang="en-US" sz="825" dirty="0"/>
          </a:p>
        </p:txBody>
      </p:sp>
      <p:sp>
        <p:nvSpPr>
          <p:cNvPr id="51" name="Text 44"/>
          <p:cNvSpPr txBox="1"/>
          <p:nvPr/>
        </p:nvSpPr>
        <p:spPr>
          <a:xfrm>
            <a:off x="6699796" y="5283696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Sentence starters + What So What Now What exit ticket</a:t>
            </a:r>
            <a:endParaRPr lang="en-US" sz="750" dirty="0"/>
          </a:p>
        </p:txBody>
      </p:sp>
      <p:sp>
        <p:nvSpPr>
          <p:cNvPr id="52" name="Shape 45"/>
          <p:cNvSpPr/>
          <p:nvPr/>
        </p:nvSpPr>
        <p:spPr>
          <a:xfrm>
            <a:off x="8248650" y="4733925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F4F8FD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343156" y="4843760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📊</a:t>
            </a:r>
            <a:endParaRPr lang="en-US" sz="1050" dirty="0"/>
          </a:p>
        </p:txBody>
      </p:sp>
      <p:sp>
        <p:nvSpPr>
          <p:cNvPr id="54" name="Text 47"/>
          <p:cNvSpPr txBox="1"/>
          <p:nvPr/>
        </p:nvSpPr>
        <p:spPr>
          <a:xfrm>
            <a:off x="8343156" y="5100935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 + Rubric</a:t>
            </a:r>
            <a:endParaRPr lang="en-US" sz="825" dirty="0"/>
          </a:p>
        </p:txBody>
      </p:sp>
      <p:sp>
        <p:nvSpPr>
          <p:cNvPr id="55" name="Text 48"/>
          <p:cNvSpPr txBox="1"/>
          <p:nvPr/>
        </p:nvSpPr>
        <p:spPr>
          <a:xfrm>
            <a:off x="8343156" y="5283696"/>
            <a:ext cx="135761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Confusion matrix SVG + Red/Yellow/Blue/Green self-assess</a:t>
            </a:r>
            <a:endParaRPr lang="en-US" sz="750" dirty="0"/>
          </a:p>
        </p:txBody>
      </p:sp>
      <p:sp>
        <p:nvSpPr>
          <p:cNvPr id="56" name="Shape 49"/>
          <p:cNvSpPr/>
          <p:nvPr/>
        </p:nvSpPr>
        <p:spPr>
          <a:xfrm>
            <a:off x="9886950" y="4733925"/>
            <a:ext cx="1552575" cy="1485900"/>
          </a:xfrm>
          <a:prstGeom prst="roundRect">
            <a:avLst>
              <a:gd name="adj" fmla="val 7692"/>
            </a:avLst>
          </a:prstGeom>
          <a:solidFill>
            <a:srgbClr val="F4F8FD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9986516" y="4843760"/>
            <a:ext cx="135761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⏱️</a:t>
            </a:r>
            <a:endParaRPr lang="en-US" sz="1050" dirty="0"/>
          </a:p>
        </p:txBody>
      </p:sp>
      <p:sp>
        <p:nvSpPr>
          <p:cNvPr id="58" name="Text 51"/>
          <p:cNvSpPr txBox="1"/>
          <p:nvPr/>
        </p:nvSpPr>
        <p:spPr>
          <a:xfrm>
            <a:off x="9986516" y="5100935"/>
            <a:ext cx="135761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90-min Script</a:t>
            </a:r>
            <a:endParaRPr lang="en-US" sz="825" dirty="0"/>
          </a:p>
        </p:txBody>
      </p:sp>
      <p:sp>
        <p:nvSpPr>
          <p:cNvPr id="59" name="Text 52"/>
          <p:cNvSpPr txBox="1"/>
          <p:nvPr/>
        </p:nvSpPr>
        <p:spPr>
          <a:xfrm>
            <a:off x="9986516" y="5283696"/>
            <a:ext cx="135761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Hook 10m Ment 15m Lab 20m Pool 10m Ethics 15m Proj 20m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4388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it helps kids — </a:t>
            </a:r>
            <a:pPr indent="0" marL="0">
              <a:buNone/>
            </a:pPr>
            <a:r>
              <a:rPr lang="en-US" sz="3600" b="1" spc="-72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skills that last beyond AI</a:t>
            </a:r>
            <a:pPr indent="0" marL="0"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34194"/>
            <a:ext cx="1112520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3C55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tool training. Thinking systems that compound each year in the spiral — Pattern → Data → Neuron → Robot → Agent → Startup.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43769"/>
            <a:ext cx="3619500" cy="147920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505694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9001" y="1558082"/>
            <a:ext cx="238274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0A7F7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◧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714375" y="1943844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Thinking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714375" y="2160984"/>
            <a:ext cx="32575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Messy Room 80% cleaning is real work. Diwali lights photo caption, monsoon X-Ray missing — data quality beats model.</a:t>
            </a:r>
            <a:endParaRPr lang="en-US" sz="938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343769"/>
            <a:ext cx="3619500" cy="147920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505694"/>
            <a:ext cx="342900" cy="3429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552950" y="1558082"/>
            <a:ext cx="257175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◎</a:t>
            </a:r>
            <a:endParaRPr lang="en-US" sz="1350" dirty="0"/>
          </a:p>
        </p:txBody>
      </p:sp>
      <p:sp>
        <p:nvSpPr>
          <p:cNvPr id="12" name="Text 6"/>
          <p:cNvSpPr txBox="1"/>
          <p:nvPr/>
        </p:nvSpPr>
        <p:spPr>
          <a:xfrm>
            <a:off x="4467225" y="1943844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Thinking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4467225" y="2160984"/>
            <a:ext cx="32575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analogy breaks, Common Wrong, What If +5 bias? Predict-Observe-Explain — test limits, not just believe.</a:t>
            </a:r>
            <a:endParaRPr lang="en-US" sz="93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100" y="1343769"/>
            <a:ext cx="3619500" cy="147920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075" y="1505694"/>
            <a:ext cx="342900" cy="3429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324701" y="1558082"/>
            <a:ext cx="238274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7C3AE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✦</a:t>
            </a:r>
            <a:endParaRPr lang="en-US" sz="1350" dirty="0"/>
          </a:p>
        </p:txBody>
      </p:sp>
      <p:sp>
        <p:nvSpPr>
          <p:cNvPr id="17" name="Text 9"/>
          <p:cNvSpPr txBox="1"/>
          <p:nvPr/>
        </p:nvSpPr>
        <p:spPr>
          <a:xfrm>
            <a:off x="8220075" y="1943844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Creativity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8220075" y="2160984"/>
            <a:ext cx="32575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Choice Board Art option same skill. Dream Machine GANs 2014, Diffusion, Prompt Engineering — build your idea.</a:t>
            </a:r>
            <a:endParaRPr lang="en-US" sz="938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956322"/>
            <a:ext cx="3619500" cy="1479203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118247"/>
            <a:ext cx="342900" cy="3429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19001" y="3170634"/>
            <a:ext cx="238274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B779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◍</a:t>
            </a:r>
            <a:endParaRPr lang="en-US" sz="1350" dirty="0"/>
          </a:p>
        </p:txBody>
      </p:sp>
      <p:sp>
        <p:nvSpPr>
          <p:cNvPr id="22" name="Text 12"/>
          <p:cNvSpPr txBox="1"/>
          <p:nvPr/>
        </p:nvSpPr>
        <p:spPr>
          <a:xfrm>
            <a:off x="714375" y="3556397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714375" y="3773537"/>
            <a:ext cx="32575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Community Pool anonymized 60→180, accuracy 72%→88%. Team Agents AutoGen 2023, CLIP 2021 multimodality.</a:t>
            </a:r>
            <a:endParaRPr lang="en-US" sz="938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2956322"/>
            <a:ext cx="3619500" cy="1479203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7225" y="3118247"/>
            <a:ext cx="342900" cy="3429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4571851" y="3170634"/>
            <a:ext cx="238274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B91C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⚑</a:t>
            </a:r>
            <a:endParaRPr lang="en-US" sz="1350" dirty="0"/>
          </a:p>
        </p:txBody>
      </p:sp>
      <p:sp>
        <p:nvSpPr>
          <p:cNvPr id="27" name="Text 15"/>
          <p:cNvSpPr txBox="1"/>
          <p:nvPr/>
        </p:nvSpPr>
        <p:spPr>
          <a:xfrm>
            <a:off x="4467225" y="3556397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Ethics &amp; Responsibility</a:t>
            </a:r>
            <a:endParaRPr lang="en-US" sz="1050" dirty="0"/>
          </a:p>
        </p:txBody>
      </p:sp>
      <p:sp>
        <p:nvSpPr>
          <p:cNvPr id="28" name="Text 16"/>
          <p:cNvSpPr txBox="1"/>
          <p:nvPr/>
        </p:nvSpPr>
        <p:spPr>
          <a:xfrm>
            <a:off x="4467225" y="3773537"/>
            <a:ext cx="32575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Permission Slip copyright, Gender Shades 2018 fairness, AI Safety 2016. Energy: 1 model = 5 auto rides. Pledge action.</a:t>
            </a:r>
            <a:endParaRPr lang="en-US" sz="938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2956322"/>
            <a:ext cx="3619500" cy="1479203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075" y="3118247"/>
            <a:ext cx="342900" cy="34290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8324701" y="3170634"/>
            <a:ext cx="238274" cy="2905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6653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↻</a:t>
            </a:r>
            <a:endParaRPr lang="en-US" sz="1350" dirty="0"/>
          </a:p>
        </p:txBody>
      </p:sp>
      <p:sp>
        <p:nvSpPr>
          <p:cNvPr id="32" name="Text 18"/>
          <p:cNvSpPr txBox="1"/>
          <p:nvPr/>
        </p:nvSpPr>
        <p:spPr>
          <a:xfrm>
            <a:off x="8220075" y="3556397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33" name="Text 19"/>
          <p:cNvSpPr txBox="1"/>
          <p:nvPr/>
        </p:nvSpPr>
        <p:spPr>
          <a:xfrm>
            <a:off x="8220075" y="3773537"/>
            <a:ext cx="32575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4258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Failure Museum 3 fails ❌→✅. Troubleshooting table, growth mindset — Watch me fail first, then fix.</a:t>
            </a:r>
            <a:endParaRPr lang="en-US" sz="938" dirty="0"/>
          </a:p>
        </p:txBody>
      </p:sp>
      <p:sp>
        <p:nvSpPr>
          <p:cNvPr id="34" name="Shape 20"/>
          <p:cNvSpPr/>
          <p:nvPr/>
        </p:nvSpPr>
        <p:spPr>
          <a:xfrm>
            <a:off x="533400" y="4591050"/>
            <a:ext cx="6591300" cy="1247775"/>
          </a:xfrm>
          <a:prstGeom prst="roundRect">
            <a:avLst>
              <a:gd name="adj" fmla="val 13740"/>
            </a:avLst>
          </a:prstGeom>
          <a:solidFill>
            <a:srgbClr val="15202B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4759375"/>
            <a:ext cx="4472434" cy="25717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38200" y="4826050"/>
            <a:ext cx="428193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042E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PORTFOLIO AUTO-BUILDS</a:t>
            </a:r>
            <a:endParaRPr lang="en-US" sz="750" dirty="0"/>
          </a:p>
        </p:txBody>
      </p:sp>
      <p:sp>
        <p:nvSpPr>
          <p:cNvPr id="37" name="Text 22"/>
          <p:cNvSpPr txBox="1"/>
          <p:nvPr/>
        </p:nvSpPr>
        <p:spPr>
          <a:xfrm>
            <a:off x="742950" y="5092750"/>
            <a:ext cx="4472434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My AI Portfolio → Demo Day website at L4</a:t>
            </a:r>
            <a:endParaRPr lang="en-US" sz="1350" dirty="0"/>
          </a:p>
        </p:txBody>
      </p:sp>
      <p:sp>
        <p:nvSpPr>
          <p:cNvPr id="38" name="Text 23"/>
          <p:cNvSpPr txBox="1"/>
          <p:nvPr/>
        </p:nvSpPr>
        <p:spPr>
          <a:xfrm>
            <a:off x="742950" y="5338465"/>
            <a:ext cx="4472434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localStorage saves every project pitch — Science Fair / Game / Art. Link to show high school. Real audience at Demo Day.</a:t>
            </a:r>
            <a:endParaRPr lang="en-US" sz="938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6834" y="4804767"/>
            <a:ext cx="663029" cy="809625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5529709" y="4947642"/>
            <a:ext cx="377279" cy="2952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114</a:t>
            </a:r>
            <a:endParaRPr lang="en-US" sz="1650" dirty="0"/>
          </a:p>
        </p:txBody>
      </p:sp>
      <p:sp>
        <p:nvSpPr>
          <p:cNvPr id="41" name="Text 25"/>
          <p:cNvSpPr txBox="1"/>
          <p:nvPr/>
        </p:nvSpPr>
        <p:spPr>
          <a:xfrm>
            <a:off x="5529709" y="5261967"/>
            <a:ext cx="377279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Mastery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checks</a:t>
            </a:r>
            <a:endParaRPr lang="en-US" sz="7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5113" y="4804767"/>
            <a:ext cx="773757" cy="809625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6287988" y="4947642"/>
            <a:ext cx="487859" cy="2952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yr</a:t>
            </a:r>
            <a:endParaRPr lang="en-US" sz="1650" dirty="0"/>
          </a:p>
        </p:txBody>
      </p:sp>
      <p:sp>
        <p:nvSpPr>
          <p:cNvPr id="44" name="Text 27"/>
          <p:cNvSpPr txBox="1"/>
          <p:nvPr/>
        </p:nvSpPr>
        <p:spPr>
          <a:xfrm>
            <a:off x="6287988" y="5261967"/>
            <a:ext cx="488007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compound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skills</a:t>
            </a:r>
            <a:endParaRPr lang="en-US" sz="75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1771" y="4587925"/>
            <a:ext cx="4396829" cy="1243459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7442746" y="4810125"/>
            <a:ext cx="403487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WORKBOOK SIGNAL</a:t>
            </a:r>
            <a:endParaRPr lang="en-US" sz="825" dirty="0"/>
          </a:p>
        </p:txBody>
      </p:sp>
      <p:sp>
        <p:nvSpPr>
          <p:cNvPr id="47" name="Text 29"/>
          <p:cNvSpPr txBox="1"/>
          <p:nvPr/>
        </p:nvSpPr>
        <p:spPr>
          <a:xfrm>
            <a:off x="7442746" y="5033963"/>
            <a:ext cx="4034879" cy="3464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"My model worked when... but failed when... I fixed by... Ethical risk is..." Sentence starters + metacognition.</a:t>
            </a:r>
            <a:endParaRPr lang="en-US" sz="975" dirty="0"/>
          </a:p>
        </p:txBody>
      </p:sp>
      <p:sp>
        <p:nvSpPr>
          <p:cNvPr id="48" name="Shape 30"/>
          <p:cNvSpPr/>
          <p:nvPr/>
        </p:nvSpPr>
        <p:spPr>
          <a:xfrm>
            <a:off x="7439025" y="5476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9" name="Shape 31"/>
          <p:cNvSpPr/>
          <p:nvPr/>
        </p:nvSpPr>
        <p:spPr>
          <a:xfrm>
            <a:off x="7591425" y="5476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0" name="Shape 32"/>
          <p:cNvSpPr/>
          <p:nvPr/>
        </p:nvSpPr>
        <p:spPr>
          <a:xfrm>
            <a:off x="7743825" y="5476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1" name="Shape 33"/>
          <p:cNvSpPr/>
          <p:nvPr/>
        </p:nvSpPr>
        <p:spPr>
          <a:xfrm>
            <a:off x="7896225" y="5476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2" name="Text 34"/>
          <p:cNvSpPr txBox="1"/>
          <p:nvPr/>
        </p:nvSpPr>
        <p:spPr>
          <a:xfrm>
            <a:off x="8109496" y="5485209"/>
            <a:ext cx="177611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A8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Red/Yellow/Blue/Green self-assessment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66725"/>
            <a:ext cx="584448" cy="5762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350"/>
              </a:spcAft>
              <a:buNone/>
            </a:pPr>
            <a:r>
              <a:rPr lang="en-US" sz="900" b="1" spc="10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 kids need it — Future + India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94048" y="457200"/>
            <a:ext cx="3312319" cy="5943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jobs demand it. </a:t>
            </a:r>
            <a:pPr indent="0" marL="0">
              <a:buNone/>
            </a:pPr>
            <a:r>
              <a:rPr lang="en-US" sz="3600" b="1" spc="-72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Kids face risks now.</a:t>
            </a:r>
            <a:pPr indent="0" marL="0"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India has the scale.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05325" y="704850"/>
            <a:ext cx="3219450" cy="1590675"/>
          </a:xfrm>
          <a:prstGeom prst="roundRect">
            <a:avLst>
              <a:gd name="adj" fmla="val 11976"/>
            </a:avLst>
          </a:prstGeom>
          <a:solidFill>
            <a:srgbClr val="152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15917" y="904875"/>
            <a:ext cx="279603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literacy</a:t>
            </a:r>
            <a:endParaRPr lang="en-US" sz="825" dirty="0"/>
          </a:p>
        </p:txBody>
      </p:sp>
      <p:sp>
        <p:nvSpPr>
          <p:cNvPr id="6" name="Text 4"/>
          <p:cNvSpPr txBox="1"/>
          <p:nvPr/>
        </p:nvSpPr>
        <p:spPr>
          <a:xfrm>
            <a:off x="4715917" y="1128713"/>
            <a:ext cx="2796034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85% of jobs 2030 need AI literacy — not just coding</a:t>
            </a:r>
            <a:endParaRPr lang="en-US" sz="1125" dirty="0"/>
          </a:p>
        </p:txBody>
      </p:sp>
      <p:sp>
        <p:nvSpPr>
          <p:cNvPr id="7" name="Text 5"/>
          <p:cNvSpPr txBox="1"/>
          <p:nvPr/>
        </p:nvSpPr>
        <p:spPr>
          <a:xfrm>
            <a:off x="4715917" y="1543050"/>
            <a:ext cx="2796034" cy="5589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C9D6E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literacy is new reading literacy. Those who can build, evaluate, and question AI will lead. Those who only consume will be vulnerable.</a:t>
            </a:r>
            <a:endParaRPr lang="en-US" sz="1013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6367" y="2444948"/>
            <a:ext cx="1531293" cy="29033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25442" y="2654498"/>
            <a:ext cx="10931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now</a:t>
            </a:r>
            <a:endParaRPr lang="en-US" sz="825" dirty="0"/>
          </a:p>
        </p:txBody>
      </p:sp>
      <p:sp>
        <p:nvSpPr>
          <p:cNvPr id="10" name="Text 7"/>
          <p:cNvSpPr txBox="1"/>
          <p:nvPr/>
        </p:nvSpPr>
        <p:spPr>
          <a:xfrm>
            <a:off x="4725442" y="2878336"/>
            <a:ext cx="1093143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Risks they already face</a:t>
            </a:r>
            <a:endParaRPr lang="en-US" sz="1125" dirty="0"/>
          </a:p>
        </p:txBody>
      </p:sp>
      <p:sp>
        <p:nvSpPr>
          <p:cNvPr id="11" name="Text 8"/>
          <p:cNvSpPr txBox="1"/>
          <p:nvPr/>
        </p:nvSpPr>
        <p:spPr>
          <a:xfrm>
            <a:off x="4725442" y="3292673"/>
            <a:ext cx="1093143" cy="16769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Deepfakes, Gender Shades bias 2018, hallucination, Getty vs Stability copyright. We add action pledge: “I will check bias”.</a:t>
            </a:r>
            <a:endParaRPr lang="en-US" sz="101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59" y="2444948"/>
            <a:ext cx="1531441" cy="29033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9134" y="2654498"/>
            <a:ext cx="109329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+ local</a:t>
            </a:r>
            <a:endParaRPr lang="en-US" sz="825" dirty="0"/>
          </a:p>
        </p:txBody>
      </p:sp>
      <p:sp>
        <p:nvSpPr>
          <p:cNvPr id="14" name="Text 10"/>
          <p:cNvSpPr txBox="1"/>
          <p:nvPr/>
        </p:nvSpPr>
        <p:spPr>
          <a:xfrm>
            <a:off x="6409134" y="2878336"/>
            <a:ext cx="1093291" cy="5357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hardware, works anywhere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409134" y="3471267"/>
            <a:ext cx="1093291" cy="16769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3F53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PWA offline, printable cards, no trademark. Telugu “bharuvu” for weight. Parent sees “for my child” not imported example.</a:t>
            </a:r>
            <a:endParaRPr lang="en-US" sz="1013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101" y="704850"/>
            <a:ext cx="1060549" cy="17067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1076" y="885825"/>
            <a:ext cx="698599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250M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131076" y="1304925"/>
            <a:ext cx="698599" cy="4085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D8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Indian Grades 6-9 students</a:t>
            </a:r>
            <a:endParaRPr lang="en-US" sz="82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704850"/>
            <a:ext cx="1528614" cy="170676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05925" y="885825"/>
            <a:ext cx="1166664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72→88%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9305925" y="1304925"/>
            <a:ext cx="1166664" cy="2723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D8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Accuracy with diverse pooling</a:t>
            </a:r>
            <a:endParaRPr lang="en-US" sz="825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7864" y="704850"/>
            <a:ext cx="814536" cy="170676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48839" y="885825"/>
            <a:ext cx="452586" cy="781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HW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10948839" y="1704975"/>
            <a:ext cx="452586" cy="5447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D8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Needed — No-Tech default</a:t>
            </a:r>
            <a:endParaRPr lang="en-US" sz="825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101" y="2544961"/>
            <a:ext cx="3632299" cy="32687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150126" y="2735461"/>
            <a:ext cx="2271117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 context — 2 of 6 examples per week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0421243" y="2849761"/>
            <a:ext cx="961132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A7D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HYDERABAD • DELHI • CHENNAI</a:t>
            </a:r>
            <a:endParaRPr lang="en-US" sz="7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0126" y="3354586"/>
            <a:ext cx="1710035" cy="27622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254901" y="3430786"/>
            <a:ext cx="150048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🛺 Auto-rickshaw fare regression</a:t>
            </a:r>
            <a:endParaRPr lang="en-US" sz="7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0126" y="3707011"/>
            <a:ext cx="1616720" cy="27622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254901" y="3783211"/>
            <a:ext cx="14071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🌧️ Monsoon crop classification</a:t>
            </a:r>
            <a:endParaRPr lang="en-US" sz="7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3046" y="3707011"/>
            <a:ext cx="1518345" cy="27622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947821" y="3783211"/>
            <a:ext cx="130879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🏏 Cricket ball line detection</a:t>
            </a:r>
            <a:endParaRPr lang="en-US" sz="7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0126" y="4059436"/>
            <a:ext cx="1148507" cy="27622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254901" y="4135636"/>
            <a:ext cx="9389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🍱 Tiffin SLAM route</a:t>
            </a:r>
            <a:endParaRPr lang="en-US" sz="7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4832" y="4059436"/>
            <a:ext cx="1219349" cy="27622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9479607" y="4135636"/>
            <a:ext cx="100979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🪔 Diwali lights vision</a:t>
            </a:r>
            <a:endParaRPr lang="en-US" sz="750" dirty="0"/>
          </a:p>
        </p:txBody>
      </p:sp>
      <p:sp>
        <p:nvSpPr>
          <p:cNvPr id="38" name="Text 25"/>
          <p:cNvSpPr txBox="1"/>
          <p:nvPr/>
        </p:nvSpPr>
        <p:spPr>
          <a:xfrm>
            <a:off x="8321576" y="4478536"/>
            <a:ext cx="306079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Hyderabad </a:t>
            </a:r>
            <a:pPr indent="0" marL="0">
              <a:buNone/>
            </a:pPr>
            <a:r>
              <a:rPr lang="en-US" sz="9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72% mono</a:t>
            </a:r>
            <a:endParaRPr lang="en-US" sz="9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0126" y="4507111"/>
            <a:ext cx="95250" cy="9525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153400" y="4505325"/>
            <a:ext cx="95250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27"/>
          <p:cNvSpPr/>
          <p:nvPr/>
        </p:nvSpPr>
        <p:spPr>
          <a:xfrm>
            <a:off x="8153400" y="4638675"/>
            <a:ext cx="3228975" cy="76200"/>
          </a:xfrm>
          <a:prstGeom prst="roundRect">
            <a:avLst>
              <a:gd name="adj" fmla="val 12487500"/>
            </a:avLst>
          </a:prstGeom>
          <a:solidFill>
            <a:srgbClr val="E6EDF5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0126" y="4640461"/>
            <a:ext cx="2327077" cy="762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321576" y="4821436"/>
            <a:ext cx="306079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Hyderabad + Delhi + Chennai </a:t>
            </a:r>
            <a:pPr indent="0" marL="0">
              <a:buNone/>
            </a:pPr>
            <a:r>
              <a:rPr lang="en-US" sz="900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88% pooled</a:t>
            </a:r>
            <a:endParaRPr lang="en-US" sz="9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0126" y="4850011"/>
            <a:ext cx="95250" cy="9525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153400" y="4848225"/>
            <a:ext cx="95250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30"/>
          <p:cNvSpPr/>
          <p:nvPr/>
        </p:nvSpPr>
        <p:spPr>
          <a:xfrm>
            <a:off x="8153400" y="4981575"/>
            <a:ext cx="3228975" cy="76200"/>
          </a:xfrm>
          <a:prstGeom prst="roundRect">
            <a:avLst>
              <a:gd name="adj" fmla="val 12487500"/>
            </a:avLst>
          </a:prstGeom>
          <a:solidFill>
            <a:srgbClr val="E6EDF5"/>
          </a:solidFill>
          <a:ln/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0126" y="4983361"/>
            <a:ext cx="2844254" cy="762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150126" y="5192911"/>
            <a:ext cx="3232249" cy="439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D8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Diversity reduces bias. Kids see law of large numbers — 60 dots vs 180 dots variance — and consent: anonymized counts only, opt-out.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95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 — </a:t>
            </a:r>
            <a:pPr indent="0" marL="0">
              <a:buNone/>
            </a:pPr>
            <a:r>
              <a:rPr lang="en-US" sz="3900" b="1" spc="-7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TAM SAM SOM</a:t>
            </a:r>
            <a:endParaRPr lang="en-US" sz="39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028700"/>
            <a:ext cx="7239000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3D56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complete 144-week verified AI literacy platform for middle school exists. India 250M Grades 6-9 is the wedge into $20B global K-12 AI education by 2030.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638300"/>
            <a:ext cx="6309271" cy="4762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2475" y="1838325"/>
            <a:ext cx="5871121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INDIA-FIRST WEDGE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40856"/>
            <a:ext cx="2057400" cy="2209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5375" y="3688556"/>
            <a:ext cx="895350" cy="895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2543175" y="327660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6649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771775" y="3253829"/>
            <a:ext cx="385182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 — Global K-12 AI ed $20B by 2030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2771775" y="3434804"/>
            <a:ext cx="3851821" cy="3342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India 250M students G6-9 × $20/yr = </a:t>
            </a:r>
            <a:pPr indent="0" marL="0">
              <a:buNone/>
            </a:pPr>
            <a:r>
              <a:rPr lang="en-US" sz="975" b="1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$5B</a:t>
            </a:r>
            <a:pPr indent="0" marL="0">
              <a:buNone/>
            </a:pPr>
            <a:r>
              <a:rPr lang="en-US" sz="975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India TAM. Low-resource ready, no hardware.</a:t>
            </a:r>
            <a:endParaRPr lang="en-US" sz="975" dirty="0"/>
          </a:p>
        </p:txBody>
      </p:sp>
      <p:sp>
        <p:nvSpPr>
          <p:cNvPr id="11" name="Shape 7"/>
          <p:cNvSpPr/>
          <p:nvPr/>
        </p:nvSpPr>
        <p:spPr>
          <a:xfrm>
            <a:off x="2543175" y="39147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71775" y="3892897"/>
            <a:ext cx="385182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 — India private + edtech + after-school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771775" y="4073872"/>
            <a:ext cx="3851821" cy="3342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50M addressable students. At $20/student = </a:t>
            </a:r>
            <a:pPr indent="0" marL="0">
              <a:buNone/>
            </a:pPr>
            <a:r>
              <a:rPr lang="en-US" sz="975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$1B SAM</a:t>
            </a:r>
            <a:pPr indent="0" marL="0">
              <a:buNone/>
            </a:pPr>
            <a:r>
              <a:rPr lang="en-US" sz="975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Private schools + centers + parents.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2543175" y="45529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12CAB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771775" y="4531965"/>
            <a:ext cx="385182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 — Year 1-3 target 1M students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771775" y="4712940"/>
            <a:ext cx="3851821" cy="3342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2F47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B2B schools + B2C + govt pilot. $20M ARR at $20/student. 100 → 1,000 schools path.</a:t>
            </a:r>
            <a:endParaRPr lang="en-US" sz="975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071" y="1638300"/>
            <a:ext cx="1490960" cy="786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37946" y="1762125"/>
            <a:ext cx="120521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$20B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7137946" y="2028825"/>
            <a:ext cx="1205210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A8BCC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Global K-12 AI ed</a:t>
            </a:r>
            <a:endParaRPr lang="en-US" sz="825" dirty="0"/>
          </a:p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A8BCC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by 2030 TAM</a:t>
            </a:r>
            <a:endParaRPr lang="en-US" sz="825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281" y="1638300"/>
            <a:ext cx="1490960" cy="786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724156" y="1762125"/>
            <a:ext cx="120521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$1B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8724156" y="2028825"/>
            <a:ext cx="1205210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A647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 India</a:t>
            </a:r>
            <a:endParaRPr lang="en-US" sz="825" dirty="0"/>
          </a:p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4A647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50M students</a:t>
            </a:r>
            <a:endParaRPr lang="en-US" sz="82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91" y="1638300"/>
            <a:ext cx="1490960" cy="786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310366" y="1762125"/>
            <a:ext cx="120521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$20M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10310366" y="2028825"/>
            <a:ext cx="1205210" cy="2723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A647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SOM Y3</a:t>
            </a:r>
            <a:endParaRPr lang="en-US" sz="825" dirty="0"/>
          </a:p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4A647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1M students • ARR</a:t>
            </a:r>
            <a:endParaRPr lang="en-US" sz="825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071" y="2577405"/>
            <a:ext cx="4663380" cy="38233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56996" y="2720280"/>
            <a:ext cx="433953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GROWTH 2026 → 2030 • INDIA STUDENTS SERVED</a:t>
            </a:r>
            <a:endParaRPr lang="en-US" sz="825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339530" cy="277475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156996" y="5795070"/>
            <a:ext cx="110281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6A809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 • 10 schools pilot</a:t>
            </a:r>
            <a:endParaRPr lang="en-US" sz="750" dirty="0"/>
          </a:p>
        </p:txBody>
      </p:sp>
      <p:sp>
        <p:nvSpPr>
          <p:cNvPr id="30" name="Text 21"/>
          <p:cNvSpPr txBox="1"/>
          <p:nvPr/>
        </p:nvSpPr>
        <p:spPr>
          <a:xfrm>
            <a:off x="8590508" y="5795070"/>
            <a:ext cx="89133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6A809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2028 • 100 schools</a:t>
            </a:r>
            <a:endParaRPr lang="en-US" sz="750" dirty="0"/>
          </a:p>
        </p:txBody>
      </p:sp>
      <p:sp>
        <p:nvSpPr>
          <p:cNvPr id="31" name="Text 22"/>
          <p:cNvSpPr txBox="1"/>
          <p:nvPr/>
        </p:nvSpPr>
        <p:spPr>
          <a:xfrm>
            <a:off x="9812536" y="5795070"/>
            <a:ext cx="16839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spc="45" kern="0" dirty="0">
                <a:solidFill>
                  <a:srgbClr val="6A809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2030 • 1,000 schools • 1M students</a:t>
            </a:r>
            <a:endParaRPr lang="en-US" sz="750" dirty="0"/>
          </a:p>
        </p:txBody>
      </p:sp>
      <p:sp>
        <p:nvSpPr>
          <p:cNvPr id="32" name="Text 23"/>
          <p:cNvSpPr txBox="1"/>
          <p:nvPr/>
        </p:nvSpPr>
        <p:spPr>
          <a:xfrm>
            <a:off x="7156996" y="6023670"/>
            <a:ext cx="4339530" cy="2723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5A738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Comparable gap: US kits + no verification. We are verified 144/144, $0 hosting, PWA offline, 2G ready. First mover in complete middle-school AI literacy.</a:t>
            </a:r>
            <a:endParaRPr lang="en-US" sz="825" dirty="0"/>
          </a:p>
        </p:txBody>
      </p:sp>
      <p:sp>
        <p:nvSpPr>
          <p:cNvPr id="33" name="Text 24"/>
          <p:cNvSpPr txBox="1"/>
          <p:nvPr/>
        </p:nvSpPr>
        <p:spPr>
          <a:xfrm>
            <a:off x="1287959" y="3960019"/>
            <a:ext cx="52908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$5B</a:t>
            </a:r>
            <a:endParaRPr lang="en-US" sz="1650" dirty="0"/>
          </a:p>
        </p:txBody>
      </p:sp>
      <p:sp>
        <p:nvSpPr>
          <p:cNvPr id="34" name="Text 25"/>
          <p:cNvSpPr txBox="1"/>
          <p:nvPr/>
        </p:nvSpPr>
        <p:spPr>
          <a:xfrm>
            <a:off x="1287959" y="4198144"/>
            <a:ext cx="52923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spc="45" kern="0" dirty="0">
                <a:solidFill>
                  <a:srgbClr val="5A72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INDIA TAM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81000"/>
            <a:ext cx="11201400" cy="398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 demo - </a:t>
            </a:r>
            <a:pPr indent="0" marL="0">
              <a:buNone/>
            </a:pPr>
            <a:r>
              <a:rPr lang="en-US" sz="3300" b="1" spc="-66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today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988665"/>
            <a:ext cx="5945832" cy="16667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275" y="1160115"/>
            <a:ext cx="55838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SITE + ACCESS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483816"/>
            <a:ext cx="914400" cy="91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6025" y="1683841"/>
            <a:ext cx="634752" cy="51420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QR CODE</a:t>
            </a:r>
            <a:endParaRPr lang="en-US" sz="675" dirty="0"/>
          </a:p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PLACEHOLDER</a:t>
            </a:r>
            <a:endParaRPr lang="en-US" sz="675" dirty="0"/>
          </a:p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ai-academy</a:t>
            </a:r>
            <a:endParaRPr lang="en-US" sz="675" dirty="0"/>
          </a:p>
          <a:p>
            <a:pPr algn="ctr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.pages.dev</a:t>
            </a:r>
            <a:endParaRPr lang="en-US" sz="675" dirty="0"/>
          </a:p>
        </p:txBody>
      </p:sp>
      <p:sp>
        <p:nvSpPr>
          <p:cNvPr id="7" name="Text 3"/>
          <p:cNvSpPr txBox="1"/>
          <p:nvPr/>
        </p:nvSpPr>
        <p:spPr>
          <a:xfrm>
            <a:off x="1724025" y="1388715"/>
            <a:ext cx="2593181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ai-academy.pages.dev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651546"/>
            <a:ext cx="1260425" cy="27146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828800" y="1708696"/>
            <a:ext cx="1050875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student: student1234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650" y="1651546"/>
            <a:ext cx="1256556" cy="27146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165425" y="1708696"/>
            <a:ext cx="1047006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teacher: teacher1234</a:t>
            </a:r>
            <a:endParaRPr lang="en-US" sz="8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025" y="2018258"/>
            <a:ext cx="2133898" cy="25241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819275" y="2065883"/>
            <a:ext cx="1943398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FE7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GitHub: ramanaraokamma/ai-academy</a:t>
            </a:r>
            <a:endParaRPr lang="en-US" sz="825" dirty="0"/>
          </a:p>
        </p:txBody>
      </p:sp>
      <p:sp>
        <p:nvSpPr>
          <p:cNvPr id="14" name="Text 7"/>
          <p:cNvSpPr txBox="1"/>
          <p:nvPr/>
        </p:nvSpPr>
        <p:spPr>
          <a:xfrm>
            <a:off x="1724025" y="2346871"/>
            <a:ext cx="2593181" cy="14659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4A62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file index.html - no build step</a:t>
            </a:r>
            <a:endParaRPr lang="en-US" sz="825" dirty="0"/>
          </a:p>
        </p:txBody>
      </p:sp>
      <p:sp>
        <p:nvSpPr>
          <p:cNvPr id="15" name="Shape 8"/>
          <p:cNvSpPr/>
          <p:nvPr/>
        </p:nvSpPr>
        <p:spPr>
          <a:xfrm>
            <a:off x="495300" y="2809875"/>
            <a:ext cx="5943600" cy="1657350"/>
          </a:xfrm>
          <a:prstGeom prst="roundRect">
            <a:avLst>
              <a:gd name="adj" fmla="val 10345"/>
            </a:avLst>
          </a:prstGeom>
          <a:solidFill>
            <a:srgbClr val="15202B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666750" y="2969716"/>
            <a:ext cx="560293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FEATURED DEMO</a:t>
            </a:r>
            <a:endParaRPr lang="en-US" sz="750" dirty="0"/>
          </a:p>
        </p:txBody>
      </p:sp>
      <p:sp>
        <p:nvSpPr>
          <p:cNvPr id="17" name="Text 10"/>
          <p:cNvSpPr txBox="1"/>
          <p:nvPr/>
        </p:nvSpPr>
        <p:spPr>
          <a:xfrm>
            <a:off x="666750" y="3198316"/>
            <a:ext cx="560293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EAF4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L3 U1 W2 Neural Skill - Weighted Sum</a:t>
            </a:r>
            <a:endParaRPr lang="en-US" sz="1125" dirty="0"/>
          </a:p>
        </p:txBody>
      </p:sp>
      <p:sp>
        <p:nvSpPr>
          <p:cNvPr id="18" name="Text 11"/>
          <p:cNvSpPr txBox="1"/>
          <p:nvPr/>
        </p:nvSpPr>
        <p:spPr>
          <a:xfrm>
            <a:off x="666750" y="3407866"/>
            <a:ext cx="5602932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7BED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sliders change w*x + b and LED fires. AND gate logic.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682157"/>
            <a:ext cx="1804095" cy="63341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90575" y="3796457"/>
            <a:ext cx="155644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EAF4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 w1</a:t>
            </a:r>
            <a:endParaRPr lang="en-US" sz="675" dirty="0"/>
          </a:p>
        </p:txBody>
      </p:sp>
      <p:sp>
        <p:nvSpPr>
          <p:cNvPr id="21" name="Text 13"/>
          <p:cNvSpPr txBox="1"/>
          <p:nvPr/>
        </p:nvSpPr>
        <p:spPr>
          <a:xfrm>
            <a:off x="790575" y="3953619"/>
            <a:ext cx="155644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to 2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790575" y="4171950"/>
            <a:ext cx="1552575" cy="38100"/>
          </a:xfrm>
          <a:prstGeom prst="roundRect">
            <a:avLst>
              <a:gd name="adj" fmla="val 2475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Shape 15"/>
          <p:cNvSpPr/>
          <p:nvPr/>
        </p:nvSpPr>
        <p:spPr>
          <a:xfrm>
            <a:off x="790575" y="4171950"/>
            <a:ext cx="1057275" cy="38100"/>
          </a:xfrm>
          <a:prstGeom prst="roundRect">
            <a:avLst>
              <a:gd name="adj" fmla="val 2475000"/>
            </a:avLst>
          </a:prstGeom>
          <a:solidFill>
            <a:srgbClr val="12CAB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6095" y="3682157"/>
            <a:ext cx="1804095" cy="63341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689920" y="3796457"/>
            <a:ext cx="155644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EAF4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BIAS b</a:t>
            </a:r>
            <a:endParaRPr lang="en-US" sz="675" dirty="0"/>
          </a:p>
        </p:txBody>
      </p:sp>
      <p:sp>
        <p:nvSpPr>
          <p:cNvPr id="26" name="Text 17"/>
          <p:cNvSpPr txBox="1"/>
          <p:nvPr/>
        </p:nvSpPr>
        <p:spPr>
          <a:xfrm>
            <a:off x="2689920" y="3953619"/>
            <a:ext cx="155644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-2 to 2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2686050" y="4171950"/>
            <a:ext cx="1552575" cy="38100"/>
          </a:xfrm>
          <a:prstGeom prst="roundRect">
            <a:avLst>
              <a:gd name="adj" fmla="val 2475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2686050" y="4171950"/>
            <a:ext cx="704850" cy="38100"/>
          </a:xfrm>
          <a:prstGeom prst="roundRect">
            <a:avLst>
              <a:gd name="adj" fmla="val 2475000"/>
            </a:avLst>
          </a:prstGeom>
          <a:solidFill>
            <a:srgbClr val="F59E0B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439" y="3682157"/>
            <a:ext cx="1804095" cy="633413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589264" y="3796457"/>
            <a:ext cx="1556445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EAF4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endParaRPr lang="en-US" sz="675" dirty="0"/>
          </a:p>
        </p:txBody>
      </p:sp>
      <p:sp>
        <p:nvSpPr>
          <p:cNvPr id="31" name="Text 21"/>
          <p:cNvSpPr txBox="1"/>
          <p:nvPr/>
        </p:nvSpPr>
        <p:spPr>
          <a:xfrm>
            <a:off x="4589264" y="3953619"/>
            <a:ext cx="155644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to 400 cm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4591050" y="4171950"/>
            <a:ext cx="1552575" cy="38100"/>
          </a:xfrm>
          <a:prstGeom prst="roundRect">
            <a:avLst>
              <a:gd name="adj" fmla="val 2475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3" name="Shape 23"/>
          <p:cNvSpPr/>
          <p:nvPr/>
        </p:nvSpPr>
        <p:spPr>
          <a:xfrm>
            <a:off x="4591050" y="4171950"/>
            <a:ext cx="1171575" cy="38100"/>
          </a:xfrm>
          <a:prstGeom prst="roundRect">
            <a:avLst>
              <a:gd name="adj" fmla="val 2475000"/>
            </a:avLst>
          </a:prstGeom>
          <a:solidFill>
            <a:srgbClr val="12CABF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620369"/>
            <a:ext cx="1918395" cy="73580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19125" y="4744194"/>
            <a:ext cx="1670596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212KB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619125" y="4982319"/>
            <a:ext cx="1670596" cy="2500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4"/>
              </a:lnSpc>
              <a:spcBef>
                <a:spcPts val="375"/>
              </a:spcBef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HTML file</a:t>
            </a:r>
            <a:endParaRPr lang="en-US" sz="788" dirty="0"/>
          </a:p>
          <a:p>
            <a:pPr algn="ctr" indent="0" marL="0">
              <a:lnSpc>
                <a:spcPts val="984"/>
              </a:lnSpc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 25MB limit</a:t>
            </a:r>
            <a:endParaRPr lang="en-US" sz="788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8945" y="4620369"/>
            <a:ext cx="1918395" cy="73580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2632770" y="4744194"/>
            <a:ext cx="167074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$0</a:t>
            </a:r>
            <a:endParaRPr lang="en-US" sz="1500" dirty="0"/>
          </a:p>
        </p:txBody>
      </p:sp>
      <p:sp>
        <p:nvSpPr>
          <p:cNvPr id="39" name="Text 27"/>
          <p:cNvSpPr txBox="1"/>
          <p:nvPr/>
        </p:nvSpPr>
        <p:spPr>
          <a:xfrm>
            <a:off x="2632770" y="4982319"/>
            <a:ext cx="1670745" cy="2500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4"/>
              </a:lnSpc>
              <a:spcBef>
                <a:spcPts val="375"/>
              </a:spcBef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Hosting free</a:t>
            </a:r>
            <a:endParaRPr lang="en-US" sz="788" dirty="0"/>
          </a:p>
          <a:p>
            <a:pPr algn="ctr" indent="0" marL="0">
              <a:lnSpc>
                <a:spcPts val="984"/>
              </a:lnSpc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Cloudflare Pages</a:t>
            </a:r>
            <a:endParaRPr lang="en-US" sz="788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2589" y="4620369"/>
            <a:ext cx="1918395" cy="73580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4646414" y="4744194"/>
            <a:ext cx="1670745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</a:t>
            </a:r>
            <a:endParaRPr lang="en-US" sz="1500" dirty="0"/>
          </a:p>
        </p:txBody>
      </p:sp>
      <p:sp>
        <p:nvSpPr>
          <p:cNvPr id="42" name="Text 29"/>
          <p:cNvSpPr txBox="1"/>
          <p:nvPr/>
        </p:nvSpPr>
        <p:spPr>
          <a:xfrm>
            <a:off x="4646414" y="4982319"/>
            <a:ext cx="1670745" cy="2500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4"/>
              </a:lnSpc>
              <a:spcBef>
                <a:spcPts val="375"/>
              </a:spcBef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PWA works on</a:t>
            </a:r>
            <a:endParaRPr lang="en-US" sz="788" dirty="0"/>
          </a:p>
          <a:p>
            <a:pPr algn="ctr" indent="0" marL="0">
              <a:lnSpc>
                <a:spcPts val="984"/>
              </a:lnSpc>
              <a:buNone/>
            </a:pPr>
            <a:r>
              <a:rPr lang="en-US" sz="788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2G, no install</a:t>
            </a:r>
            <a:endParaRPr lang="en-US" sz="788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1632" y="988665"/>
            <a:ext cx="5065068" cy="2515493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812607" y="1179165"/>
            <a:ext cx="470311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6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- ZERO CONFIG</a:t>
            </a:r>
            <a:endParaRPr lang="en-US" sz="7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607" y="1407765"/>
            <a:ext cx="2303859" cy="707678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6936432" y="1531590"/>
            <a:ext cx="205620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</a:t>
            </a:r>
            <a:endParaRPr lang="en-US" sz="750" dirty="0"/>
          </a:p>
        </p:txBody>
      </p:sp>
      <p:sp>
        <p:nvSpPr>
          <p:cNvPr id="47" name="Text 32"/>
          <p:cNvSpPr txBox="1"/>
          <p:nvPr/>
        </p:nvSpPr>
        <p:spPr>
          <a:xfrm>
            <a:off x="6936432" y="1703040"/>
            <a:ext cx="2056209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Cloudflare Pages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6936432" y="1864965"/>
            <a:ext cx="2056209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0697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Direct Upload</a:t>
            </a:r>
            <a:endParaRPr lang="en-US" sz="825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11717" y="1407765"/>
            <a:ext cx="2304008" cy="707678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9335542" y="1531590"/>
            <a:ext cx="20563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</a:t>
            </a:r>
            <a:endParaRPr lang="en-US" sz="750" dirty="0"/>
          </a:p>
        </p:txBody>
      </p:sp>
      <p:sp>
        <p:nvSpPr>
          <p:cNvPr id="51" name="Text 35"/>
          <p:cNvSpPr txBox="1"/>
          <p:nvPr/>
        </p:nvSpPr>
        <p:spPr>
          <a:xfrm>
            <a:off x="9335542" y="1703040"/>
            <a:ext cx="205635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Drag index.html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9335542" y="1864965"/>
            <a:ext cx="2056358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0697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Drop to dashboard</a:t>
            </a:r>
            <a:endParaRPr lang="en-US" sz="825" dirty="0"/>
          </a:p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2607" y="2210693"/>
            <a:ext cx="2303859" cy="70767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6936432" y="2334518"/>
            <a:ext cx="205620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750" dirty="0"/>
          </a:p>
        </p:txBody>
      </p:sp>
      <p:sp>
        <p:nvSpPr>
          <p:cNvPr id="55" name="Text 38"/>
          <p:cNvSpPr txBox="1"/>
          <p:nvPr/>
        </p:nvSpPr>
        <p:spPr>
          <a:xfrm>
            <a:off x="6936432" y="2505968"/>
            <a:ext cx="2056209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Empty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6936432" y="2667893"/>
            <a:ext cx="2056209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0697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command needed</a:t>
            </a:r>
            <a:endParaRPr lang="en-US" sz="825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1717" y="2210693"/>
            <a:ext cx="2304008" cy="707678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9335542" y="2334518"/>
            <a:ext cx="20563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750" dirty="0"/>
          </a:p>
        </p:txBody>
      </p:sp>
      <p:sp>
        <p:nvSpPr>
          <p:cNvPr id="59" name="Text 41"/>
          <p:cNvSpPr txBox="1"/>
          <p:nvPr/>
        </p:nvSpPr>
        <p:spPr>
          <a:xfrm>
            <a:off x="9335542" y="2505968"/>
            <a:ext cx="205635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Dot .</a:t>
            </a:r>
            <a:endParaRPr lang="en-US" sz="900" dirty="0"/>
          </a:p>
        </p:txBody>
      </p:sp>
      <p:sp>
        <p:nvSpPr>
          <p:cNvPr id="60" name="Text 42"/>
          <p:cNvSpPr txBox="1"/>
          <p:nvPr/>
        </p:nvSpPr>
        <p:spPr>
          <a:xfrm>
            <a:off x="9335542" y="2667893"/>
            <a:ext cx="2056358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0697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Root directory</a:t>
            </a:r>
            <a:endParaRPr lang="en-US" sz="825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2607" y="3051721"/>
            <a:ext cx="1107430" cy="271463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6917382" y="3108871"/>
            <a:ext cx="89788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PWA offline ready</a:t>
            </a:r>
            <a:endParaRPr lang="en-US" sz="825" dirty="0"/>
          </a:p>
        </p:txBody>
      </p:sp>
      <p:pic>
        <p:nvPicPr>
          <p:cNvPr id="6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96237" y="3051721"/>
            <a:ext cx="843409" cy="271463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8101013" y="3108871"/>
            <a:ext cx="633859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Works on 2G</a:t>
            </a:r>
            <a:endParaRPr lang="en-US" sz="825" dirty="0"/>
          </a:p>
        </p:txBody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15846" y="3051721"/>
            <a:ext cx="998041" cy="271463"/>
          </a:xfrm>
          <a:prstGeom prst="rect">
            <a:avLst/>
          </a:prstGeom>
        </p:spPr>
      </p:pic>
      <p:sp>
        <p:nvSpPr>
          <p:cNvPr id="66" name="Text 45"/>
          <p:cNvSpPr txBox="1"/>
          <p:nvPr/>
        </p:nvSpPr>
        <p:spPr>
          <a:xfrm>
            <a:off x="9020621" y="3108871"/>
            <a:ext cx="788491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Printable Cards</a:t>
            </a:r>
            <a:endParaRPr lang="en-US" sz="825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90088" y="3051721"/>
            <a:ext cx="859334" cy="271463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10094863" y="3108871"/>
            <a:ext cx="649784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hardware</a:t>
            </a:r>
            <a:endParaRPr lang="en-US" sz="825" dirty="0"/>
          </a:p>
        </p:txBody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31632" y="3656558"/>
            <a:ext cx="5065068" cy="2820442"/>
          </a:xfrm>
          <a:prstGeom prst="rect">
            <a:avLst/>
          </a:prstGeom>
        </p:spPr>
      </p:pic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12607" y="3818483"/>
            <a:ext cx="368052" cy="495300"/>
          </a:xfrm>
          <a:prstGeom prst="rect">
            <a:avLst/>
          </a:prstGeom>
        </p:spPr>
      </p:pic>
      <p:sp>
        <p:nvSpPr>
          <p:cNvPr id="71" name="Text 47"/>
          <p:cNvSpPr txBox="1"/>
          <p:nvPr/>
        </p:nvSpPr>
        <p:spPr>
          <a:xfrm>
            <a:off x="6933605" y="3928021"/>
            <a:ext cx="247055" cy="3857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</a:t>
            </a:r>
            <a:endParaRPr lang="en-US" sz="1650" dirty="0"/>
          </a:p>
        </p:txBody>
      </p:sp>
      <p:sp>
        <p:nvSpPr>
          <p:cNvPr id="72" name="Text 48"/>
          <p:cNvSpPr txBox="1"/>
          <p:nvPr/>
        </p:nvSpPr>
        <p:spPr>
          <a:xfrm>
            <a:off x="7314009" y="3822353"/>
            <a:ext cx="4201716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cost scale</a:t>
            </a:r>
            <a:endParaRPr lang="en-US" sz="1050" dirty="0"/>
          </a:p>
        </p:txBody>
      </p:sp>
      <p:sp>
        <p:nvSpPr>
          <p:cNvPr id="73" name="Text 49"/>
          <p:cNvSpPr txBox="1"/>
          <p:nvPr/>
        </p:nvSpPr>
        <p:spPr>
          <a:xfrm>
            <a:off x="7314009" y="4001393"/>
            <a:ext cx="4201716" cy="3083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5A72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server, no DB, no API keys. One file serves all 144 weeks. Cache first, works in low bandwidth schools.</a:t>
            </a:r>
            <a:endParaRPr lang="en-US" sz="90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12607" y="6057900"/>
            <a:ext cx="1358801" cy="257175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6898332" y="6115050"/>
            <a:ext cx="1187351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AC8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ai-academy.pages.dev live</a:t>
            </a:r>
            <a:endParaRPr lang="en-US" sz="750" dirty="0"/>
          </a:p>
        </p:txBody>
      </p:sp>
      <p:pic>
        <p:nvPicPr>
          <p:cNvPr id="7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47608" y="6057900"/>
            <a:ext cx="1181695" cy="257175"/>
          </a:xfrm>
          <a:prstGeom prst="rect">
            <a:avLst/>
          </a:prstGeom>
        </p:spPr>
      </p:pic>
      <p:sp>
        <p:nvSpPr>
          <p:cNvPr id="77" name="Text 51"/>
          <p:cNvSpPr txBox="1"/>
          <p:nvPr/>
        </p:nvSpPr>
        <p:spPr>
          <a:xfrm>
            <a:off x="8342858" y="6124575"/>
            <a:ext cx="99119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A6F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QR placeholder ready</a:t>
            </a:r>
            <a:endParaRPr lang="en-US" sz="750" dirty="0"/>
          </a:p>
        </p:txBody>
      </p:sp>
      <p:pic>
        <p:nvPicPr>
          <p:cNvPr id="7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05504" y="6057900"/>
            <a:ext cx="1302693" cy="257175"/>
          </a:xfrm>
          <a:prstGeom prst="rect">
            <a:avLst/>
          </a:prstGeom>
        </p:spPr>
      </p:pic>
      <p:sp>
        <p:nvSpPr>
          <p:cNvPr id="79" name="Text 52"/>
          <p:cNvSpPr txBox="1"/>
          <p:nvPr/>
        </p:nvSpPr>
        <p:spPr>
          <a:xfrm>
            <a:off x="9591229" y="6115050"/>
            <a:ext cx="1131243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AC8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Printable cards included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47675"/>
            <a:ext cx="1104900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050"/>
              </a:spcAft>
              <a:buNone/>
            </a:pPr>
            <a:r>
              <a:rPr lang="en-US" sz="900" b="1" spc="108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Traction — Built • Verified • Deployable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742950"/>
            <a:ext cx="11049000" cy="923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b="1" spc="-75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fully. </a:t>
            </a:r>
            <a:pPr indent="0" marL="0">
              <a:buNone/>
            </a:pPr>
            <a:r>
              <a:rPr lang="en-US" sz="3750" b="1" spc="-75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automatically.</a:t>
            </a:r>
            <a:pPr indent="0" marL="0">
              <a:buNone/>
            </a:pPr>
            <a:r>
              <a:rPr lang="en-US" sz="3750" b="1" spc="-75" kern="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Ready to deploy $0.</a:t>
            </a:r>
            <a:endParaRPr lang="en-US" sz="3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4476750" cy="45434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1525" y="2076450"/>
            <a:ext cx="4076700" cy="733425"/>
          </a:xfrm>
          <a:prstGeom prst="roundRect">
            <a:avLst>
              <a:gd name="adj" fmla="val 18182"/>
            </a:avLst>
          </a:prstGeom>
          <a:solidFill>
            <a:srgbClr val="0E3A2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2270671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11138" y="2308771"/>
            <a:ext cx="236637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42E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62075" y="2409825"/>
            <a:ext cx="1710779" cy="2836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144/144 VERIFIED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1296 sections &gt;200 chars</a:t>
            </a:r>
            <a:endParaRPr lang="en-US" sz="15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gaps — red if fail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1525" y="2969716"/>
            <a:ext cx="40767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</a:t>
            </a:r>
            <a:endParaRPr lang="en-US" sz="825" dirty="0"/>
          </a:p>
        </p:txBody>
      </p:sp>
      <p:sp>
        <p:nvSpPr>
          <p:cNvPr id="10" name="Text 6"/>
          <p:cNvSpPr txBox="1"/>
          <p:nvPr/>
        </p:nvSpPr>
        <p:spPr>
          <a:xfrm>
            <a:off x="771525" y="3212604"/>
            <a:ext cx="4076700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144 weeks are real content, not titles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71525" y="3485852"/>
            <a:ext cx="4076700" cy="5272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41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L3 U1 W2 Neural Skill was empty — now full with all 10 improvements. Each week includes hero SVG, wiring diagram, flowchart, confusion matrix, bar 60%→88%.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771525" y="4124325"/>
            <a:ext cx="1990725" cy="742950"/>
          </a:xfrm>
          <a:prstGeom prst="roundRect">
            <a:avLst>
              <a:gd name="adj" fmla="val 15385"/>
            </a:avLst>
          </a:prstGeom>
          <a:solidFill>
            <a:srgbClr val="F2F7F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85825" y="4232225"/>
            <a:ext cx="1762125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268+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85825" y="4527500"/>
            <a:ext cx="1762125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5A72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SVGs inline — thumbnail, hero, wiring, charts</a:t>
            </a:r>
            <a:endParaRPr lang="en-US" sz="788" dirty="0"/>
          </a:p>
        </p:txBody>
      </p:sp>
      <p:sp>
        <p:nvSpPr>
          <p:cNvPr id="15" name="Shape 11"/>
          <p:cNvSpPr/>
          <p:nvPr/>
        </p:nvSpPr>
        <p:spPr>
          <a:xfrm>
            <a:off x="2857500" y="4124325"/>
            <a:ext cx="1990725" cy="742950"/>
          </a:xfrm>
          <a:prstGeom prst="roundRect">
            <a:avLst>
              <a:gd name="adj" fmla="val 15385"/>
            </a:avLst>
          </a:prstGeom>
          <a:solidFill>
            <a:srgbClr val="F2F7F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971800" y="4232225"/>
            <a:ext cx="1762125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971800" y="4527500"/>
            <a:ext cx="1762125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5A72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&lt;input range&gt; — weights, distance 0-400cm, servo 0-180°</a:t>
            </a:r>
            <a:endParaRPr lang="en-US" sz="788" dirty="0"/>
          </a:p>
        </p:txBody>
      </p:sp>
      <p:sp>
        <p:nvSpPr>
          <p:cNvPr id="18" name="Shape 14"/>
          <p:cNvSpPr/>
          <p:nvPr/>
        </p:nvSpPr>
        <p:spPr>
          <a:xfrm>
            <a:off x="771525" y="4972050"/>
            <a:ext cx="1990725" cy="742950"/>
          </a:xfrm>
          <a:prstGeom prst="roundRect">
            <a:avLst>
              <a:gd name="adj" fmla="val 15385"/>
            </a:avLst>
          </a:prstGeom>
          <a:solidFill>
            <a:srgbClr val="F2F7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85825" y="5072807"/>
            <a:ext cx="1762125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144×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85825" y="5368082"/>
            <a:ext cx="1762125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5A72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Choice Board, Failure Museum, Where breaks</a:t>
            </a:r>
            <a:endParaRPr lang="en-US" sz="788" dirty="0"/>
          </a:p>
        </p:txBody>
      </p:sp>
      <p:sp>
        <p:nvSpPr>
          <p:cNvPr id="21" name="Shape 17"/>
          <p:cNvSpPr/>
          <p:nvPr/>
        </p:nvSpPr>
        <p:spPr>
          <a:xfrm>
            <a:off x="2857500" y="4972050"/>
            <a:ext cx="1990725" cy="742950"/>
          </a:xfrm>
          <a:prstGeom prst="roundRect">
            <a:avLst>
              <a:gd name="adj" fmla="val 15385"/>
            </a:avLst>
          </a:prstGeom>
          <a:solidFill>
            <a:srgbClr val="F2F7F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971800" y="5072807"/>
            <a:ext cx="1762125" cy="276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212KB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2971800" y="5368082"/>
            <a:ext cx="1762125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dirty="0">
                <a:solidFill>
                  <a:srgbClr val="5A72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HTML — under 25MB Cloudflare limit</a:t>
            </a:r>
            <a:endParaRPr lang="en-US" sz="788" dirty="0"/>
          </a:p>
        </p:txBody>
      </p:sp>
      <p:sp>
        <p:nvSpPr>
          <p:cNvPr id="24" name="Shape 20"/>
          <p:cNvSpPr/>
          <p:nvPr/>
        </p:nvSpPr>
        <p:spPr>
          <a:xfrm>
            <a:off x="5200650" y="1876425"/>
            <a:ext cx="3219450" cy="4543425"/>
          </a:xfrm>
          <a:prstGeom prst="roundRect">
            <a:avLst>
              <a:gd name="adj" fmla="val 5917"/>
            </a:avLst>
          </a:prstGeom>
          <a:solidFill>
            <a:srgbClr val="15202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391150" y="2076450"/>
            <a:ext cx="284217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</a:t>
            </a:r>
            <a:endParaRPr lang="en-US" sz="825" dirty="0"/>
          </a:p>
        </p:txBody>
      </p:sp>
      <p:sp>
        <p:nvSpPr>
          <p:cNvPr id="26" name="Text 22"/>
          <p:cNvSpPr txBox="1"/>
          <p:nvPr/>
        </p:nvSpPr>
        <p:spPr>
          <a:xfrm>
            <a:off x="5391150" y="2319338"/>
            <a:ext cx="2842171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checks on load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5391150" y="2592586"/>
            <a:ext cx="2842171" cy="70306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B9C8D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Function checks length + SVG + Where breaks + Common Wrong + What If + Choice Board + Failure Museum + Simulator. Console log + badge turns red if fail.</a:t>
            </a:r>
            <a:endParaRPr lang="en-US" sz="975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0" y="3429000"/>
            <a:ext cx="2842171" cy="134302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514975" y="3562350"/>
            <a:ext cx="2594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5A72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WEEKS BUILT 0 → 144</a:t>
            </a:r>
            <a:endParaRPr lang="en-US" sz="7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594521" cy="66675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514975" y="4552950"/>
            <a:ext cx="36671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7A8DA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V1 titles</a:t>
            </a:r>
            <a:endParaRPr lang="en-US" sz="750" dirty="0"/>
          </a:p>
        </p:txBody>
      </p:sp>
      <p:sp>
        <p:nvSpPr>
          <p:cNvPr id="32" name="Text 26"/>
          <p:cNvSpPr txBox="1"/>
          <p:nvPr/>
        </p:nvSpPr>
        <p:spPr>
          <a:xfrm>
            <a:off x="6346924" y="4552950"/>
            <a:ext cx="62448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7A8DA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V4 world-best</a:t>
            </a:r>
            <a:endParaRPr lang="en-US" sz="750" dirty="0"/>
          </a:p>
        </p:txBody>
      </p:sp>
      <p:sp>
        <p:nvSpPr>
          <p:cNvPr id="33" name="Text 27"/>
          <p:cNvSpPr txBox="1"/>
          <p:nvPr/>
        </p:nvSpPr>
        <p:spPr>
          <a:xfrm>
            <a:off x="7436644" y="4552950"/>
            <a:ext cx="67285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7A8DA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now</a:t>
            </a:r>
            <a:endParaRPr lang="en-US" sz="750" dirty="0"/>
          </a:p>
        </p:txBody>
      </p:sp>
      <p:sp>
        <p:nvSpPr>
          <p:cNvPr id="34" name="Text 28"/>
          <p:cNvSpPr txBox="1"/>
          <p:nvPr/>
        </p:nvSpPr>
        <p:spPr>
          <a:xfrm>
            <a:off x="5391150" y="4905375"/>
            <a:ext cx="2842171" cy="3065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1050"/>
              </a:spcBef>
              <a:buNone/>
            </a:pPr>
            <a:r>
              <a:rPr lang="en-US" sz="863" dirty="0">
                <a:solidFill>
                  <a:srgbClr val="FFFFFF">
                    <a:alpha val="8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Passwords SHA-256 hashed — student1234 / teacher1234 — no hint in UI, no HTML comment leak.</a:t>
            </a:r>
            <a:endParaRPr lang="en-US" sz="863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221" y="1876425"/>
            <a:ext cx="3044279" cy="454342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776246" y="2085975"/>
            <a:ext cx="264422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Deployable &amp; pilot-ready</a:t>
            </a:r>
            <a:endParaRPr lang="en-US" sz="825" dirty="0"/>
          </a:p>
        </p:txBody>
      </p:sp>
      <p:sp>
        <p:nvSpPr>
          <p:cNvPr id="37" name="Text 30"/>
          <p:cNvSpPr txBox="1"/>
          <p:nvPr/>
        </p:nvSpPr>
        <p:spPr>
          <a:xfrm>
            <a:off x="8776246" y="2328863"/>
            <a:ext cx="2644229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backend, zero trademark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8776246" y="2602111"/>
            <a:ext cx="2644229" cy="5272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41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$0 hosting on Cloudflare Pages Direct Upload + GitHub Pages. PWA offline service worker, works on 2G, printable cards.</a:t>
            </a:r>
            <a:endParaRPr lang="en-US" sz="975" dirty="0"/>
          </a:p>
        </p:txBody>
      </p:sp>
      <p:sp>
        <p:nvSpPr>
          <p:cNvPr id="39" name="Shape 32"/>
          <p:cNvSpPr/>
          <p:nvPr/>
        </p:nvSpPr>
        <p:spPr>
          <a:xfrm>
            <a:off x="8772525" y="3286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8909596" y="3224659"/>
            <a:ext cx="2510879" cy="3309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Cloudflare Build: empty </a:t>
            </a:r>
            <a:pPr indent="0" marL="0">
              <a:buNone/>
            </a:pPr>
            <a:r>
              <a:rPr lang="en-US" sz="938" dirty="0">
                <a:solidFill>
                  <a:srgbClr val="15202B"/>
                </a:solidFill>
                <a:highlight>
                  <a:srgbClr val="EEF3F8"/>
                </a:highlight>
                <a:latin typeface="monospace" pitchFamily="34" charset="0"/>
                <a:ea typeface="monospace" pitchFamily="34" charset="-122"/>
                <a:cs typeface="monospace" pitchFamily="34" charset="-120"/>
              </a:rPr>
              <a:t>echo no build</a:t>
            </a:r>
            <a:pPr indent="0" marL="0"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Output: </a:t>
            </a:r>
            <a:pPr indent="0" marL="0">
              <a:buNone/>
            </a:pPr>
            <a:r>
              <a:rPr lang="en-US" sz="938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pPr indent="0" marL="0"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Root: </a:t>
            </a:r>
            <a:pPr indent="0" marL="0">
              <a:buNone/>
            </a:pPr>
            <a:r>
              <a:rPr lang="en-US" sz="938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</a:t>
            </a:r>
            <a:endParaRPr lang="en-US" sz="938" dirty="0"/>
          </a:p>
        </p:txBody>
      </p:sp>
      <p:sp>
        <p:nvSpPr>
          <p:cNvPr id="41" name="Shape 34"/>
          <p:cNvSpPr/>
          <p:nvPr/>
        </p:nvSpPr>
        <p:spPr>
          <a:xfrm>
            <a:off x="8772525" y="3695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8909596" y="3641378"/>
            <a:ext cx="2510879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Generic terms only — no AOPS/IXL marks, no external CDN risk</a:t>
            </a:r>
            <a:endParaRPr lang="en-US" sz="938" dirty="0"/>
          </a:p>
        </p:txBody>
      </p:sp>
      <p:sp>
        <p:nvSpPr>
          <p:cNvPr id="43" name="Shape 36"/>
          <p:cNvSpPr/>
          <p:nvPr/>
        </p:nvSpPr>
        <p:spPr>
          <a:xfrm>
            <a:off x="8772525" y="4105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8909596" y="4048571"/>
            <a:ext cx="2510879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schools interested + 1 after-school pilot + parent deck ready</a:t>
            </a:r>
            <a:endParaRPr lang="en-US" sz="938" dirty="0"/>
          </a:p>
        </p:txBody>
      </p:sp>
      <p:sp>
        <p:nvSpPr>
          <p:cNvPr id="45" name="Shape 38"/>
          <p:cNvSpPr/>
          <p:nvPr/>
        </p:nvSpPr>
        <p:spPr>
          <a:xfrm>
            <a:off x="8772525" y="4514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2CABF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8909596" y="4455765"/>
            <a:ext cx="2510879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Teacher Zero-to-Hero 15-min exact scripts — cards pre-cut, timer visible</a:t>
            </a:r>
            <a:endParaRPr lang="en-US" sz="938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6246" y="4929634"/>
            <a:ext cx="773906" cy="25717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71496" y="4996309"/>
            <a:ext cx="58340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A5E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hardware</a:t>
            </a:r>
            <a:endParaRPr lang="en-US" sz="75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7302" y="4929634"/>
            <a:ext cx="731937" cy="25717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9702552" y="4996309"/>
            <a:ext cx="54143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A5E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Offline PWA</a:t>
            </a:r>
            <a:endParaRPr lang="en-US" sz="7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6389" y="4929634"/>
            <a:ext cx="697706" cy="257175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0491639" y="4996309"/>
            <a:ext cx="50720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A5E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Print ready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57200"/>
            <a:ext cx="10972800" cy="420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450" b="1" spc="-69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model — </a:t>
            </a:r>
            <a:pPr indent="0" marL="0">
              <a:buNone/>
            </a:pPr>
            <a:r>
              <a:rPr lang="en-US" sz="3450" b="1" spc="-69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freemium + B2B licensing</a:t>
            </a:r>
            <a:pPr indent="0" marL="0">
              <a:buNone/>
            </a:pPr>
            <a:r>
              <a:rPr lang="en-US" sz="3450" b="1" spc="-69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34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973038"/>
            <a:ext cx="7239000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750"/>
              </a:spcBef>
              <a:buNone/>
            </a:pPr>
            <a:r>
              <a:rPr lang="en-US" sz="1125" dirty="0">
                <a:solidFill>
                  <a:srgbClr val="3A516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 CAC, $0 hosting, offline-first. Four revenue paths built on same 212KB verified curriculum.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609600" y="1390650"/>
            <a:ext cx="4038600" cy="5010150"/>
          </a:xfrm>
          <a:prstGeom prst="roundRect">
            <a:avLst>
              <a:gd name="adj" fmla="val 4717"/>
            </a:avLst>
          </a:prstGeom>
          <a:solidFill>
            <a:srgbClr val="152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9150" y="1589782"/>
            <a:ext cx="361756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90" kern="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• FREEMIUM B2C — BASE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819150" y="1818382"/>
            <a:ext cx="3617565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EEF5F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Free student, paid Teacher Pro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19150" y="2091630"/>
            <a:ext cx="3617565" cy="5179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spcBef>
                <a:spcPts val="600"/>
              </a:spcBef>
              <a:buNone/>
            </a:pPr>
            <a:r>
              <a:rPr lang="en-US" sz="938" dirty="0">
                <a:solidFill>
                  <a:srgbClr val="C3D2E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student gets full learning + portfolio auto-build. Teacher unlocks training 15-min scripts, analytics, parent dashboard, micro-credential.</a:t>
            </a:r>
            <a:endParaRPr lang="en-US" sz="938" dirty="0"/>
          </a:p>
        </p:txBody>
      </p:sp>
      <p:sp>
        <p:nvSpPr>
          <p:cNvPr id="8" name="Text 6"/>
          <p:cNvSpPr txBox="1"/>
          <p:nvPr/>
        </p:nvSpPr>
        <p:spPr>
          <a:xfrm>
            <a:off x="930473" y="2704802"/>
            <a:ext cx="3506242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EEF5F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 access student1234 — free forever</a:t>
            </a:r>
            <a:endParaRPr lang="en-US" sz="863" dirty="0"/>
          </a:p>
        </p:txBody>
      </p:sp>
      <p:sp>
        <p:nvSpPr>
          <p:cNvPr id="9" name="Text 7"/>
          <p:cNvSpPr txBox="1"/>
          <p:nvPr/>
        </p:nvSpPr>
        <p:spPr>
          <a:xfrm>
            <a:off x="930473" y="2900214"/>
            <a:ext cx="3506242" cy="2955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EEF5F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Teacher Pro teacher1234 — badges Explorer / Builder / Creator / Innovator</a:t>
            </a:r>
            <a:endParaRPr lang="en-US" sz="863" dirty="0"/>
          </a:p>
        </p:txBody>
      </p:sp>
      <p:sp>
        <p:nvSpPr>
          <p:cNvPr id="10" name="Text 8"/>
          <p:cNvSpPr txBox="1"/>
          <p:nvPr/>
        </p:nvSpPr>
        <p:spPr>
          <a:xfrm>
            <a:off x="930473" y="3243411"/>
            <a:ext cx="3506242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EEF5F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Portfolio → Demo Day site for high school admission</a:t>
            </a:r>
            <a:endParaRPr lang="en-US" sz="863" dirty="0"/>
          </a:p>
        </p:txBody>
      </p:sp>
      <p:sp>
        <p:nvSpPr>
          <p:cNvPr id="11" name="Text 9"/>
          <p:cNvSpPr txBox="1"/>
          <p:nvPr/>
        </p:nvSpPr>
        <p:spPr>
          <a:xfrm>
            <a:off x="819150" y="5724525"/>
            <a:ext cx="480417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$20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356717" y="5895975"/>
            <a:ext cx="763339" cy="3143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BB4C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 student / year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BB4C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 $200 / school</a:t>
            </a:r>
            <a:endParaRPr lang="en-US" sz="82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9615" y="1389757"/>
            <a:ext cx="3334643" cy="243884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998690" y="1599307"/>
            <a:ext cx="289649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9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 • B2B SCHOOLS — CORE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998690" y="1827907"/>
            <a:ext cx="2896493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$500–$2k / school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998690" y="2101155"/>
            <a:ext cx="2896493" cy="3452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spcBef>
                <a:spcPts val="600"/>
              </a:spcBef>
              <a:buNone/>
            </a:pPr>
            <a:r>
              <a:rPr lang="en-US" sz="938" dirty="0">
                <a:solidFill>
                  <a:srgbClr val="4B62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License 144w + Zero-to-Hero training + printable cards + PWA offline + support.</a:t>
            </a:r>
            <a:endParaRPr lang="en-US" sz="938" dirty="0"/>
          </a:p>
        </p:txBody>
      </p:sp>
      <p:sp>
        <p:nvSpPr>
          <p:cNvPr id="17" name="Text 14"/>
          <p:cNvSpPr txBox="1"/>
          <p:nvPr/>
        </p:nvSpPr>
        <p:spPr>
          <a:xfrm>
            <a:off x="4998690" y="3247579"/>
            <a:ext cx="1490365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schools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546205" y="3419029"/>
            <a:ext cx="941189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819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= $100k–$200k ARR</a:t>
            </a:r>
            <a:endParaRPr lang="en-US" sz="825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608" y="1389757"/>
            <a:ext cx="3334792" cy="243884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466683" y="1599307"/>
            <a:ext cx="289664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9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• B2G GOVERNMENT</a:t>
            </a:r>
            <a:endParaRPr lang="en-US" sz="750" dirty="0"/>
          </a:p>
        </p:txBody>
      </p:sp>
      <p:sp>
        <p:nvSpPr>
          <p:cNvPr id="21" name="Text 17"/>
          <p:cNvSpPr txBox="1"/>
          <p:nvPr/>
        </p:nvSpPr>
        <p:spPr>
          <a:xfrm>
            <a:off x="8466683" y="1827907"/>
            <a:ext cx="2896642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 pilot scale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8466683" y="2101155"/>
            <a:ext cx="2896642" cy="34528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spcBef>
                <a:spcPts val="600"/>
              </a:spcBef>
              <a:buNone/>
            </a:pPr>
            <a:r>
              <a:rPr lang="en-US" sz="938" dirty="0">
                <a:solidFill>
                  <a:srgbClr val="4B62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Aligns with NEP 2020 AI in curriculum. No hardware dependency = approvable.</a:t>
            </a:r>
            <a:endParaRPr lang="en-US" sz="938" dirty="0"/>
          </a:p>
        </p:txBody>
      </p:sp>
      <p:sp>
        <p:nvSpPr>
          <p:cNvPr id="23" name="Text 19"/>
          <p:cNvSpPr txBox="1"/>
          <p:nvPr/>
        </p:nvSpPr>
        <p:spPr>
          <a:xfrm>
            <a:off x="8466683" y="3247579"/>
            <a:ext cx="722858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</a:t>
            </a:r>
            <a:endParaRPr lang="en-US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9246691" y="3419029"/>
            <a:ext cx="929134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819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schools = $1M ARR</a:t>
            </a:r>
            <a:endParaRPr lang="en-US" sz="825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615" y="3961954"/>
            <a:ext cx="6802785" cy="243884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998690" y="4171504"/>
            <a:ext cx="309651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b="1" spc="9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• EDTECH LICENSING</a:t>
            </a:r>
            <a:endParaRPr lang="en-US" sz="750" dirty="0"/>
          </a:p>
        </p:txBody>
      </p:sp>
      <p:sp>
        <p:nvSpPr>
          <p:cNvPr id="27" name="Text 22"/>
          <p:cNvSpPr txBox="1"/>
          <p:nvPr/>
        </p:nvSpPr>
        <p:spPr>
          <a:xfrm>
            <a:off x="4998690" y="4400104"/>
            <a:ext cx="3096518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Revenue share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4998690" y="4673352"/>
            <a:ext cx="3096518" cy="5179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spcBef>
                <a:spcPts val="600"/>
              </a:spcBef>
              <a:buNone/>
            </a:pPr>
            <a:r>
              <a:rPr lang="en-US" sz="938" dirty="0">
                <a:solidFill>
                  <a:srgbClr val="4B627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License curriculum to existing edtechs. They get verified middle-school AI track, we get distribution without sales force.</a:t>
            </a:r>
            <a:endParaRPr lang="en-US" sz="938" dirty="0"/>
          </a:p>
        </p:txBody>
      </p:sp>
      <p:sp>
        <p:nvSpPr>
          <p:cNvPr id="29" name="Shape 24"/>
          <p:cNvSpPr/>
          <p:nvPr/>
        </p:nvSpPr>
        <p:spPr>
          <a:xfrm>
            <a:off x="8258175" y="4152900"/>
            <a:ext cx="3095625" cy="2038350"/>
          </a:xfrm>
          <a:prstGeom prst="roundRect">
            <a:avLst>
              <a:gd name="adj" fmla="val 5607"/>
            </a:avLst>
          </a:prstGeom>
          <a:solidFill>
            <a:srgbClr val="F3F8FD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400008" y="4285804"/>
            <a:ext cx="282996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CAC ENGINE</a:t>
            </a:r>
            <a:endParaRPr 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8400008" y="4476304"/>
            <a:ext cx="2829967" cy="439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Teacher community → Demo Day word-of-mouth → GitHub open stars → Cloudflare $0 hosting → parent demand.</a:t>
            </a:r>
            <a:endParaRPr lang="en-US" sz="825" dirty="0"/>
          </a:p>
        </p:txBody>
      </p:sp>
      <p:sp>
        <p:nvSpPr>
          <p:cNvPr id="32" name="Text 27"/>
          <p:cNvSpPr txBox="1"/>
          <p:nvPr/>
        </p:nvSpPr>
        <p:spPr>
          <a:xfrm>
            <a:off x="8400008" y="5001816"/>
            <a:ext cx="282996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B81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$0 infra • 212KB • works on 2G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34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Defensibility — </a:t>
            </a:r>
            <a:pPr indent="0" marL="0">
              <a:buNone/>
            </a:pPr>
            <a:r>
              <a:rPr lang="en-US" sz="3600" b="1" spc="-72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 this wins</a:t>
            </a:r>
            <a:pPr indent="0" marL="0"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compounds.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86730"/>
            <a:ext cx="838200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750"/>
              </a:spcBef>
              <a:buNone/>
            </a:pPr>
            <a:r>
              <a:rPr lang="en-US" sz="1125" dirty="0">
                <a:solidFill>
                  <a:srgbClr val="41586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a content pack. A verified system that is hard to copy, easy to run, and gets stronger with every school.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15355"/>
            <a:ext cx="4560540" cy="498544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424880"/>
            <a:ext cx="19050" cy="496639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024360"/>
            <a:ext cx="4122390" cy="91573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67235"/>
            <a:ext cx="266700" cy="2667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013371" y="2224385"/>
            <a:ext cx="16772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3"/>
          <p:cNvSpPr txBox="1"/>
          <p:nvPr/>
        </p:nvSpPr>
        <p:spPr>
          <a:xfrm>
            <a:off x="1295400" y="2167235"/>
            <a:ext cx="341754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E6FF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Moat — 2 years to replicate</a:t>
            </a:r>
            <a:endParaRPr lang="en-US" sz="975" dirty="0"/>
          </a:p>
        </p:txBody>
      </p:sp>
      <p:sp>
        <p:nvSpPr>
          <p:cNvPr id="10" name="Text 4"/>
          <p:cNvSpPr txBox="1"/>
          <p:nvPr/>
        </p:nvSpPr>
        <p:spPr>
          <a:xfrm>
            <a:off x="1295400" y="2353866"/>
            <a:ext cx="3417540" cy="4433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E6FF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 weeks × 9 sections = 1296 sections &gt;200 chars + 268 SVGs + 30 live simulators. Verified 144/144. L3 U1 W2 Neural Skill was empty — now full with 10 improvements.</a:t>
            </a:r>
            <a:endParaRPr lang="en-US" sz="863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073450"/>
            <a:ext cx="4122390" cy="915739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16325"/>
            <a:ext cx="266700" cy="2667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013371" y="3273475"/>
            <a:ext cx="16772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6"/>
          <p:cNvSpPr txBox="1"/>
          <p:nvPr/>
        </p:nvSpPr>
        <p:spPr>
          <a:xfrm>
            <a:off x="1295400" y="3216325"/>
            <a:ext cx="341754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Pedagogy Moat — Zero-to-Hero</a:t>
            </a:r>
            <a:endParaRPr lang="en-US" sz="975" dirty="0"/>
          </a:p>
        </p:txBody>
      </p:sp>
      <p:sp>
        <p:nvSpPr>
          <p:cNvPr id="15" name="Text 7"/>
          <p:cNvSpPr txBox="1"/>
          <p:nvPr/>
        </p:nvSpPr>
        <p:spPr>
          <a:xfrm>
            <a:off x="1295400" y="3402955"/>
            <a:ext cx="3417540" cy="4433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No-Tech default + Where Breaks + Common Wrong + What If + Choice Board + Failure Museum + Draw-Along + Portfolio + Privacy + 15-min exact scripts.</a:t>
            </a:r>
            <a:endParaRPr lang="en-US" sz="863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122539"/>
            <a:ext cx="4122390" cy="767953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65414"/>
            <a:ext cx="266700" cy="2667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013371" y="4322564"/>
            <a:ext cx="16772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1295400" y="4265414"/>
            <a:ext cx="341754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 Moat — 212KB, $0 infra</a:t>
            </a:r>
            <a:endParaRPr lang="en-US" sz="975" dirty="0"/>
          </a:p>
        </p:txBody>
      </p:sp>
      <p:sp>
        <p:nvSpPr>
          <p:cNvPr id="20" name="Text 10"/>
          <p:cNvSpPr txBox="1"/>
          <p:nvPr/>
        </p:nvSpPr>
        <p:spPr>
          <a:xfrm>
            <a:off x="1295400" y="4452045"/>
            <a:ext cx="3417540" cy="2955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HTML, PWA offline, searchable, printable, dyslexia toggle, no backend, no trademark, works on 2G, &lt;25MB Cloudflare Pages.</a:t>
            </a:r>
            <a:endParaRPr lang="en-US" sz="863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023842"/>
            <a:ext cx="4122390" cy="767953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166717"/>
            <a:ext cx="266700" cy="2667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13371" y="5223867"/>
            <a:ext cx="167729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1295400" y="5166717"/>
            <a:ext cx="341754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 Moat — first mover</a:t>
            </a:r>
            <a:endParaRPr lang="en-US" sz="975" dirty="0"/>
          </a:p>
        </p:txBody>
      </p:sp>
      <p:sp>
        <p:nvSpPr>
          <p:cNvPr id="25" name="Text 13"/>
          <p:cNvSpPr txBox="1"/>
          <p:nvPr/>
        </p:nvSpPr>
        <p:spPr>
          <a:xfrm>
            <a:off x="1295400" y="5353348"/>
            <a:ext cx="3417540" cy="2955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spcBef>
                <a:spcPts val="300"/>
              </a:spcBef>
              <a:buNone/>
            </a:pPr>
            <a:r>
              <a:rPr lang="en-US" sz="863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 open + parent Demo Day + teacher community + 250M India context. Real audience creates network effect.</a:t>
            </a:r>
            <a:endParaRPr lang="en-US" sz="863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0640" y="1415355"/>
            <a:ext cx="3082230" cy="167922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5541615" y="1605855"/>
            <a:ext cx="27202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8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depth</a:t>
            </a:r>
            <a:endParaRPr lang="en-US" sz="750" dirty="0"/>
          </a:p>
        </p:txBody>
      </p:sp>
      <p:sp>
        <p:nvSpPr>
          <p:cNvPr id="28" name="Text 15"/>
          <p:cNvSpPr txBox="1"/>
          <p:nvPr/>
        </p:nvSpPr>
        <p:spPr>
          <a:xfrm>
            <a:off x="5541615" y="1815405"/>
            <a:ext cx="27202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1,296 sections written, not generated titles</a:t>
            </a:r>
            <a:endParaRPr lang="en-US" sz="1050" dirty="0"/>
          </a:p>
        </p:txBody>
      </p:sp>
      <p:sp>
        <p:nvSpPr>
          <p:cNvPr id="29" name="Text 16"/>
          <p:cNvSpPr txBox="1"/>
          <p:nvPr/>
        </p:nvSpPr>
        <p:spPr>
          <a:xfrm>
            <a:off x="5541615" y="2032546"/>
            <a:ext cx="2720280" cy="4799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week has Teacher Training, Mental Model, 6 Examples, Lab, Pooling, Project, Workbook, Eval, 90-min script.</a:t>
            </a:r>
            <a:endParaRPr lang="en-US" sz="9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1615" y="2588716"/>
            <a:ext cx="1396901" cy="223838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5617815" y="2636341"/>
            <a:ext cx="1244501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Was: 2 SVGs → Now: 268+ SVGs</a:t>
            </a:r>
            <a:endParaRPr lang="en-US" sz="675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6221" y="1415355"/>
            <a:ext cx="3082230" cy="1679228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8757196" y="1605855"/>
            <a:ext cx="27202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8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Pedagogy system</a:t>
            </a:r>
            <a:endParaRPr lang="en-US" sz="750" dirty="0"/>
          </a:p>
        </p:txBody>
      </p:sp>
      <p:sp>
        <p:nvSpPr>
          <p:cNvPr id="34" name="Text 19"/>
          <p:cNvSpPr txBox="1"/>
          <p:nvPr/>
        </p:nvSpPr>
        <p:spPr>
          <a:xfrm>
            <a:off x="8757196" y="1815405"/>
            <a:ext cx="27202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improvements in every week</a:t>
            </a:r>
            <a:endParaRPr lang="en-US" sz="1050" dirty="0"/>
          </a:p>
        </p:txBody>
      </p:sp>
      <p:sp>
        <p:nvSpPr>
          <p:cNvPr id="35" name="Text 20"/>
          <p:cNvSpPr txBox="1"/>
          <p:nvPr/>
        </p:nvSpPr>
        <p:spPr>
          <a:xfrm>
            <a:off x="8757196" y="2032546"/>
            <a:ext cx="2720280" cy="4799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Ask, don’t tell. Socratic 342 stems, micro-credential Explorer/Builder/Creator/Innovator, troubleshooting Problem|Cause|Fix.</a:t>
            </a:r>
            <a:endParaRPr lang="en-US" sz="9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7196" y="2588716"/>
            <a:ext cx="1383804" cy="223838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8833396" y="2636341"/>
            <a:ext cx="1231404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Parent-ready • Teacher-proven</a:t>
            </a:r>
            <a:endParaRPr lang="en-US" sz="675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0640" y="3227933"/>
            <a:ext cx="3082230" cy="1679228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5541615" y="3418433"/>
            <a:ext cx="27202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8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 simplicity</a:t>
            </a:r>
            <a:endParaRPr lang="en-US" sz="750" dirty="0"/>
          </a:p>
        </p:txBody>
      </p:sp>
      <p:sp>
        <p:nvSpPr>
          <p:cNvPr id="40" name="Text 23"/>
          <p:cNvSpPr txBox="1"/>
          <p:nvPr/>
        </p:nvSpPr>
        <p:spPr>
          <a:xfrm>
            <a:off x="5541615" y="3627983"/>
            <a:ext cx="27202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file, runs everywhere</a:t>
            </a:r>
            <a:endParaRPr lang="en-US" sz="1050" dirty="0"/>
          </a:p>
        </p:txBody>
      </p:sp>
      <p:sp>
        <p:nvSpPr>
          <p:cNvPr id="41" name="Text 24"/>
          <p:cNvSpPr txBox="1"/>
          <p:nvPr/>
        </p:nvSpPr>
        <p:spPr>
          <a:xfrm>
            <a:off x="5541615" y="3845123"/>
            <a:ext cx="2720280" cy="4799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SHA-256 passwords student1234 teacher1234 no hint, sessionStorage role, fuzzy search, font size, high contrast.</a:t>
            </a:r>
            <a:endParaRPr lang="en-US" sz="9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1615" y="4401294"/>
            <a:ext cx="888504" cy="223838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5617815" y="4448919"/>
            <a:ext cx="736104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212KB • $0 hosting</a:t>
            </a:r>
            <a:endParaRPr lang="en-US" sz="675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76221" y="3227933"/>
            <a:ext cx="3082230" cy="1679228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8757196" y="3418433"/>
            <a:ext cx="272028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8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46" name="Text 27"/>
          <p:cNvSpPr txBox="1"/>
          <p:nvPr/>
        </p:nvSpPr>
        <p:spPr>
          <a:xfrm>
            <a:off x="8757196" y="3627983"/>
            <a:ext cx="272028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Day = word-of-mouth</a:t>
            </a:r>
            <a:endParaRPr lang="en-US" sz="1050" dirty="0"/>
          </a:p>
        </p:txBody>
      </p:sp>
      <p:sp>
        <p:nvSpPr>
          <p:cNvPr id="47" name="Text 28"/>
          <p:cNvSpPr txBox="1"/>
          <p:nvPr/>
        </p:nvSpPr>
        <p:spPr>
          <a:xfrm>
            <a:off x="8757196" y="3845123"/>
            <a:ext cx="2720280" cy="47997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4A62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L4 ends with portfolio website students show high school. Parents see progress, teachers share scripts.</a:t>
            </a:r>
            <a:endParaRPr lang="en-US" sz="90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57196" y="4401294"/>
            <a:ext cx="851446" cy="223838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8833396" y="4448919"/>
            <a:ext cx="699046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0A5C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NEP 2020 aligned</a:t>
            </a:r>
            <a:endParaRPr lang="en-US" sz="675" dirty="0"/>
          </a:p>
        </p:txBody>
      </p:sp>
      <p:sp>
        <p:nvSpPr>
          <p:cNvPr id="50" name="Shape 30"/>
          <p:cNvSpPr/>
          <p:nvPr/>
        </p:nvSpPr>
        <p:spPr>
          <a:xfrm>
            <a:off x="5362575" y="5038725"/>
            <a:ext cx="6296025" cy="1362075"/>
          </a:xfrm>
          <a:prstGeom prst="roundRect">
            <a:avLst>
              <a:gd name="adj" fmla="val 12587"/>
            </a:avLst>
          </a:prstGeom>
          <a:solidFill>
            <a:srgbClr val="15202B"/>
          </a:solidFill>
          <a:ln/>
        </p:spPr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32090" y="5453955"/>
            <a:ext cx="533400" cy="533400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5709791" y="5558730"/>
            <a:ext cx="355699" cy="428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42E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⧉</a:t>
            </a:r>
            <a:endParaRPr lang="en-US" sz="1800" dirty="0"/>
          </a:p>
        </p:txBody>
      </p:sp>
      <p:sp>
        <p:nvSpPr>
          <p:cNvPr id="53" name="Text 32"/>
          <p:cNvSpPr txBox="1"/>
          <p:nvPr/>
        </p:nvSpPr>
        <p:spPr>
          <a:xfrm>
            <a:off x="6236940" y="5272088"/>
            <a:ext cx="52500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8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copy fails</a:t>
            </a:r>
            <a:endParaRPr lang="en-US" sz="750" dirty="0"/>
          </a:p>
        </p:txBody>
      </p:sp>
      <p:sp>
        <p:nvSpPr>
          <p:cNvPr id="54" name="Text 33"/>
          <p:cNvSpPr txBox="1"/>
          <p:nvPr/>
        </p:nvSpPr>
        <p:spPr>
          <a:xfrm>
            <a:off x="6236940" y="5481638"/>
            <a:ext cx="5250061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copy the outline in a day. You can’t copy 144 verified weeks + 10 pedagogy layers + offline PWA + India stories.</a:t>
            </a:r>
            <a:endParaRPr lang="en-US" sz="1050" dirty="0"/>
          </a:p>
        </p:txBody>
      </p:sp>
      <p:sp>
        <p:nvSpPr>
          <p:cNvPr id="55" name="Text 34"/>
          <p:cNvSpPr txBox="1"/>
          <p:nvPr/>
        </p:nvSpPr>
        <p:spPr>
          <a:xfrm>
            <a:off x="6236940" y="5858768"/>
            <a:ext cx="5250061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B8C9D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layer multiplies the other — content × pedagogy × tech that runs in low-resource schools × community that shares.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57200"/>
            <a:ext cx="10972800" cy="4388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 — </a:t>
            </a:r>
            <a:pPr indent="0" marL="0">
              <a:buNone/>
            </a:pPr>
            <a:r>
              <a:rPr lang="en-US" sz="3600" b="1" spc="-72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builder + vision</a:t>
            </a:r>
            <a:pPr indent="0" marL="0">
              <a:buNone/>
            </a:pPr>
            <a:r>
              <a:rPr lang="en-US" sz="3600" b="1" spc="-72" kern="0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991344"/>
            <a:ext cx="7239000" cy="4143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750"/>
              </a:spcBef>
              <a:buNone/>
            </a:pPr>
            <a:r>
              <a:rPr lang="en-US" sz="1125" dirty="0">
                <a:solidFill>
                  <a:srgbClr val="3D56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Focused on one thing: complete 144 weeks verified, no gaps, that a non-CS teacher can run tomorrow in a low-resource school.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34282"/>
            <a:ext cx="5930205" cy="159246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53357"/>
            <a:ext cx="609600" cy="609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2209" y="2010519"/>
            <a:ext cx="436066" cy="4333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RK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1628775" y="1853357"/>
            <a:ext cx="467290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Ramana Rao Kamma — Founder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628775" y="2110532"/>
            <a:ext cx="467290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66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AI Academy • github.com/ramanaraokamma/ai-academy</a:t>
            </a:r>
            <a:endParaRPr lang="en-US" sz="825" dirty="0"/>
          </a:p>
        </p:txBody>
      </p:sp>
      <p:sp>
        <p:nvSpPr>
          <p:cNvPr id="9" name="Text 5"/>
          <p:cNvSpPr txBox="1"/>
          <p:nvPr/>
        </p:nvSpPr>
        <p:spPr>
          <a:xfrm>
            <a:off x="1628775" y="2334369"/>
            <a:ext cx="4672905" cy="3589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3E55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Shipped V4 WORLD-BEST: 144 weeks × 9 sections = 1,296 sections, 268+ SVGs, 30 live simulators, Zero-to-Hero 15-min scripts, India context 2/6 examples.</a:t>
            </a:r>
            <a:endParaRPr lang="en-US" sz="9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750493"/>
            <a:ext cx="1014710" cy="2571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24025" y="2817168"/>
            <a:ext cx="82421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0A5E5A"/>
                </a:solidFill>
                <a:highlight>
                  <a:srgbClr val="E6F6F5"/>
                </a:highlight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144/144 VERIFIED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635" y="2750493"/>
            <a:ext cx="1026170" cy="25717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95885" y="2817168"/>
            <a:ext cx="835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0A5E5A"/>
                </a:solidFill>
                <a:highlight>
                  <a:srgbClr val="E6F6F5"/>
                </a:highlight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212KB • $0 hosting</a:t>
            </a:r>
            <a:endParaRPr lang="en-US" sz="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955" y="2750493"/>
            <a:ext cx="1117402" cy="25717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879205" y="2817168"/>
            <a:ext cx="9269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b="1" dirty="0">
                <a:solidFill>
                  <a:srgbClr val="0A5E5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HW • PWA offline</a:t>
            </a:r>
            <a:endParaRPr lang="en-US" sz="750" dirty="0"/>
          </a:p>
        </p:txBody>
      </p:sp>
      <p:sp>
        <p:nvSpPr>
          <p:cNvPr id="16" name="Shape 9"/>
          <p:cNvSpPr/>
          <p:nvPr/>
        </p:nvSpPr>
        <p:spPr>
          <a:xfrm>
            <a:off x="609600" y="3381375"/>
            <a:ext cx="5934075" cy="1809750"/>
          </a:xfrm>
          <a:prstGeom prst="roundRect">
            <a:avLst>
              <a:gd name="adj" fmla="val 10526"/>
            </a:avLst>
          </a:prstGeom>
          <a:solidFill>
            <a:srgbClr val="15202B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838200" y="3598218"/>
            <a:ext cx="547300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Mission</a:t>
            </a:r>
            <a:endParaRPr lang="en-US" sz="825" dirty="0"/>
          </a:p>
        </p:txBody>
      </p:sp>
      <p:sp>
        <p:nvSpPr>
          <p:cNvPr id="18" name="Text 11"/>
          <p:cNvSpPr txBox="1"/>
          <p:nvPr/>
        </p:nvSpPr>
        <p:spPr>
          <a:xfrm>
            <a:off x="838200" y="3841105"/>
            <a:ext cx="5473005" cy="5256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EAF2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middle-schooler AI literate by 2030 — able to build, evaluate, and ethically use AI.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838200" y="4462016"/>
            <a:ext cx="5473005" cy="5197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0"/>
              </a:spcBef>
              <a:buNone/>
            </a:pPr>
            <a:r>
              <a:rPr lang="en-US" sz="975" dirty="0">
                <a:solidFill>
                  <a:srgbClr val="B8C9D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tool-clicking. Thinking systems: Pattern → Data → Neuron → Robot → Agent → Startup. Spiral curriculum that compounds yearly, with ethics action and portfolio that goes to high school.</a:t>
            </a:r>
            <a:endParaRPr lang="en-US" sz="975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305" y="1634282"/>
            <a:ext cx="4852095" cy="230698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30330" y="1824782"/>
            <a:ext cx="44520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Advisors needed — 4 roles</a:t>
            </a:r>
            <a:endParaRPr lang="en-US" sz="825" dirty="0"/>
          </a:p>
        </p:txBody>
      </p:sp>
      <p:sp>
        <p:nvSpPr>
          <p:cNvPr id="22" name="Text 14"/>
          <p:cNvSpPr txBox="1"/>
          <p:nvPr/>
        </p:nvSpPr>
        <p:spPr>
          <a:xfrm>
            <a:off x="6930330" y="2067669"/>
            <a:ext cx="445204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Scaling beyond founder build</a:t>
            </a:r>
            <a:endParaRPr lang="en-US" sz="1125" dirty="0"/>
          </a:p>
        </p:txBody>
      </p:sp>
      <p:sp>
        <p:nvSpPr>
          <p:cNvPr id="23" name="Text 15"/>
          <p:cNvSpPr txBox="1"/>
          <p:nvPr/>
        </p:nvSpPr>
        <p:spPr>
          <a:xfrm>
            <a:off x="7878514" y="2315319"/>
            <a:ext cx="3503861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Curriculum</a:t>
            </a:r>
            <a:pPr indent="0" marL="0">
              <a:buNone/>
            </a:pPr>
            <a:r>
              <a:rPr lang="en-US" sz="938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NEP 2020 mapping, assessment design, L1-L4 spiral audit</a:t>
            </a:r>
            <a:endParaRPr lang="en-US" sz="938" dirty="0"/>
          </a:p>
        </p:txBody>
      </p:sp>
      <p:sp>
        <p:nvSpPr>
          <p:cNvPr id="24" name="Text 16"/>
          <p:cNvSpPr txBox="1"/>
          <p:nvPr/>
        </p:nvSpPr>
        <p:spPr>
          <a:xfrm>
            <a:off x="7754838" y="2533204"/>
            <a:ext cx="3627537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Pedagogy</a:t>
            </a:r>
            <a:pPr indent="0" marL="0">
              <a:buNone/>
            </a:pPr>
            <a:r>
              <a:rPr lang="en-US" sz="938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Zero-to-Hero teacher training, micro-credential, classroom research</a:t>
            </a:r>
            <a:endParaRPr lang="en-US" sz="938" dirty="0"/>
          </a:p>
        </p:txBody>
      </p:sp>
      <p:sp>
        <p:nvSpPr>
          <p:cNvPr id="25" name="Text 17"/>
          <p:cNvSpPr txBox="1"/>
          <p:nvPr/>
        </p:nvSpPr>
        <p:spPr>
          <a:xfrm>
            <a:off x="7747248" y="2911822"/>
            <a:ext cx="3635127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B2B Sales</a:t>
            </a:r>
            <a:pPr indent="0" marL="0">
              <a:buNone/>
            </a:pPr>
            <a:r>
              <a:rPr lang="en-US" sz="938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Private schools &amp; after-school network, 100-school rollout</a:t>
            </a:r>
            <a:endParaRPr lang="en-US" sz="938" dirty="0"/>
          </a:p>
        </p:txBody>
      </p:sp>
      <p:sp>
        <p:nvSpPr>
          <p:cNvPr id="26" name="Text 18"/>
          <p:cNvSpPr txBox="1"/>
          <p:nvPr/>
        </p:nvSpPr>
        <p:spPr>
          <a:xfrm>
            <a:off x="8340775" y="3129707"/>
            <a:ext cx="30416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Government liaison</a:t>
            </a:r>
            <a:pPr indent="0" marL="0">
              <a:buNone/>
            </a:pPr>
            <a:r>
              <a:rPr lang="en-US" sz="938" dirty="0">
                <a:solidFill>
                  <a:srgbClr val="3E566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State pilots, CSR, 1,000-school pathway</a:t>
            </a:r>
            <a:endParaRPr lang="en-US" sz="938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0305" y="4093666"/>
            <a:ext cx="4852095" cy="230713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30330" y="4284166"/>
            <a:ext cx="44520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06649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Values that ship in product</a:t>
            </a:r>
            <a:endParaRPr lang="en-US" sz="825" dirty="0"/>
          </a:p>
        </p:txBody>
      </p:sp>
      <p:sp>
        <p:nvSpPr>
          <p:cNvPr id="29" name="Text 20"/>
          <p:cNvSpPr txBox="1"/>
          <p:nvPr/>
        </p:nvSpPr>
        <p:spPr>
          <a:xfrm>
            <a:off x="6930330" y="4527054"/>
            <a:ext cx="445204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refuse to compromise</a:t>
            </a:r>
            <a:endParaRPr lang="en-US" sz="1125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0330" y="4793754"/>
            <a:ext cx="1145977" cy="27622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035105" y="4869954"/>
            <a:ext cx="9364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hardware needed</a:t>
            </a:r>
            <a:endParaRPr lang="en-US" sz="7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2507" y="4793754"/>
            <a:ext cx="1035100" cy="27622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257282" y="4869954"/>
            <a:ext cx="825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trademark risk</a:t>
            </a:r>
            <a:endParaRPr lang="en-US" sz="7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3807" y="4793754"/>
            <a:ext cx="1133475" cy="27622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368582" y="4869954"/>
            <a:ext cx="9239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Privacy anonymized</a:t>
            </a:r>
            <a:endParaRPr lang="en-US" sz="7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0330" y="5146179"/>
            <a:ext cx="1119188" cy="27622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035105" y="5222379"/>
            <a:ext cx="9096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Ethics action pledge</a:t>
            </a:r>
            <a:endParaRPr lang="en-US" sz="7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5718" y="5146179"/>
            <a:ext cx="1905893" cy="27622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230493" y="5222379"/>
            <a:ext cx="169634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Hyderabad • Delhi • Chennai diversity</a:t>
            </a:r>
            <a:endParaRPr lang="en-US" sz="7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0330" y="5498604"/>
            <a:ext cx="1688753" cy="27622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7035105" y="5574804"/>
            <a:ext cx="147920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Failure Museum growth mindset</a:t>
            </a:r>
            <a:endParaRPr lang="en-US" sz="75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5283" y="5498604"/>
            <a:ext cx="1534716" cy="276225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8800058" y="5574804"/>
            <a:ext cx="13251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A4A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Draw-Along • Telugu bharuvu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6896100" cy="13666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Ask: Seed </a:t>
            </a:r>
            <a:pPr indent="0" marL="0">
              <a:buNone/>
            </a:pPr>
            <a:r>
              <a:rPr lang="en-US" sz="3900" b="1" spc="-78" kern="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$150K</a:t>
            </a:r>
            <a:pPr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12 months.</a:t>
            </a:r>
            <a:endParaRPr lang="en-US" sz="39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Roadmap to 1,000 schools.</a:t>
            </a:r>
            <a:endParaRPr lang="en-US" sz="3900" dirty="0"/>
          </a:p>
        </p:txBody>
      </p:sp>
      <p:sp>
        <p:nvSpPr>
          <p:cNvPr id="3" name="Text 1"/>
          <p:cNvSpPr txBox="1"/>
          <p:nvPr/>
        </p:nvSpPr>
        <p:spPr>
          <a:xfrm>
            <a:off x="7658100" y="1266081"/>
            <a:ext cx="4000500" cy="5197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144/144 VERIFIED today • 212KB • $0 hosting • PWA offline • SHA-256 passwords no hint</a:t>
            </a:r>
            <a:endParaRPr lang="en-US" sz="975" dirty="0"/>
          </a:p>
          <a:p>
            <a:pPr algn="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to scale from 10 schools to 1M students, $20M ARR Year 3.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014389"/>
            <a:ext cx="3426321" cy="45388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3900" y="2195364"/>
            <a:ext cx="30453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900"/>
              </a:spcAft>
              <a:buNone/>
            </a:pPr>
            <a:r>
              <a:rPr lang="en-US" sz="750" b="1" spc="90" kern="0" dirty="0">
                <a:solidFill>
                  <a:srgbClr val="0664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SEED $150K — USE OF FUNDS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723900" y="2443014"/>
            <a:ext cx="3045321" cy="3723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$150K extends runway 12 months to $20K MRR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723900" y="2965400"/>
            <a:ext cx="212065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7D6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Curriculum video + simulators + Telugu/Hindi</a:t>
            </a:r>
            <a:endParaRPr lang="en-US" sz="825" dirty="0"/>
          </a:p>
        </p:txBody>
      </p:sp>
      <p:sp>
        <p:nvSpPr>
          <p:cNvPr id="8" name="Text 5"/>
          <p:cNvSpPr txBox="1"/>
          <p:nvPr/>
        </p:nvSpPr>
        <p:spPr>
          <a:xfrm>
            <a:off x="3520678" y="2958257"/>
            <a:ext cx="2485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3900" y="3152775"/>
            <a:ext cx="3048000" cy="57150"/>
          </a:xfrm>
          <a:prstGeom prst="roundRect">
            <a:avLst>
              <a:gd name="adj" fmla="val 166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23900" y="3152775"/>
            <a:ext cx="1828800" cy="57150"/>
          </a:xfrm>
          <a:prstGeom prst="roundRect">
            <a:avLst>
              <a:gd name="adj" fmla="val 16650000"/>
            </a:avLst>
          </a:prstGeom>
          <a:solidFill>
            <a:srgbClr val="06649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3900" y="3327350"/>
            <a:ext cx="263410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7D6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Teacher training community + micro-credential platform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3520678" y="3320207"/>
            <a:ext cx="2485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3900" y="3514725"/>
            <a:ext cx="3048000" cy="57150"/>
          </a:xfrm>
          <a:prstGeom prst="roundRect">
            <a:avLst>
              <a:gd name="adj" fmla="val 166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23900" y="3514725"/>
            <a:ext cx="609600" cy="57150"/>
          </a:xfrm>
          <a:prstGeom prst="roundRect">
            <a:avLst>
              <a:gd name="adj" fmla="val 16650000"/>
            </a:avLst>
          </a:prstGeom>
          <a:solidFill>
            <a:srgbClr val="8B5C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3900" y="3689300"/>
            <a:ext cx="227692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7D6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Pilots 10 schools + parent dashboard + analytics</a:t>
            </a:r>
            <a:endParaRPr lang="en-US" sz="825" dirty="0"/>
          </a:p>
        </p:txBody>
      </p:sp>
      <p:sp>
        <p:nvSpPr>
          <p:cNvPr id="16" name="Text 13"/>
          <p:cNvSpPr txBox="1"/>
          <p:nvPr/>
        </p:nvSpPr>
        <p:spPr>
          <a:xfrm>
            <a:off x="3520678" y="3682157"/>
            <a:ext cx="2485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3900" y="3876675"/>
            <a:ext cx="3048000" cy="57150"/>
          </a:xfrm>
          <a:prstGeom prst="roundRect">
            <a:avLst>
              <a:gd name="adj" fmla="val 166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23900" y="3876675"/>
            <a:ext cx="304800" cy="57150"/>
          </a:xfrm>
          <a:prstGeom prst="roundRect">
            <a:avLst>
              <a:gd name="adj" fmla="val 16650000"/>
            </a:avLst>
          </a:prstGeom>
          <a:solidFill>
            <a:srgbClr val="12CAB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3900" y="4051250"/>
            <a:ext cx="128289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7D6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Cloudflare + legal + hosting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3520678" y="4044107"/>
            <a:ext cx="24854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3900" y="4238625"/>
            <a:ext cx="3048000" cy="57150"/>
          </a:xfrm>
          <a:prstGeom prst="roundRect">
            <a:avLst>
              <a:gd name="adj" fmla="val 166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23900" y="4238625"/>
            <a:ext cx="304800" cy="57150"/>
          </a:xfrm>
          <a:prstGeom prst="roundRect">
            <a:avLst>
              <a:gd name="adj" fmla="val 16650000"/>
            </a:avLst>
          </a:prstGeom>
          <a:solidFill>
            <a:srgbClr val="F59E0B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4377482"/>
            <a:ext cx="3045321" cy="25717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28675" y="4444157"/>
            <a:ext cx="283577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FEA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 144/144 VERIFIED badge + console log — red if missing</a:t>
            </a:r>
            <a:endParaRPr lang="en-US" sz="7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121" y="2014389"/>
            <a:ext cx="4147840" cy="453881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12146" y="2204889"/>
            <a:ext cx="37477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900"/>
              </a:spcAft>
              <a:buNone/>
            </a:pPr>
            <a:r>
              <a:rPr lang="en-US" sz="750" b="1" spc="90" kern="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ROADMAP — Q2 2026 → Q4 2026</a:t>
            </a:r>
            <a:endParaRPr lang="en-US" sz="750" dirty="0"/>
          </a:p>
        </p:txBody>
      </p:sp>
      <p:sp>
        <p:nvSpPr>
          <p:cNvPr id="27" name="Text 22"/>
          <p:cNvSpPr txBox="1"/>
          <p:nvPr/>
        </p:nvSpPr>
        <p:spPr>
          <a:xfrm>
            <a:off x="4597896" y="2633514"/>
            <a:ext cx="346204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 2026 • PILOT</a:t>
            </a:r>
            <a:endParaRPr lang="en-US" sz="825" dirty="0"/>
          </a:p>
        </p:txBody>
      </p:sp>
      <p:sp>
        <p:nvSpPr>
          <p:cNvPr id="28" name="Text 23"/>
          <p:cNvSpPr txBox="1"/>
          <p:nvPr/>
        </p:nvSpPr>
        <p:spPr>
          <a:xfrm>
            <a:off x="4597896" y="2800201"/>
            <a:ext cx="3462040" cy="3309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buNone/>
            </a:pPr>
            <a:r>
              <a:rPr lang="en-US" sz="938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schools + Demo Day</a:t>
            </a:r>
            <a:pPr indent="0" marL="0">
              <a:buNone/>
            </a:pPr>
            <a:r>
              <a:rPr lang="en-US" sz="938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parent presentations + feedback loop — India context validation.</a:t>
            </a:r>
            <a:endParaRPr lang="en-US" sz="938" dirty="0"/>
          </a:p>
        </p:txBody>
      </p:sp>
      <p:sp>
        <p:nvSpPr>
          <p:cNvPr id="29" name="Text 24"/>
          <p:cNvSpPr txBox="1"/>
          <p:nvPr/>
        </p:nvSpPr>
        <p:spPr>
          <a:xfrm>
            <a:off x="4597896" y="3331220"/>
            <a:ext cx="346204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 2026 • SCALE</a:t>
            </a:r>
            <a:endParaRPr lang="en-US" sz="825" dirty="0"/>
          </a:p>
        </p:txBody>
      </p:sp>
      <p:sp>
        <p:nvSpPr>
          <p:cNvPr id="30" name="Text 25"/>
          <p:cNvSpPr txBox="1"/>
          <p:nvPr/>
        </p:nvSpPr>
        <p:spPr>
          <a:xfrm>
            <a:off x="4597896" y="3497907"/>
            <a:ext cx="3462040" cy="3309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buNone/>
            </a:pPr>
            <a:r>
              <a:rPr lang="en-US" sz="938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schools + edtech licensing</a:t>
            </a:r>
            <a:pPr indent="0" marL="0">
              <a:buNone/>
            </a:pPr>
            <a:r>
              <a:rPr lang="en-US" sz="938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Telugu/Hindi + voiceover Draw-Along animated SVG Play/Pause.</a:t>
            </a:r>
            <a:endParaRPr lang="en-US" sz="938" dirty="0"/>
          </a:p>
        </p:txBody>
      </p:sp>
      <p:sp>
        <p:nvSpPr>
          <p:cNvPr id="31" name="Text 26"/>
          <p:cNvSpPr txBox="1"/>
          <p:nvPr/>
        </p:nvSpPr>
        <p:spPr>
          <a:xfrm>
            <a:off x="4597896" y="4028926"/>
            <a:ext cx="346204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 2026 • GOV + MRR</a:t>
            </a:r>
            <a:endParaRPr lang="en-US" sz="825" dirty="0"/>
          </a:p>
        </p:txBody>
      </p:sp>
      <p:sp>
        <p:nvSpPr>
          <p:cNvPr id="32" name="Text 27"/>
          <p:cNvSpPr txBox="1"/>
          <p:nvPr/>
        </p:nvSpPr>
        <p:spPr>
          <a:xfrm>
            <a:off x="4597896" y="4195614"/>
            <a:ext cx="3462040" cy="3309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150"/>
              </a:spcBef>
              <a:buNone/>
            </a:pPr>
            <a:r>
              <a:rPr lang="en-US" sz="938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 schools + government pilot</a:t>
            </a:r>
            <a:pPr indent="0" marL="0">
              <a:buNone/>
            </a:pPr>
            <a:r>
              <a:rPr lang="en-US" sz="938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Portfolio platform + $20K MRR. NEP 2020 aligned.</a:t>
            </a:r>
            <a:endParaRPr lang="en-US" sz="938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146" y="4736157"/>
            <a:ext cx="1826270" cy="60483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435971" y="4859982"/>
            <a:ext cx="1578620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→ 1K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4435971" y="5117157"/>
            <a:ext cx="157862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Schools Q2 → Q4</a:t>
            </a:r>
            <a:endParaRPr lang="en-US" sz="7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666" y="4736157"/>
            <a:ext cx="1826270" cy="60483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357491" y="4859982"/>
            <a:ext cx="1578620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2C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$20K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6357491" y="5117157"/>
            <a:ext cx="157862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MRR target Q4 2026</a:t>
            </a:r>
            <a:endParaRPr lang="en-US" sz="7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361" y="2014389"/>
            <a:ext cx="3246090" cy="453881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612386" y="2204889"/>
            <a:ext cx="284604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900"/>
              </a:spcAft>
              <a:buNone/>
            </a:pPr>
            <a:r>
              <a:rPr lang="en-US" sz="750" b="1" spc="90" kern="0" dirty="0">
                <a:solidFill>
                  <a:srgbClr val="12CAB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MILESTONES &amp; CONTACT</a:t>
            </a:r>
            <a:endParaRPr lang="en-US" sz="750" dirty="0"/>
          </a:p>
        </p:txBody>
      </p:sp>
      <p:sp>
        <p:nvSpPr>
          <p:cNvPr id="41" name="Text 33"/>
          <p:cNvSpPr txBox="1"/>
          <p:nvPr/>
        </p:nvSpPr>
        <p:spPr>
          <a:xfrm>
            <a:off x="8612386" y="2452539"/>
            <a:ext cx="2846040" cy="1861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Live, open, ready</a:t>
            </a:r>
            <a:endParaRPr lang="en-US" sz="1275" dirty="0"/>
          </a:p>
        </p:txBody>
      </p:sp>
      <p:sp>
        <p:nvSpPr>
          <p:cNvPr id="42" name="Text 34"/>
          <p:cNvSpPr txBox="1"/>
          <p:nvPr/>
        </p:nvSpPr>
        <p:spPr>
          <a:xfrm>
            <a:off x="8612386" y="2733973"/>
            <a:ext cx="284604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144/144 VERIFIED today</a:t>
            </a:r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no gaps in 1,296 sections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8612386" y="3130153"/>
            <a:ext cx="284604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1M students SOM</a:t>
            </a:r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→ $20M ARR Year 3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8612386" y="3366343"/>
            <a:ext cx="284604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 Demo Day network effect — portfolio websites → high school pipeline</a:t>
            </a:r>
            <a:endParaRPr lang="en-US" sz="9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2386" y="5638800"/>
            <a:ext cx="2846040" cy="733425"/>
          </a:xfrm>
          <a:prstGeom prst="rect">
            <a:avLst/>
          </a:prstGeom>
        </p:spPr>
      </p:pic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386" y="5762625"/>
            <a:ext cx="609600" cy="609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612386" y="5922615"/>
            <a:ext cx="609451" cy="4496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60"/>
              </a:lnSpc>
              <a:buNone/>
            </a:pPr>
            <a:r>
              <a:rPr lang="en-US" sz="6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QR</a:t>
            </a:r>
            <a:endParaRPr lang="en-US" sz="600" dirty="0"/>
          </a:p>
          <a:p>
            <a:pPr algn="ctr" indent="0" marL="0">
              <a:lnSpc>
                <a:spcPts val="660"/>
              </a:lnSpc>
              <a:buNone/>
            </a:pPr>
            <a:r>
              <a:rPr lang="en-US" sz="6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ai-academy</a:t>
            </a:r>
            <a:endParaRPr lang="en-US" sz="600" dirty="0"/>
          </a:p>
          <a:p>
            <a:pPr algn="ctr" indent="0" marL="0">
              <a:lnSpc>
                <a:spcPts val="660"/>
              </a:lnSpc>
              <a:buNone/>
            </a:pPr>
            <a:r>
              <a:rPr lang="en-US" sz="600" b="1" dirty="0">
                <a:solidFill>
                  <a:srgbClr val="1520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.pages.dev</a:t>
            </a:r>
            <a:endParaRPr lang="en-US" sz="600" dirty="0"/>
          </a:p>
        </p:txBody>
      </p:sp>
      <p:sp>
        <p:nvSpPr>
          <p:cNvPr id="48" name="Text 38"/>
          <p:cNvSpPr txBox="1"/>
          <p:nvPr/>
        </p:nvSpPr>
        <p:spPr>
          <a:xfrm>
            <a:off x="9336286" y="5800725"/>
            <a:ext cx="1984623" cy="533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Live:</a:t>
            </a:r>
            <a:pPr indent="0" marL="0"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ai-academy.pages.dev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GitHub:</a:t>
            </a:r>
            <a:pPr indent="0" marL="0"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ramanaraokamma/ai-academy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Student:</a:t>
            </a:r>
            <a:pPr indent="0" marL="0"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student1234 • </a:t>
            </a:r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Teacher:</a:t>
            </a:r>
            <a:pPr indent="0" marL="0"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teacher1234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BCC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Build: echo "no build" / Output: . / 212KB</a:t>
            </a:r>
            <a:endParaRPr lang="en-US" sz="75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4046" y="2604939"/>
            <a:ext cx="228600" cy="228600"/>
          </a:xfrm>
          <a:prstGeom prst="rect">
            <a:avLst/>
          </a:prstGeom>
        </p:spPr>
      </p:pic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2146" y="3340745"/>
            <a:ext cx="152400" cy="152400"/>
          </a:xfrm>
          <a:prstGeom prst="rect">
            <a:avLst/>
          </a:prstGeom>
        </p:spPr>
      </p:pic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146" y="4038451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AI-Academy-—-Investor-Pitch</dc:title>
  <dc:subject>PptxGenJS Presentation</dc:subject>
  <dc:creator>PptxGenJS</dc:creator>
  <cp:lastModifiedBy>PptxGenJS</cp:lastModifiedBy>
  <cp:revision>1</cp:revision>
  <dcterms:created xsi:type="dcterms:W3CDTF">2026-09-25T22:23:09Z</dcterms:created>
  <dcterms:modified xsi:type="dcterms:W3CDTF">2026-09-25T22:23:09Z</dcterms:modified>
</cp:coreProperties>
</file>