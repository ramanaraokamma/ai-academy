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png"/><Relationship Id="rId31" Type="http://schemas.openxmlformats.org/officeDocument/2006/relationships/image" Target="../media/image-12-31.png"/><Relationship Id="rId32" Type="http://schemas.openxmlformats.org/officeDocument/2006/relationships/image" Target="../media/image-12-32.png"/><Relationship Id="rId33" Type="http://schemas.openxmlformats.org/officeDocument/2006/relationships/image" Target="../media/image-12-33.png"/><Relationship Id="rId34" Type="http://schemas.openxmlformats.org/officeDocument/2006/relationships/image" Target="../media/image-12-34.png"/><Relationship Id="rId35" Type="http://schemas.openxmlformats.org/officeDocument/2006/relationships/image" Target="../media/image-12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4324350"/>
            <a:ext cx="800100" cy="57150"/>
          </a:xfrm>
          <a:prstGeom prst="roundRect">
            <a:avLst>
              <a:gd name="adj" fmla="val 16650000"/>
            </a:avLst>
          </a:prstGeom>
          <a:solidFill>
            <a:srgbClr val="B1531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09600" y="4587329"/>
            <a:ext cx="6858000" cy="1737271"/>
          </a:xfrm>
          <a:prstGeom prst="rect">
            <a:avLst/>
          </a:prstGeom>
          <a:ln/>
          <a:effectLst>
            <a:outerShdw sx="100000" sy="100000" kx="0" ky="0" algn="bl" rotWithShape="0" blurRad="266700" dist="381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Academy: Future-Ready Skills for Grades 6-9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1185863"/>
            <a:ext cx="5512296" cy="9772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b="1" spc="-81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AI now?</a:t>
            </a:r>
            <a:endParaRPr lang="en-US" sz="4050" dirty="0"/>
          </a:p>
          <a:p>
            <a:pPr algn="l" indent="0" marL="0">
              <a:lnSpc>
                <a:spcPts val="4050"/>
              </a:lnSpc>
              <a:spcAft>
                <a:spcPts val="1800"/>
              </a:spcAft>
              <a:buNone/>
            </a:pPr>
            <a:r>
              <a:rPr lang="en-US" sz="4050" b="1" spc="-81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For grades 6–9</a:t>
            </a:r>
            <a:endParaRPr lang="en-US" sz="405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2391668"/>
            <a:ext cx="5512296" cy="5828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spcAft>
                <a:spcPts val="600"/>
              </a:spcAft>
              <a:buNone/>
            </a:pPr>
            <a:r>
              <a:rPr lang="en-US" sz="5100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85%</a:t>
            </a:r>
            <a:endParaRPr lang="en-US" sz="510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3060204"/>
            <a:ext cx="5512296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2100"/>
              </a:spcAft>
              <a:buNone/>
            </a:pPr>
            <a:r>
              <a:rPr lang="en-US" sz="975" spc="20" kern="0" dirty="0">
                <a:solidFill>
                  <a:srgbClr val="241E18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of jobs in 2030 will need AI literacy — World Economic Forum. Not college. Now.</a:t>
            </a:r>
            <a:endParaRPr lang="en-US" sz="975" dirty="0"/>
          </a:p>
        </p:txBody>
      </p:sp>
      <p:sp>
        <p:nvSpPr>
          <p:cNvPr id="5" name="Text 3"/>
          <p:cNvSpPr txBox="1"/>
          <p:nvPr/>
        </p:nvSpPr>
        <p:spPr>
          <a:xfrm>
            <a:off x="533400" y="3509665"/>
            <a:ext cx="5512296" cy="50214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spcAft>
                <a:spcPts val="1350"/>
              </a:spcAft>
              <a:buNone/>
            </a:pPr>
            <a:r>
              <a:rPr lang="en-US" sz="1350" dirty="0">
                <a:solidFill>
                  <a:srgbClr val="58554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AI literacy is </a:t>
            </a:r>
            <a:pPr indent="0" marL="0">
              <a:buNone/>
            </a:pPr>
            <a:r>
              <a:rPr lang="en-US" sz="1350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not coding alone</a:t>
            </a:r>
            <a:pPr indent="0" marL="0">
              <a:buNone/>
            </a:pPr>
            <a:r>
              <a:rPr lang="en-US" sz="1350" dirty="0">
                <a:solidFill>
                  <a:srgbClr val="58554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It's pattern detection, data thinking, and ethical decisions.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04850" y="4202311"/>
            <a:ext cx="5340846" cy="2018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Grades 6–9 is the brain window for abstract thinking + real-world curiosity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3400" y="4259461"/>
            <a:ext cx="76200" cy="762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04850" y="4537472"/>
            <a:ext cx="5340846" cy="4226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Spiral learning — same concept, deeper each year — sticks where cramming fails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33400" y="4594622"/>
            <a:ext cx="76200" cy="762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04850" y="5093494"/>
            <a:ext cx="5340846" cy="2018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Future-ready means your child can question AI, not just use 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3400" y="5150644"/>
            <a:ext cx="76200" cy="762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196" y="881063"/>
            <a:ext cx="5650855" cy="517207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741021" y="1462088"/>
            <a:ext cx="4641205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1350"/>
              </a:spcAft>
              <a:buNone/>
            </a:pPr>
            <a:r>
              <a:rPr lang="en-US" sz="900" b="1" spc="72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SKILLS SHIFT 2026 → 2030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741021" y="1881187"/>
            <a:ext cx="742950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59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 • NOW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7620000" y="1981200"/>
            <a:ext cx="3019425" cy="133350"/>
          </a:xfrm>
          <a:prstGeom prst="roundRect">
            <a:avLst>
              <a:gd name="adj" fmla="val 7135714"/>
            </a:avLst>
          </a:prstGeom>
          <a:solidFill>
            <a:srgbClr val="F6EAE4"/>
          </a:solidFill>
          <a:ln/>
        </p:spPr>
      </p:sp>
      <p:sp>
        <p:nvSpPr>
          <p:cNvPr id="16" name="Shape 13"/>
          <p:cNvSpPr/>
          <p:nvPr/>
        </p:nvSpPr>
        <p:spPr>
          <a:xfrm>
            <a:off x="7620000" y="1981200"/>
            <a:ext cx="1266825" cy="133350"/>
          </a:xfrm>
          <a:prstGeom prst="roundRect">
            <a:avLst>
              <a:gd name="adj" fmla="val 7135714"/>
            </a:avLst>
          </a:prstGeom>
          <a:solidFill>
            <a:srgbClr val="B1531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772626" y="1974056"/>
            <a:ext cx="60960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42% need</a:t>
            </a:r>
            <a:endParaRPr lang="en-US" sz="975" dirty="0"/>
          </a:p>
        </p:txBody>
      </p:sp>
      <p:sp>
        <p:nvSpPr>
          <p:cNvPr id="18" name="Text 15"/>
          <p:cNvSpPr txBox="1"/>
          <p:nvPr/>
        </p:nvSpPr>
        <p:spPr>
          <a:xfrm>
            <a:off x="6741021" y="2424113"/>
            <a:ext cx="74295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59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2027 • L1</a:t>
            </a:r>
            <a:endParaRPr lang="en-US" sz="975" dirty="0"/>
          </a:p>
        </p:txBody>
      </p:sp>
      <p:sp>
        <p:nvSpPr>
          <p:cNvPr id="19" name="Shape 16"/>
          <p:cNvSpPr/>
          <p:nvPr/>
        </p:nvSpPr>
        <p:spPr>
          <a:xfrm>
            <a:off x="7620000" y="2428875"/>
            <a:ext cx="3019425" cy="133350"/>
          </a:xfrm>
          <a:prstGeom prst="roundRect">
            <a:avLst>
              <a:gd name="adj" fmla="val 7135714"/>
            </a:avLst>
          </a:prstGeom>
          <a:solidFill>
            <a:srgbClr val="F6EAE4"/>
          </a:solidFill>
          <a:ln/>
        </p:spPr>
      </p:sp>
      <p:sp>
        <p:nvSpPr>
          <p:cNvPr id="20" name="Shape 17"/>
          <p:cNvSpPr/>
          <p:nvPr/>
        </p:nvSpPr>
        <p:spPr>
          <a:xfrm>
            <a:off x="7620000" y="2428875"/>
            <a:ext cx="1752600" cy="133350"/>
          </a:xfrm>
          <a:prstGeom prst="roundRect">
            <a:avLst>
              <a:gd name="adj" fmla="val 7135714"/>
            </a:avLst>
          </a:prstGeom>
          <a:solidFill>
            <a:srgbClr val="B1531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772626" y="2424113"/>
            <a:ext cx="60960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58%</a:t>
            </a:r>
            <a:endParaRPr lang="en-US" sz="975" dirty="0"/>
          </a:p>
        </p:txBody>
      </p:sp>
      <p:sp>
        <p:nvSpPr>
          <p:cNvPr id="22" name="Text 19"/>
          <p:cNvSpPr txBox="1"/>
          <p:nvPr/>
        </p:nvSpPr>
        <p:spPr>
          <a:xfrm>
            <a:off x="6741021" y="2781300"/>
            <a:ext cx="74295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59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2028 • L2</a:t>
            </a:r>
            <a:endParaRPr lang="en-US" sz="975" dirty="0"/>
          </a:p>
        </p:txBody>
      </p:sp>
      <p:sp>
        <p:nvSpPr>
          <p:cNvPr id="23" name="Shape 20"/>
          <p:cNvSpPr/>
          <p:nvPr/>
        </p:nvSpPr>
        <p:spPr>
          <a:xfrm>
            <a:off x="7620000" y="2790825"/>
            <a:ext cx="3019425" cy="133350"/>
          </a:xfrm>
          <a:prstGeom prst="roundRect">
            <a:avLst>
              <a:gd name="adj" fmla="val 7135714"/>
            </a:avLst>
          </a:prstGeom>
          <a:solidFill>
            <a:srgbClr val="F6EAE4"/>
          </a:solidFill>
          <a:ln/>
        </p:spPr>
      </p:sp>
      <p:sp>
        <p:nvSpPr>
          <p:cNvPr id="24" name="Shape 21"/>
          <p:cNvSpPr/>
          <p:nvPr/>
        </p:nvSpPr>
        <p:spPr>
          <a:xfrm>
            <a:off x="7620000" y="2790825"/>
            <a:ext cx="2143125" cy="133350"/>
          </a:xfrm>
          <a:prstGeom prst="roundRect">
            <a:avLst>
              <a:gd name="adj" fmla="val 7135714"/>
            </a:avLst>
          </a:prstGeom>
          <a:solidFill>
            <a:srgbClr val="2F6B43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0772626" y="2781300"/>
            <a:ext cx="60960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71%</a:t>
            </a:r>
            <a:endParaRPr lang="en-US" sz="975" dirty="0"/>
          </a:p>
        </p:txBody>
      </p:sp>
      <p:sp>
        <p:nvSpPr>
          <p:cNvPr id="26" name="Text 23"/>
          <p:cNvSpPr txBox="1"/>
          <p:nvPr/>
        </p:nvSpPr>
        <p:spPr>
          <a:xfrm>
            <a:off x="6741021" y="3138488"/>
            <a:ext cx="74295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59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2029 • L3</a:t>
            </a:r>
            <a:endParaRPr lang="en-US" sz="975" dirty="0"/>
          </a:p>
        </p:txBody>
      </p:sp>
      <p:sp>
        <p:nvSpPr>
          <p:cNvPr id="27" name="Shape 24"/>
          <p:cNvSpPr/>
          <p:nvPr/>
        </p:nvSpPr>
        <p:spPr>
          <a:xfrm>
            <a:off x="7620000" y="3143250"/>
            <a:ext cx="3019425" cy="133350"/>
          </a:xfrm>
          <a:prstGeom prst="roundRect">
            <a:avLst>
              <a:gd name="adj" fmla="val 7135714"/>
            </a:avLst>
          </a:prstGeom>
          <a:solidFill>
            <a:srgbClr val="F6EAE4"/>
          </a:solidFill>
          <a:ln/>
        </p:spPr>
      </p:sp>
      <p:sp>
        <p:nvSpPr>
          <p:cNvPr id="28" name="Shape 25"/>
          <p:cNvSpPr/>
          <p:nvPr/>
        </p:nvSpPr>
        <p:spPr>
          <a:xfrm>
            <a:off x="7620000" y="3143250"/>
            <a:ext cx="2505075" cy="133350"/>
          </a:xfrm>
          <a:prstGeom prst="roundRect">
            <a:avLst>
              <a:gd name="adj" fmla="val 7135714"/>
            </a:avLst>
          </a:prstGeom>
          <a:solidFill>
            <a:srgbClr val="2F6B4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772626" y="3138488"/>
            <a:ext cx="60960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83%</a:t>
            </a:r>
            <a:endParaRPr lang="en-US" sz="975" dirty="0"/>
          </a:p>
        </p:txBody>
      </p:sp>
      <p:sp>
        <p:nvSpPr>
          <p:cNvPr id="30" name="Text 27"/>
          <p:cNvSpPr txBox="1"/>
          <p:nvPr/>
        </p:nvSpPr>
        <p:spPr>
          <a:xfrm>
            <a:off x="6741021" y="3495675"/>
            <a:ext cx="74295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spc="59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2030 • L4</a:t>
            </a:r>
            <a:endParaRPr lang="en-US" sz="975" dirty="0"/>
          </a:p>
        </p:txBody>
      </p:sp>
      <p:sp>
        <p:nvSpPr>
          <p:cNvPr id="31" name="Shape 28"/>
          <p:cNvSpPr/>
          <p:nvPr/>
        </p:nvSpPr>
        <p:spPr>
          <a:xfrm>
            <a:off x="7620000" y="3505200"/>
            <a:ext cx="3019425" cy="133350"/>
          </a:xfrm>
          <a:prstGeom prst="roundRect">
            <a:avLst>
              <a:gd name="adj" fmla="val 7135714"/>
            </a:avLst>
          </a:prstGeom>
          <a:solidFill>
            <a:srgbClr val="F6EAE4"/>
          </a:solidFill>
          <a:ln/>
        </p:spPr>
      </p:sp>
      <p:sp>
        <p:nvSpPr>
          <p:cNvPr id="32" name="Shape 29"/>
          <p:cNvSpPr/>
          <p:nvPr/>
        </p:nvSpPr>
        <p:spPr>
          <a:xfrm>
            <a:off x="7620000" y="3505200"/>
            <a:ext cx="2571750" cy="133350"/>
          </a:xfrm>
          <a:prstGeom prst="roundRect">
            <a:avLst>
              <a:gd name="adj" fmla="val 7135714"/>
            </a:avLst>
          </a:prstGeom>
          <a:solidFill>
            <a:srgbClr val="241E18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772626" y="3495675"/>
            <a:ext cx="60960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85%</a:t>
            </a:r>
            <a:endParaRPr lang="en-US" sz="975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021" y="3852863"/>
            <a:ext cx="4641205" cy="638175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6893421" y="4005262"/>
            <a:ext cx="4336405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1500"/>
              </a:spcBef>
              <a:buNone/>
            </a:pPr>
            <a:r>
              <a:rPr lang="en-US" sz="975" b="1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this means:</a:t>
            </a:r>
            <a:pPr indent="0" marL="0"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Starting in middle school builds judgment before habits form. By G9, your child has built, not just watched, AI.</a:t>
            </a:r>
            <a:endParaRPr lang="en-US" sz="975" dirty="0"/>
          </a:p>
        </p:txBody>
      </p:sp>
      <p:sp>
        <p:nvSpPr>
          <p:cNvPr id="36" name="Shape 32"/>
          <p:cNvSpPr/>
          <p:nvPr/>
        </p:nvSpPr>
        <p:spPr>
          <a:xfrm>
            <a:off x="6743700" y="4667250"/>
            <a:ext cx="1485900" cy="828675"/>
          </a:xfrm>
          <a:prstGeom prst="roundRect">
            <a:avLst>
              <a:gd name="adj" fmla="val 13793"/>
            </a:avLst>
          </a:prstGeom>
          <a:solidFill>
            <a:srgbClr val="F9F8E4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874371" y="4795838"/>
            <a:ext cx="1216819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Pattern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6874371" y="4967288"/>
            <a:ext cx="1216819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Detects regularity</a:t>
            </a:r>
            <a:endParaRPr lang="en-US" sz="1125" dirty="0"/>
          </a:p>
        </p:txBody>
      </p:sp>
      <p:sp>
        <p:nvSpPr>
          <p:cNvPr id="39" name="Shape 35"/>
          <p:cNvSpPr/>
          <p:nvPr/>
        </p:nvSpPr>
        <p:spPr>
          <a:xfrm>
            <a:off x="8315325" y="4667250"/>
            <a:ext cx="1485900" cy="828675"/>
          </a:xfrm>
          <a:prstGeom prst="roundRect">
            <a:avLst>
              <a:gd name="adj" fmla="val 13793"/>
            </a:avLst>
          </a:prstGeom>
          <a:solidFill>
            <a:srgbClr val="F9F8E4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8453140" y="4795838"/>
            <a:ext cx="1216968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8453140" y="4967288"/>
            <a:ext cx="1216968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Cleans messy data</a:t>
            </a:r>
            <a:endParaRPr lang="en-US" sz="1125" dirty="0"/>
          </a:p>
        </p:txBody>
      </p:sp>
      <p:sp>
        <p:nvSpPr>
          <p:cNvPr id="42" name="Shape 38"/>
          <p:cNvSpPr/>
          <p:nvPr/>
        </p:nvSpPr>
        <p:spPr>
          <a:xfrm>
            <a:off x="9896475" y="4667250"/>
            <a:ext cx="1485900" cy="828675"/>
          </a:xfrm>
          <a:prstGeom prst="roundRect">
            <a:avLst>
              <a:gd name="adj" fmla="val 13793"/>
            </a:avLst>
          </a:prstGeom>
          <a:solidFill>
            <a:srgbClr val="F9F8E4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10032057" y="4795838"/>
            <a:ext cx="1216819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Ethics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10032057" y="4967288"/>
            <a:ext cx="1216819" cy="1952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Chooses rightly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176510"/>
            <a:ext cx="11201400" cy="8685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3600" b="1" spc="-7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Our model at a glance — 4 levels, 144 weeks, spiral learning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95300" y="1330821"/>
            <a:ext cx="1120140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350"/>
              </a:spcAft>
              <a:buNone/>
            </a:pPr>
            <a:r>
              <a:rPr lang="en-US" sz="1050" spc="21" kern="0" dirty="0">
                <a:solidFill>
                  <a:srgbClr val="241E18">
                    <a:alpha val="7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Same core ideas revisit deeper each year. No jumps. No gaps.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1911846"/>
            <a:ext cx="5985123" cy="393144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1921371"/>
            <a:ext cx="5966073" cy="3912394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5247084"/>
            <a:ext cx="5966073" cy="58668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76275" y="5389959"/>
            <a:ext cx="5623173" cy="3104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Spiral staircase: Concepts return higher each orbit — pattern thinking in G6 becomes neural skill in G8, becomes agents in G9.</a:t>
            </a:r>
            <a:endParaRPr lang="en-US" sz="9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573" y="1683246"/>
            <a:ext cx="2769989" cy="217676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889998" y="2138511"/>
            <a:ext cx="1160115" cy="17993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3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L1 G6 Explorer</a:t>
            </a:r>
            <a:endParaRPr lang="en-US" sz="13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6738" y="2092821"/>
            <a:ext cx="768400" cy="271463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8281987" y="2159496"/>
            <a:ext cx="5779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36 WEEKS</a:t>
            </a:r>
            <a:endParaRPr lang="en-US" sz="825" dirty="0"/>
          </a:p>
        </p:txBody>
      </p:sp>
      <p:sp>
        <p:nvSpPr>
          <p:cNvPr id="12" name="Text 5"/>
          <p:cNvSpPr txBox="1"/>
          <p:nvPr/>
        </p:nvSpPr>
        <p:spPr>
          <a:xfrm>
            <a:off x="6889998" y="2459534"/>
            <a:ext cx="2065139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Foundation • Play + patterns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7004298" y="2716709"/>
            <a:ext cx="1950839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225"/>
              </a:spcAft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Pattern Detector – Sock Sorting</a:t>
            </a:r>
            <a:endParaRPr lang="en-US" sz="975" dirty="0"/>
          </a:p>
        </p:txBody>
      </p:sp>
      <p:sp>
        <p:nvSpPr>
          <p:cNvPr id="14" name="Text 7"/>
          <p:cNvSpPr txBox="1"/>
          <p:nvPr/>
        </p:nvSpPr>
        <p:spPr>
          <a:xfrm>
            <a:off x="6889998" y="2707184"/>
            <a:ext cx="52536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</a:t>
            </a:r>
            <a:endParaRPr lang="en-US" sz="975" dirty="0"/>
          </a:p>
        </p:txBody>
      </p:sp>
      <p:sp>
        <p:nvSpPr>
          <p:cNvPr id="15" name="Text 8"/>
          <p:cNvSpPr txBox="1"/>
          <p:nvPr/>
        </p:nvSpPr>
        <p:spPr>
          <a:xfrm>
            <a:off x="7004298" y="2924770"/>
            <a:ext cx="1950839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225"/>
              </a:spcAft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Bouncer at Club – Classification</a:t>
            </a:r>
            <a:endParaRPr lang="en-US" sz="975" dirty="0"/>
          </a:p>
        </p:txBody>
      </p:sp>
      <p:sp>
        <p:nvSpPr>
          <p:cNvPr id="16" name="Text 9"/>
          <p:cNvSpPr txBox="1"/>
          <p:nvPr/>
        </p:nvSpPr>
        <p:spPr>
          <a:xfrm>
            <a:off x="6889998" y="2915245"/>
            <a:ext cx="52536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</a:t>
            </a:r>
            <a:endParaRPr lang="en-US" sz="975" dirty="0"/>
          </a:p>
        </p:txBody>
      </p:sp>
      <p:sp>
        <p:nvSpPr>
          <p:cNvPr id="17" name="Text 10"/>
          <p:cNvSpPr txBox="1"/>
          <p:nvPr/>
        </p:nvSpPr>
        <p:spPr>
          <a:xfrm>
            <a:off x="7004298" y="3132832"/>
            <a:ext cx="1950839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225"/>
              </a:spcAft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Messy Room 80% – Data cleaning</a:t>
            </a:r>
            <a:endParaRPr lang="en-US" sz="975" dirty="0"/>
          </a:p>
        </p:txBody>
      </p:sp>
      <p:sp>
        <p:nvSpPr>
          <p:cNvPr id="18" name="Text 11"/>
          <p:cNvSpPr txBox="1"/>
          <p:nvPr/>
        </p:nvSpPr>
        <p:spPr>
          <a:xfrm>
            <a:off x="6889998" y="3123307"/>
            <a:ext cx="52536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</a:t>
            </a:r>
            <a:endParaRPr lang="en-US" sz="975" dirty="0"/>
          </a:p>
        </p:txBody>
      </p:sp>
      <p:sp>
        <p:nvSpPr>
          <p:cNvPr id="19" name="Text 12"/>
          <p:cNvSpPr txBox="1"/>
          <p:nvPr/>
        </p:nvSpPr>
        <p:spPr>
          <a:xfrm>
            <a:off x="6889998" y="3340894"/>
            <a:ext cx="206513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5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GRADE 6 • CURIOSITY FIRST</a:t>
            </a:r>
            <a:endParaRPr lang="en-US" sz="825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012" y="1683246"/>
            <a:ext cx="2770138" cy="21767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450437" y="2138511"/>
            <a:ext cx="1072902" cy="17993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3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L2 G7 Builder</a:t>
            </a:r>
            <a:endParaRPr lang="en-US" sz="13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7325" y="2092821"/>
            <a:ext cx="768400" cy="271463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0842575" y="2159496"/>
            <a:ext cx="5779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2A5DB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36 WEEKS</a:t>
            </a:r>
            <a:endParaRPr lang="en-US" sz="825" dirty="0"/>
          </a:p>
        </p:txBody>
      </p:sp>
      <p:sp>
        <p:nvSpPr>
          <p:cNvPr id="24" name="Text 15"/>
          <p:cNvSpPr txBox="1"/>
          <p:nvPr/>
        </p:nvSpPr>
        <p:spPr>
          <a:xfrm>
            <a:off x="9450437" y="2459534"/>
            <a:ext cx="2065288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Tools • Real data</a:t>
            </a:r>
            <a:endParaRPr lang="en-US" sz="900" dirty="0"/>
          </a:p>
        </p:txBody>
      </p:sp>
      <p:sp>
        <p:nvSpPr>
          <p:cNvPr id="25" name="Text 16"/>
          <p:cNvSpPr txBox="1"/>
          <p:nvPr/>
        </p:nvSpPr>
        <p:spPr>
          <a:xfrm>
            <a:off x="9564737" y="2716709"/>
            <a:ext cx="1950988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225"/>
              </a:spcAft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 cleaning &amp; classification</a:t>
            </a:r>
            <a:endParaRPr lang="en-US" sz="975" dirty="0"/>
          </a:p>
        </p:txBody>
      </p:sp>
      <p:sp>
        <p:nvSpPr>
          <p:cNvPr id="26" name="Text 17"/>
          <p:cNvSpPr txBox="1"/>
          <p:nvPr/>
        </p:nvSpPr>
        <p:spPr>
          <a:xfrm>
            <a:off x="9450437" y="2707184"/>
            <a:ext cx="52536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</a:t>
            </a:r>
            <a:endParaRPr lang="en-US" sz="975" dirty="0"/>
          </a:p>
        </p:txBody>
      </p:sp>
      <p:sp>
        <p:nvSpPr>
          <p:cNvPr id="27" name="Text 18"/>
          <p:cNvSpPr txBox="1"/>
          <p:nvPr/>
        </p:nvSpPr>
        <p:spPr>
          <a:xfrm>
            <a:off x="9564737" y="2924770"/>
            <a:ext cx="1950988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225"/>
              </a:spcAft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Regression – Auto-rickshaw fares</a:t>
            </a:r>
            <a:endParaRPr lang="en-US" sz="975" dirty="0"/>
          </a:p>
        </p:txBody>
      </p:sp>
      <p:sp>
        <p:nvSpPr>
          <p:cNvPr id="28" name="Text 19"/>
          <p:cNvSpPr txBox="1"/>
          <p:nvPr/>
        </p:nvSpPr>
        <p:spPr>
          <a:xfrm>
            <a:off x="9450437" y="2915245"/>
            <a:ext cx="52536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</a:t>
            </a:r>
            <a:endParaRPr lang="en-US" sz="975" dirty="0"/>
          </a:p>
        </p:txBody>
      </p:sp>
      <p:sp>
        <p:nvSpPr>
          <p:cNvPr id="29" name="Text 20"/>
          <p:cNvSpPr txBox="1"/>
          <p:nvPr/>
        </p:nvSpPr>
        <p:spPr>
          <a:xfrm>
            <a:off x="9564737" y="3132832"/>
            <a:ext cx="1950988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225"/>
              </a:spcAft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Evaluation + Real-world ML</a:t>
            </a:r>
            <a:endParaRPr lang="en-US" sz="975" dirty="0"/>
          </a:p>
        </p:txBody>
      </p:sp>
      <p:sp>
        <p:nvSpPr>
          <p:cNvPr id="30" name="Text 21"/>
          <p:cNvSpPr txBox="1"/>
          <p:nvPr/>
        </p:nvSpPr>
        <p:spPr>
          <a:xfrm>
            <a:off x="9450437" y="3123307"/>
            <a:ext cx="52536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</a:t>
            </a:r>
            <a:endParaRPr lang="en-US" sz="975" dirty="0"/>
          </a:p>
        </p:txBody>
      </p:sp>
      <p:sp>
        <p:nvSpPr>
          <p:cNvPr id="31" name="Text 22"/>
          <p:cNvSpPr txBox="1"/>
          <p:nvPr/>
        </p:nvSpPr>
        <p:spPr>
          <a:xfrm>
            <a:off x="9450437" y="3340894"/>
            <a:ext cx="206528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5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GRADE 7 • HANDS-ON RIGOR</a:t>
            </a:r>
            <a:endParaRPr lang="en-US" sz="825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573" y="3536156"/>
            <a:ext cx="2769989" cy="2535734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889998" y="3991421"/>
            <a:ext cx="1099393" cy="17993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3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L3 G8 Creator</a:t>
            </a:r>
            <a:endParaRPr lang="en-US" sz="135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6738" y="3945731"/>
            <a:ext cx="768400" cy="271463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8281987" y="4012406"/>
            <a:ext cx="5779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6B3FC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36 WEEKS</a:t>
            </a:r>
            <a:endParaRPr lang="en-US" sz="825" dirty="0"/>
          </a:p>
        </p:txBody>
      </p:sp>
      <p:sp>
        <p:nvSpPr>
          <p:cNvPr id="36" name="Text 25"/>
          <p:cNvSpPr txBox="1"/>
          <p:nvPr/>
        </p:nvSpPr>
        <p:spPr>
          <a:xfrm>
            <a:off x="6889998" y="4312444"/>
            <a:ext cx="2065139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Depth • Neural ideas</a:t>
            </a:r>
            <a:endParaRPr lang="en-US" sz="900" dirty="0"/>
          </a:p>
        </p:txBody>
      </p:sp>
      <p:sp>
        <p:nvSpPr>
          <p:cNvPr id="37" name="Text 26"/>
          <p:cNvSpPr txBox="1"/>
          <p:nvPr/>
        </p:nvSpPr>
        <p:spPr>
          <a:xfrm>
            <a:off x="7004298" y="4569619"/>
            <a:ext cx="1950839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225"/>
              </a:spcAft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LEGO Neurons – Assembly Line</a:t>
            </a:r>
            <a:endParaRPr lang="en-US" sz="975" dirty="0"/>
          </a:p>
        </p:txBody>
      </p:sp>
      <p:sp>
        <p:nvSpPr>
          <p:cNvPr id="38" name="Text 27"/>
          <p:cNvSpPr txBox="1"/>
          <p:nvPr/>
        </p:nvSpPr>
        <p:spPr>
          <a:xfrm>
            <a:off x="6889998" y="4560094"/>
            <a:ext cx="52536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</a:t>
            </a:r>
            <a:endParaRPr lang="en-US" sz="975" dirty="0"/>
          </a:p>
        </p:txBody>
      </p:sp>
      <p:sp>
        <p:nvSpPr>
          <p:cNvPr id="39" name="Text 28"/>
          <p:cNvSpPr txBox="1"/>
          <p:nvPr/>
        </p:nvSpPr>
        <p:spPr>
          <a:xfrm>
            <a:off x="7004298" y="4777680"/>
            <a:ext cx="1950839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225"/>
              </a:spcAft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Cookie Cutter Convolution 1989</a:t>
            </a:r>
            <a:endParaRPr lang="en-US" sz="975" dirty="0"/>
          </a:p>
        </p:txBody>
      </p:sp>
      <p:sp>
        <p:nvSpPr>
          <p:cNvPr id="40" name="Text 29"/>
          <p:cNvSpPr txBox="1"/>
          <p:nvPr/>
        </p:nvSpPr>
        <p:spPr>
          <a:xfrm>
            <a:off x="6889998" y="4768155"/>
            <a:ext cx="52536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</a:t>
            </a:r>
            <a:endParaRPr lang="en-US" sz="975" dirty="0"/>
          </a:p>
        </p:txBody>
      </p:sp>
      <p:sp>
        <p:nvSpPr>
          <p:cNvPr id="41" name="Text 30"/>
          <p:cNvSpPr txBox="1"/>
          <p:nvPr/>
        </p:nvSpPr>
        <p:spPr>
          <a:xfrm>
            <a:off x="7004298" y="4985742"/>
            <a:ext cx="1950839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225"/>
              </a:spcAft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Spotlight Theater – Attention</a:t>
            </a:r>
            <a:endParaRPr lang="en-US" sz="975" dirty="0"/>
          </a:p>
        </p:txBody>
      </p:sp>
      <p:sp>
        <p:nvSpPr>
          <p:cNvPr id="42" name="Text 31"/>
          <p:cNvSpPr txBox="1"/>
          <p:nvPr/>
        </p:nvSpPr>
        <p:spPr>
          <a:xfrm>
            <a:off x="6889998" y="4976217"/>
            <a:ext cx="52536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</a:t>
            </a:r>
            <a:endParaRPr lang="en-US" sz="975" dirty="0"/>
          </a:p>
        </p:txBody>
      </p:sp>
      <p:sp>
        <p:nvSpPr>
          <p:cNvPr id="43" name="Text 32"/>
          <p:cNvSpPr txBox="1"/>
          <p:nvPr/>
        </p:nvSpPr>
        <p:spPr>
          <a:xfrm>
            <a:off x="6889998" y="5552777"/>
            <a:ext cx="206513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5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GRADE 8 • BUILD BRAINS</a:t>
            </a:r>
            <a:endParaRPr lang="en-US" sz="825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8012" y="3536156"/>
            <a:ext cx="2770138" cy="2535734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9450437" y="3991421"/>
            <a:ext cx="1295846" cy="17993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3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L4 G9 Innovator</a:t>
            </a:r>
            <a:endParaRPr lang="en-US" sz="135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47325" y="3945731"/>
            <a:ext cx="768400" cy="271463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10842575" y="4012406"/>
            <a:ext cx="5779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36 WEEKS</a:t>
            </a:r>
            <a:endParaRPr lang="en-US" sz="825" dirty="0"/>
          </a:p>
        </p:txBody>
      </p:sp>
      <p:sp>
        <p:nvSpPr>
          <p:cNvPr id="48" name="Text 35"/>
          <p:cNvSpPr txBox="1"/>
          <p:nvPr/>
        </p:nvSpPr>
        <p:spPr>
          <a:xfrm>
            <a:off x="9450437" y="4312444"/>
            <a:ext cx="2065288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Systems • Launch</a:t>
            </a:r>
            <a:endParaRPr lang="en-US" sz="900" dirty="0"/>
          </a:p>
        </p:txBody>
      </p:sp>
      <p:sp>
        <p:nvSpPr>
          <p:cNvPr id="49" name="Text 36"/>
          <p:cNvSpPr txBox="1"/>
          <p:nvPr/>
        </p:nvSpPr>
        <p:spPr>
          <a:xfrm>
            <a:off x="9564737" y="4569619"/>
            <a:ext cx="1950988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225"/>
              </a:spcAft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Robot Senses – Distance 0-400cm</a:t>
            </a:r>
            <a:endParaRPr lang="en-US" sz="975" dirty="0"/>
          </a:p>
        </p:txBody>
      </p:sp>
      <p:sp>
        <p:nvSpPr>
          <p:cNvPr id="50" name="Text 37"/>
          <p:cNvSpPr txBox="1"/>
          <p:nvPr/>
        </p:nvSpPr>
        <p:spPr>
          <a:xfrm>
            <a:off x="9450437" y="4560094"/>
            <a:ext cx="52536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</a:t>
            </a:r>
            <a:endParaRPr lang="en-US" sz="975" dirty="0"/>
          </a:p>
        </p:txBody>
      </p:sp>
      <p:sp>
        <p:nvSpPr>
          <p:cNvPr id="51" name="Text 38"/>
          <p:cNvSpPr txBox="1"/>
          <p:nvPr/>
        </p:nvSpPr>
        <p:spPr>
          <a:xfrm>
            <a:off x="9564737" y="4957167"/>
            <a:ext cx="1950988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225"/>
              </a:spcAft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Blindfolded Map – SLAM tiffin route</a:t>
            </a:r>
            <a:endParaRPr lang="en-US" sz="975" dirty="0"/>
          </a:p>
        </p:txBody>
      </p:sp>
      <p:sp>
        <p:nvSpPr>
          <p:cNvPr id="52" name="Text 39"/>
          <p:cNvSpPr txBox="1"/>
          <p:nvPr/>
        </p:nvSpPr>
        <p:spPr>
          <a:xfrm>
            <a:off x="9450437" y="4947642"/>
            <a:ext cx="52536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</a:t>
            </a:r>
            <a:endParaRPr lang="en-US" sz="975" dirty="0"/>
          </a:p>
        </p:txBody>
      </p:sp>
      <p:sp>
        <p:nvSpPr>
          <p:cNvPr id="53" name="Text 40"/>
          <p:cNvSpPr txBox="1"/>
          <p:nvPr/>
        </p:nvSpPr>
        <p:spPr>
          <a:xfrm>
            <a:off x="9564737" y="5344716"/>
            <a:ext cx="1950988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225"/>
              </a:spcAft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Startup + Moonshot JFK 1962</a:t>
            </a:r>
            <a:endParaRPr lang="en-US" sz="975" dirty="0"/>
          </a:p>
        </p:txBody>
      </p:sp>
      <p:sp>
        <p:nvSpPr>
          <p:cNvPr id="54" name="Text 41"/>
          <p:cNvSpPr txBox="1"/>
          <p:nvPr/>
        </p:nvSpPr>
        <p:spPr>
          <a:xfrm>
            <a:off x="9450437" y="5335191"/>
            <a:ext cx="52536" cy="1794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</a:t>
            </a:r>
            <a:endParaRPr lang="en-US" sz="975" dirty="0"/>
          </a:p>
        </p:txBody>
      </p:sp>
      <p:sp>
        <p:nvSpPr>
          <p:cNvPr id="55" name="Text 42"/>
          <p:cNvSpPr txBox="1"/>
          <p:nvPr/>
        </p:nvSpPr>
        <p:spPr>
          <a:xfrm>
            <a:off x="9450437" y="5552777"/>
            <a:ext cx="206528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5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GRADE 9 • REAL AUDIENCE</a:t>
            </a:r>
            <a:endParaRPr lang="en-US" sz="825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6090940"/>
            <a:ext cx="11201400" cy="590550"/>
          </a:xfrm>
          <a:prstGeom prst="rect">
            <a:avLst/>
          </a:prstGeom>
        </p:spPr>
      </p:pic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" y="6214765"/>
            <a:ext cx="342900" cy="342900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769293" y="6290965"/>
            <a:ext cx="230832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↻</a:t>
            </a:r>
            <a:endParaRPr lang="en-US" sz="1200" dirty="0"/>
          </a:p>
        </p:txBody>
      </p:sp>
      <p:sp>
        <p:nvSpPr>
          <p:cNvPr id="59" name="Text 44"/>
          <p:cNvSpPr txBox="1"/>
          <p:nvPr/>
        </p:nvSpPr>
        <p:spPr>
          <a:xfrm>
            <a:off x="1133475" y="6312396"/>
            <a:ext cx="10075218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Why spiral works:</a:t>
            </a:r>
            <a:pPr indent="0" marL="0"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L1 sorts socks by pattern. L3 sorts pixels by same logic (convolution). L4 sorts sensor readings to map a tiffin delivery. Your child doesn't relearn — they level up.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419100"/>
            <a:ext cx="11201400" cy="4161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450" b="1" spc="-69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How a single week works — 90 minutes, 9 sections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987623"/>
            <a:ext cx="1120080" cy="30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41462" y="1073348"/>
            <a:ext cx="873919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HOOK 10m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580" y="987623"/>
            <a:ext cx="1680121" cy="304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58157" y="1073348"/>
            <a:ext cx="1213545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MENTAL 15m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901" y="987623"/>
            <a:ext cx="2240161" cy="3048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310509" y="1073348"/>
            <a:ext cx="1377553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LAB 20m</a:t>
            </a:r>
            <a:endParaRPr lang="en-US" sz="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262" y="987623"/>
            <a:ext cx="1120080" cy="3048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030069" y="1073348"/>
            <a:ext cx="854273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POOL 10m</a:t>
            </a:r>
            <a:endParaRPr lang="en-US" sz="9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543" y="987623"/>
            <a:ext cx="1680121" cy="3048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7454205" y="1073348"/>
            <a:ext cx="1186458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ETHICS 15m</a:t>
            </a:r>
            <a:endParaRPr lang="en-US" sz="9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863" y="987623"/>
            <a:ext cx="2240161" cy="30480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9442996" y="1073348"/>
            <a:ext cx="1514029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>
                    <a:alpha val="9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PROJECT 20m</a:t>
            </a:r>
            <a:endParaRPr lang="en-US" sz="9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1444823"/>
            <a:ext cx="3644801" cy="2430363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1606748"/>
            <a:ext cx="304800" cy="304800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794445" y="1663898"/>
            <a:ext cx="186630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?</a:t>
            </a:r>
            <a:endParaRPr lang="en-US" sz="1200" dirty="0"/>
          </a:p>
        </p:txBody>
      </p:sp>
      <p:sp>
        <p:nvSpPr>
          <p:cNvPr id="18" name="Text 8"/>
          <p:cNvSpPr txBox="1"/>
          <p:nvPr/>
        </p:nvSpPr>
        <p:spPr>
          <a:xfrm>
            <a:off x="1076325" y="1675358"/>
            <a:ext cx="2088803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spc="-1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Hook 10m + Mental Model 15m</a:t>
            </a:r>
            <a:endParaRPr lang="en-US" sz="1200" dirty="0"/>
          </a:p>
        </p:txBody>
      </p:sp>
      <p:sp>
        <p:nvSpPr>
          <p:cNvPr id="19" name="Text 9"/>
          <p:cNvSpPr txBox="1"/>
          <p:nvPr/>
        </p:nvSpPr>
        <p:spPr>
          <a:xfrm>
            <a:off x="676275" y="1997273"/>
            <a:ext cx="3282851" cy="5289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58554E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"Can a computer be a bouncer?"</a:t>
            </a:r>
            <a:pPr indent="0" marL="0">
              <a:buNone/>
            </a:pPr>
            <a:r>
              <a:rPr lang="en-US" sz="975" dirty="0">
                <a:solidFill>
                  <a:srgbClr val="58554E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Real question → Teacher analogy + Where it breaks + Draw-Along 60-sec sketch.</a:t>
            </a:r>
            <a:endParaRPr lang="en-US" sz="975" dirty="0"/>
          </a:p>
        </p:txBody>
      </p:sp>
      <p:sp>
        <p:nvSpPr>
          <p:cNvPr id="20" name="Text 10"/>
          <p:cNvSpPr txBox="1"/>
          <p:nvPr/>
        </p:nvSpPr>
        <p:spPr>
          <a:xfrm>
            <a:off x="676275" y="2611934"/>
            <a:ext cx="328285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SAY EXACTLY → KID DRAWS → CHECK</a:t>
            </a:r>
            <a:endParaRPr lang="en-US" sz="825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3451" y="1444823"/>
            <a:ext cx="3644950" cy="2430363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4426" y="1606748"/>
            <a:ext cx="304800" cy="30480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4547443" y="1663898"/>
            <a:ext cx="211782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◍</a:t>
            </a:r>
            <a:endParaRPr lang="en-US" sz="1200" dirty="0"/>
          </a:p>
        </p:txBody>
      </p:sp>
      <p:sp>
        <p:nvSpPr>
          <p:cNvPr id="24" name="Text 12"/>
          <p:cNvSpPr txBox="1"/>
          <p:nvPr/>
        </p:nvSpPr>
        <p:spPr>
          <a:xfrm>
            <a:off x="4854476" y="1675358"/>
            <a:ext cx="1207591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spc="-1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Physical Lab 20m</a:t>
            </a:r>
            <a:endParaRPr lang="en-US" sz="1200" dirty="0"/>
          </a:p>
        </p:txBody>
      </p:sp>
      <p:sp>
        <p:nvSpPr>
          <p:cNvPr id="25" name="Text 13"/>
          <p:cNvSpPr txBox="1"/>
          <p:nvPr/>
        </p:nvSpPr>
        <p:spPr>
          <a:xfrm>
            <a:off x="4454426" y="1997273"/>
            <a:ext cx="3283000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58554E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No-Tech default cards → Simulator sliders live → High-Tech bonus micro:bit. Failure Museum: 3 fails ❌→✅ fix.</a:t>
            </a:r>
            <a:endParaRPr lang="en-US" sz="975" dirty="0"/>
          </a:p>
        </p:txBody>
      </p:sp>
      <p:sp>
        <p:nvSpPr>
          <p:cNvPr id="26" name="Shape 14"/>
          <p:cNvSpPr/>
          <p:nvPr/>
        </p:nvSpPr>
        <p:spPr>
          <a:xfrm>
            <a:off x="4457700" y="2438400"/>
            <a:ext cx="3286125" cy="9525"/>
          </a:xfrm>
          <a:prstGeom prst="rect">
            <a:avLst/>
          </a:prstGeom>
          <a:solidFill>
            <a:srgbClr val="271D14">
              <a:alpha val="10000"/>
            </a:srgbClr>
          </a:solidFill>
          <a:ln/>
        </p:spPr>
      </p:sp>
      <p:sp>
        <p:nvSpPr>
          <p:cNvPr id="27" name="Text 15"/>
          <p:cNvSpPr txBox="1"/>
          <p:nvPr/>
        </p:nvSpPr>
        <p:spPr>
          <a:xfrm>
            <a:off x="4454426" y="2556272"/>
            <a:ext cx="3283000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8554E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Success = LED AND gate works, explains weight + bias</a:t>
            </a:r>
            <a:endParaRPr lang="en-US" sz="9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1750" y="1444823"/>
            <a:ext cx="3644801" cy="2430363"/>
          </a:xfrm>
          <a:prstGeom prst="rect">
            <a:avLst/>
          </a:prstGeom>
        </p:spPr>
      </p:pic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2725" y="1606748"/>
            <a:ext cx="304800" cy="304800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8266509" y="1663898"/>
            <a:ext cx="271016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◍◍</a:t>
            </a:r>
            <a:endParaRPr lang="en-US" sz="1200" dirty="0"/>
          </a:p>
        </p:txBody>
      </p:sp>
      <p:sp>
        <p:nvSpPr>
          <p:cNvPr id="31" name="Text 17"/>
          <p:cNvSpPr txBox="1"/>
          <p:nvPr/>
        </p:nvSpPr>
        <p:spPr>
          <a:xfrm>
            <a:off x="8632775" y="1675358"/>
            <a:ext cx="1483370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spc="-1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Community Pool 10m</a:t>
            </a:r>
            <a:endParaRPr lang="en-US" sz="1200" dirty="0"/>
          </a:p>
        </p:txBody>
      </p:sp>
      <p:sp>
        <p:nvSpPr>
          <p:cNvPr id="32" name="Text 18"/>
          <p:cNvSpPr txBox="1"/>
          <p:nvPr/>
        </p:nvSpPr>
        <p:spPr>
          <a:xfrm>
            <a:off x="8232725" y="1997273"/>
            <a:ext cx="3282851" cy="5289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58554E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Anonymized pooling 60 → 180 students. Privacy: counts only, no names. Diversity: Hyderabad + Delhi + Chennai = 72% → 88%.</a:t>
            </a:r>
            <a:endParaRPr lang="en-US" sz="975" dirty="0"/>
          </a:p>
        </p:txBody>
      </p:sp>
      <p:sp>
        <p:nvSpPr>
          <p:cNvPr id="33" name="Text 19"/>
          <p:cNvSpPr txBox="1"/>
          <p:nvPr/>
        </p:nvSpPr>
        <p:spPr>
          <a:xfrm>
            <a:off x="8232725" y="2611934"/>
            <a:ext cx="328285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WHY POOLING = LAW OF LARGE NUMBERS</a:t>
            </a:r>
            <a:endParaRPr lang="en-US" sz="825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4008537"/>
            <a:ext cx="3644801" cy="2430363"/>
          </a:xfrm>
          <a:prstGeom prst="rect">
            <a:avLst/>
          </a:prstGeom>
        </p:spPr>
      </p:pic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275" y="4170462"/>
            <a:ext cx="304800" cy="304800"/>
          </a:xfrm>
          <a:prstGeom prst="rect">
            <a:avLst/>
          </a:prstGeom>
        </p:spPr>
      </p:pic>
      <p:sp>
        <p:nvSpPr>
          <p:cNvPr id="36" name="Text 20"/>
          <p:cNvSpPr txBox="1"/>
          <p:nvPr/>
        </p:nvSpPr>
        <p:spPr>
          <a:xfrm>
            <a:off x="769293" y="4227612"/>
            <a:ext cx="211782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⚑</a:t>
            </a:r>
            <a:endParaRPr lang="en-US" sz="1200" dirty="0"/>
          </a:p>
        </p:txBody>
      </p:sp>
      <p:sp>
        <p:nvSpPr>
          <p:cNvPr id="37" name="Text 21"/>
          <p:cNvSpPr txBox="1"/>
          <p:nvPr/>
        </p:nvSpPr>
        <p:spPr>
          <a:xfrm>
            <a:off x="1076325" y="4239071"/>
            <a:ext cx="721816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spc="-1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Ethics 15m</a:t>
            </a:r>
            <a:endParaRPr lang="en-US" sz="1200" dirty="0"/>
          </a:p>
        </p:txBody>
      </p:sp>
      <p:sp>
        <p:nvSpPr>
          <p:cNvPr id="38" name="Text 22"/>
          <p:cNvSpPr txBox="1"/>
          <p:nvPr/>
        </p:nvSpPr>
        <p:spPr>
          <a:xfrm>
            <a:off x="676275" y="4560987"/>
            <a:ext cx="3282851" cy="5289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58554E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Traffic light Red/Yellow/Green + case study Gender Shades 2018. Pledge textarea: "I will check bias before training."</a:t>
            </a:r>
            <a:endParaRPr lang="en-US" sz="975" dirty="0"/>
          </a:p>
        </p:txBody>
      </p:sp>
      <p:sp>
        <p:nvSpPr>
          <p:cNvPr id="39" name="Text 23"/>
          <p:cNvSpPr txBox="1"/>
          <p:nvPr/>
        </p:nvSpPr>
        <p:spPr>
          <a:xfrm>
            <a:off x="676275" y="5175647"/>
            <a:ext cx="328285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ACTION NOT JUST TALK</a:t>
            </a:r>
            <a:endParaRPr lang="en-US" sz="825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73451" y="4008537"/>
            <a:ext cx="3644950" cy="2430363"/>
          </a:xfrm>
          <a:prstGeom prst="rect">
            <a:avLst/>
          </a:prstGeom>
        </p:spPr>
      </p:pic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54426" y="4170462"/>
            <a:ext cx="304800" cy="304800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4530477" y="4227612"/>
            <a:ext cx="228749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★</a:t>
            </a:r>
            <a:endParaRPr lang="en-US" sz="1200" dirty="0"/>
          </a:p>
        </p:txBody>
      </p:sp>
      <p:sp>
        <p:nvSpPr>
          <p:cNvPr id="43" name="Text 25"/>
          <p:cNvSpPr txBox="1"/>
          <p:nvPr/>
        </p:nvSpPr>
        <p:spPr>
          <a:xfrm>
            <a:off x="4854476" y="4239071"/>
            <a:ext cx="1321743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spc="-1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Project Studio 20m</a:t>
            </a:r>
            <a:endParaRPr lang="en-US" sz="1200" dirty="0"/>
          </a:p>
        </p:txBody>
      </p:sp>
      <p:sp>
        <p:nvSpPr>
          <p:cNvPr id="44" name="Text 26"/>
          <p:cNvSpPr txBox="1"/>
          <p:nvPr/>
        </p:nvSpPr>
        <p:spPr>
          <a:xfrm>
            <a:off x="4454426" y="4560987"/>
            <a:ext cx="3283000" cy="5289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58554E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Choice Board A Science Fair B Game C Art — same core skill. Real audience + 60-sec pitch: My model... Works when... Fails when...</a:t>
            </a:r>
            <a:endParaRPr lang="en-US" sz="975" dirty="0"/>
          </a:p>
        </p:txBody>
      </p:sp>
      <p:sp>
        <p:nvSpPr>
          <p:cNvPr id="45" name="Text 27"/>
          <p:cNvSpPr txBox="1"/>
          <p:nvPr/>
        </p:nvSpPr>
        <p:spPr>
          <a:xfrm>
            <a:off x="4454426" y="5175647"/>
            <a:ext cx="32830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PORTFOLIO AUTO-ADDS</a:t>
            </a:r>
            <a:endParaRPr lang="en-US" sz="825" dirty="0"/>
          </a:p>
        </p:txBody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51750" y="4008537"/>
            <a:ext cx="3644801" cy="2430363"/>
          </a:xfrm>
          <a:prstGeom prst="rect">
            <a:avLst/>
          </a:prstGeom>
        </p:spPr>
      </p:pic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32725" y="4170462"/>
            <a:ext cx="304800" cy="304800"/>
          </a:xfrm>
          <a:prstGeom prst="rect">
            <a:avLst/>
          </a:prstGeom>
        </p:spPr>
      </p:pic>
      <p:sp>
        <p:nvSpPr>
          <p:cNvPr id="48" name="Text 28"/>
          <p:cNvSpPr txBox="1"/>
          <p:nvPr/>
        </p:nvSpPr>
        <p:spPr>
          <a:xfrm>
            <a:off x="8333036" y="4227612"/>
            <a:ext cx="204490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Text 29"/>
          <p:cNvSpPr txBox="1"/>
          <p:nvPr/>
        </p:nvSpPr>
        <p:spPr>
          <a:xfrm>
            <a:off x="8632775" y="4239071"/>
            <a:ext cx="1157734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spc="-12" kern="0" dirty="0">
                <a:solidFill>
                  <a:srgbClr val="F9F8E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Workbook + Eval</a:t>
            </a:r>
            <a:endParaRPr lang="en-US" sz="1200" dirty="0"/>
          </a:p>
        </p:txBody>
      </p:sp>
      <p:sp>
        <p:nvSpPr>
          <p:cNvPr id="50" name="Text 30"/>
          <p:cNvSpPr txBox="1"/>
          <p:nvPr/>
        </p:nvSpPr>
        <p:spPr>
          <a:xfrm>
            <a:off x="8232725" y="4560987"/>
            <a:ext cx="3282851" cy="5289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F9F8E4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Sentence starters: "My model worked when... but failed when..." Self-dot Red/Yellow/Blue/Green. Formative check every 10m.</a:t>
            </a:r>
            <a:endParaRPr lang="en-US" sz="975" dirty="0"/>
          </a:p>
        </p:txBody>
      </p:sp>
      <p:sp>
        <p:nvSpPr>
          <p:cNvPr id="51" name="Text 31"/>
          <p:cNvSpPr txBox="1"/>
          <p:nvPr/>
        </p:nvSpPr>
        <p:spPr>
          <a:xfrm>
            <a:off x="8232725" y="5175647"/>
            <a:ext cx="328285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F9F8E4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REFLECTION 5 MINS AT HOME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25200" cy="4342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 hardware needed — how learning actually happens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043880"/>
            <a:ext cx="11125200" cy="1952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Every school can run this — cards and paper first, phone simulators second, kits only as bonus.</a:t>
            </a:r>
            <a:endParaRPr lang="en-US" sz="11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1239143"/>
            <a:ext cx="5573167" cy="201260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648718"/>
            <a:ext cx="419100" cy="4191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4061" y="1743968"/>
            <a:ext cx="328464" cy="3238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🃏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1304925" y="1648718"/>
            <a:ext cx="4258717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No-Tech default </a:t>
            </a:r>
            <a:endParaRPr lang="en-US" sz="1125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895" y="1648718"/>
            <a:ext cx="617190" cy="1905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566095" y="1686818"/>
            <a:ext cx="46479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DEFAULT</a:t>
            </a:r>
            <a:endParaRPr lang="en-US" sz="750" dirty="0"/>
          </a:p>
        </p:txBody>
      </p:sp>
      <p:sp>
        <p:nvSpPr>
          <p:cNvPr id="10" name="Text 5"/>
          <p:cNvSpPr txBox="1"/>
          <p:nvPr/>
        </p:nvSpPr>
        <p:spPr>
          <a:xfrm>
            <a:off x="1304925" y="1896368"/>
            <a:ext cx="4258717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41E18">
                    <a:alpha val="9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Cut cards for weights, bias, inputs. Students are the computer — human simulation. No projector, no internet needed. Works on floor.</a:t>
            </a:r>
            <a:endParaRPr lang="en-US" sz="975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" y="2927896"/>
            <a:ext cx="5573167" cy="1993553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3337471"/>
            <a:ext cx="419100" cy="4191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24061" y="3432721"/>
            <a:ext cx="328464" cy="3238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🎛️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1304925" y="3337471"/>
            <a:ext cx="4258717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Live simulators — on phone</a:t>
            </a:r>
            <a:endParaRPr lang="en-US" sz="1125" dirty="0"/>
          </a:p>
        </p:txBody>
      </p:sp>
      <p:sp>
        <p:nvSpPr>
          <p:cNvPr id="15" name="Text 8"/>
          <p:cNvSpPr txBox="1"/>
          <p:nvPr/>
        </p:nvSpPr>
        <p:spPr>
          <a:xfrm>
            <a:off x="1304925" y="3566071"/>
            <a:ext cx="4258717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41E18">
                    <a:alpha val="9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Sliders for weights / bias / distance 0–400cm / servo 0–180°. LED turns ON/OFF instantly. 30+ simulators built-in, offline PWA.</a:t>
            </a:r>
            <a:endParaRPr lang="en-US" sz="975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" y="4597598"/>
            <a:ext cx="5573167" cy="2031802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5007173"/>
            <a:ext cx="419100" cy="41910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824061" y="5102423"/>
            <a:ext cx="328464" cy="3238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A5DB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🔧</a:t>
            </a:r>
            <a:endParaRPr lang="en-US" sz="1500" dirty="0"/>
          </a:p>
        </p:txBody>
      </p:sp>
      <p:sp>
        <p:nvSpPr>
          <p:cNvPr id="19" name="Text 10"/>
          <p:cNvSpPr txBox="1"/>
          <p:nvPr/>
        </p:nvSpPr>
        <p:spPr>
          <a:xfrm>
            <a:off x="1304925" y="5016698"/>
            <a:ext cx="4258717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High-Tech optional </a:t>
            </a:r>
            <a:endParaRPr lang="en-US" sz="1125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9565" y="5007173"/>
            <a:ext cx="540841" cy="20955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2795290" y="5054798"/>
            <a:ext cx="369391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spc="60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BONUS</a:t>
            </a:r>
            <a:endParaRPr lang="en-US" sz="750" dirty="0"/>
          </a:p>
        </p:txBody>
      </p:sp>
      <p:sp>
        <p:nvSpPr>
          <p:cNvPr id="22" name="Text 12"/>
          <p:cNvSpPr txBox="1"/>
          <p:nvPr/>
        </p:nvSpPr>
        <p:spPr>
          <a:xfrm>
            <a:off x="1304925" y="5273873"/>
            <a:ext cx="4258717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41E18">
                    <a:alpha val="9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Optional micro:bit + distance sensor + servo kit. Same lesson, real hardware reward. Not required for grade.</a:t>
            </a:r>
            <a:endParaRPr lang="en-US" sz="975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3667" y="1162943"/>
            <a:ext cx="6123533" cy="5542657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1342" y="1667768"/>
            <a:ext cx="2547342" cy="112395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6354217" y="1820168"/>
            <a:ext cx="226159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60" kern="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NO-TECH CARDS • PRINT 1 PAGE</a:t>
            </a:r>
            <a:endParaRPr lang="en-US" sz="7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7067" y="1953518"/>
            <a:ext cx="628650" cy="838200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6551116" y="2239268"/>
            <a:ext cx="307925" cy="466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w1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2.0</a:t>
            </a:r>
            <a:endParaRPr lang="en-US" sz="75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8567" y="1953518"/>
            <a:ext cx="628650" cy="838200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7116366" y="2239268"/>
            <a:ext cx="314176" cy="466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w2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-1</a:t>
            </a:r>
            <a:endParaRPr lang="en-US" sz="75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40067" y="1953518"/>
            <a:ext cx="628650" cy="838200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7661225" y="2239268"/>
            <a:ext cx="340816" cy="466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bias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-1</a:t>
            </a:r>
            <a:endParaRPr lang="en-US" sz="750" dirty="0"/>
          </a:p>
        </p:txBody>
      </p:sp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11567" y="1953518"/>
            <a:ext cx="628650" cy="838200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8202067" y="2239268"/>
            <a:ext cx="371475" cy="466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input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1/0</a:t>
            </a:r>
            <a:endParaRPr lang="en-US" sz="750" dirty="0"/>
          </a:p>
        </p:txBody>
      </p:sp>
      <p:sp>
        <p:nvSpPr>
          <p:cNvPr id="34" name="Text 18"/>
          <p:cNvSpPr txBox="1"/>
          <p:nvPr/>
        </p:nvSpPr>
        <p:spPr>
          <a:xfrm>
            <a:off x="6354217" y="2801243"/>
            <a:ext cx="226159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Students add: w·x + b → decision</a:t>
            </a:r>
            <a:endParaRPr lang="en-US" sz="825" dirty="0"/>
          </a:p>
        </p:txBody>
      </p:sp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92034" y="1667768"/>
            <a:ext cx="2547491" cy="1123950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9034909" y="1820168"/>
            <a:ext cx="226174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60" kern="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LIVE SIMULATOR • PHONE WORKS</a:t>
            </a:r>
            <a:endParaRPr lang="en-US" sz="750" dirty="0"/>
          </a:p>
        </p:txBody>
      </p:sp>
      <p:sp>
        <p:nvSpPr>
          <p:cNvPr id="37" name="Text 20"/>
          <p:cNvSpPr txBox="1"/>
          <p:nvPr/>
        </p:nvSpPr>
        <p:spPr>
          <a:xfrm>
            <a:off x="9034909" y="2094012"/>
            <a:ext cx="4000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w1=2</a:t>
            </a:r>
            <a:endParaRPr lang="en-US" sz="825" dirty="0"/>
          </a:p>
        </p:txBody>
      </p:sp>
      <p:sp>
        <p:nvSpPr>
          <p:cNvPr id="38" name="Shape 21"/>
          <p:cNvSpPr/>
          <p:nvPr/>
        </p:nvSpPr>
        <p:spPr>
          <a:xfrm>
            <a:off x="9525000" y="2114550"/>
            <a:ext cx="1400175" cy="76200"/>
          </a:xfrm>
          <a:prstGeom prst="roundRect">
            <a:avLst>
              <a:gd name="adj" fmla="val 12487500"/>
            </a:avLst>
          </a:prstGeom>
          <a:solidFill>
            <a:srgbClr val="E8DDD3"/>
          </a:solidFill>
          <a:ln/>
        </p:spPr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42364" y="2001143"/>
            <a:ext cx="285750" cy="323850"/>
          </a:xfrm>
          <a:prstGeom prst="rect">
            <a:avLst/>
          </a:prstGeom>
        </p:spPr>
      </p:pic>
      <p:pic>
        <p:nvPicPr>
          <p:cNvPr id="4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15650" y="1915418"/>
            <a:ext cx="495300" cy="495300"/>
          </a:xfrm>
          <a:prstGeom prst="rect">
            <a:avLst/>
          </a:prstGeom>
        </p:spPr>
      </p:pic>
      <p:sp>
        <p:nvSpPr>
          <p:cNvPr id="41" name="Text 22"/>
          <p:cNvSpPr txBox="1"/>
          <p:nvPr/>
        </p:nvSpPr>
        <p:spPr>
          <a:xfrm>
            <a:off x="11091863" y="2096393"/>
            <a:ext cx="204788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💡</a:t>
            </a:r>
            <a:endParaRPr lang="en-US" sz="900" dirty="0"/>
          </a:p>
        </p:txBody>
      </p:sp>
      <p:sp>
        <p:nvSpPr>
          <p:cNvPr id="42" name="Text 23"/>
          <p:cNvSpPr txBox="1"/>
          <p:nvPr/>
        </p:nvSpPr>
        <p:spPr>
          <a:xfrm>
            <a:off x="9034909" y="2401193"/>
            <a:ext cx="4000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bias=-1</a:t>
            </a:r>
            <a:endParaRPr lang="en-US" sz="825" dirty="0"/>
          </a:p>
        </p:txBody>
      </p:sp>
      <p:sp>
        <p:nvSpPr>
          <p:cNvPr id="43" name="Shape 24"/>
          <p:cNvSpPr/>
          <p:nvPr/>
        </p:nvSpPr>
        <p:spPr>
          <a:xfrm>
            <a:off x="9525000" y="2419350"/>
            <a:ext cx="1209675" cy="76200"/>
          </a:xfrm>
          <a:prstGeom prst="roundRect">
            <a:avLst>
              <a:gd name="adj" fmla="val 12487500"/>
            </a:avLst>
          </a:prstGeom>
          <a:solidFill>
            <a:srgbClr val="E8DDD3"/>
          </a:solidFill>
          <a:ln/>
        </p:spPr>
      </p:sp>
      <p:pic>
        <p:nvPicPr>
          <p:cNvPr id="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75180" y="2308324"/>
            <a:ext cx="285750" cy="323850"/>
          </a:xfrm>
          <a:prstGeom prst="rect">
            <a:avLst/>
          </a:prstGeom>
        </p:spPr>
      </p:pic>
      <p:sp>
        <p:nvSpPr>
          <p:cNvPr id="45" name="Text 25"/>
          <p:cNvSpPr txBox="1"/>
          <p:nvPr/>
        </p:nvSpPr>
        <p:spPr>
          <a:xfrm>
            <a:off x="10837813" y="2401193"/>
            <a:ext cx="45883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AND gate</a:t>
            </a:r>
            <a:endParaRPr lang="en-US" sz="825" dirty="0"/>
          </a:p>
        </p:txBody>
      </p:sp>
      <p:sp>
        <p:nvSpPr>
          <p:cNvPr id="46" name="Text 26"/>
          <p:cNvSpPr txBox="1"/>
          <p:nvPr/>
        </p:nvSpPr>
        <p:spPr>
          <a:xfrm>
            <a:off x="9034909" y="2653605"/>
            <a:ext cx="226174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Sum: 1.0 → LED ON ✓</a:t>
            </a:r>
            <a:endParaRPr lang="en-US" sz="825" dirty="0"/>
          </a:p>
        </p:txBody>
      </p:sp>
      <p:pic>
        <p:nvPicPr>
          <p:cNvPr id="4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1342" y="2963168"/>
            <a:ext cx="5228183" cy="739080"/>
          </a:xfrm>
          <a:prstGeom prst="rect">
            <a:avLst/>
          </a:prstGeom>
        </p:spPr>
      </p:pic>
      <p:pic>
        <p:nvPicPr>
          <p:cNvPr id="4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73267" y="3161258"/>
            <a:ext cx="248394" cy="342900"/>
          </a:xfrm>
          <a:prstGeom prst="rect">
            <a:avLst/>
          </a:prstGeom>
        </p:spPr>
      </p:pic>
      <p:sp>
        <p:nvSpPr>
          <p:cNvPr id="49" name="Text 27"/>
          <p:cNvSpPr txBox="1"/>
          <p:nvPr/>
        </p:nvSpPr>
        <p:spPr>
          <a:xfrm>
            <a:off x="6402288" y="3237458"/>
            <a:ext cx="209848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🏛️</a:t>
            </a:r>
            <a:endParaRPr lang="en-US" sz="1200" dirty="0"/>
          </a:p>
        </p:txBody>
      </p:sp>
      <p:sp>
        <p:nvSpPr>
          <p:cNvPr id="50" name="Text 28"/>
          <p:cNvSpPr txBox="1"/>
          <p:nvPr/>
        </p:nvSpPr>
        <p:spPr>
          <a:xfrm>
            <a:off x="6735961" y="3106043"/>
            <a:ext cx="4541639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Failure Museum — 3 fails per lab</a:t>
            </a:r>
            <a:endParaRPr lang="en-US" sz="900" dirty="0"/>
          </a:p>
        </p:txBody>
      </p:sp>
      <p:sp>
        <p:nvSpPr>
          <p:cNvPr id="51" name="Text 29"/>
          <p:cNvSpPr txBox="1"/>
          <p:nvPr/>
        </p:nvSpPr>
        <p:spPr>
          <a:xfrm>
            <a:off x="6735961" y="3267968"/>
            <a:ext cx="4541639" cy="3104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Example: </a:t>
            </a:r>
            <a:pPr indent="0" marL="0">
              <a:buNone/>
            </a:pPr>
            <a:r>
              <a:rPr lang="en-US" sz="90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LED always ON</a:t>
            </a:r>
            <a:pPr indent="0" marL="0">
              <a:buNone/>
            </a:pPr>
            <a:r>
              <a:rPr lang="en-US" sz="9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bias was -2 → try -1 • Builds growth mindset: "Watch me fail first, then fix" • No fear of mistakes</a:t>
            </a:r>
            <a:endParaRPr lang="en-US" sz="900" dirty="0"/>
          </a:p>
        </p:txBody>
      </p:sp>
      <p:sp>
        <p:nvSpPr>
          <p:cNvPr id="52" name="Shape 30"/>
          <p:cNvSpPr/>
          <p:nvPr/>
        </p:nvSpPr>
        <p:spPr>
          <a:xfrm>
            <a:off x="6210300" y="3857625"/>
            <a:ext cx="1676400" cy="771525"/>
          </a:xfrm>
          <a:prstGeom prst="roundRect">
            <a:avLst>
              <a:gd name="adj" fmla="val 14815"/>
            </a:avLst>
          </a:prstGeom>
          <a:solidFill>
            <a:srgbClr val="F9F8E4"/>
          </a:solidFill>
          <a:ln/>
        </p:spPr>
      </p:sp>
      <p:sp>
        <p:nvSpPr>
          <p:cNvPr id="53" name="Text 31"/>
          <p:cNvSpPr txBox="1"/>
          <p:nvPr/>
        </p:nvSpPr>
        <p:spPr>
          <a:xfrm>
            <a:off x="6325642" y="3968948"/>
            <a:ext cx="1450479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📄</a:t>
            </a:r>
            <a:endParaRPr lang="en-US" sz="1350" dirty="0"/>
          </a:p>
        </p:txBody>
      </p:sp>
      <p:sp>
        <p:nvSpPr>
          <p:cNvPr id="54" name="Text 32"/>
          <p:cNvSpPr txBox="1"/>
          <p:nvPr/>
        </p:nvSpPr>
        <p:spPr>
          <a:xfrm>
            <a:off x="6325642" y="4235648"/>
            <a:ext cx="145062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Printable cards</a:t>
            </a:r>
            <a:endParaRPr lang="en-US" sz="825" dirty="0"/>
          </a:p>
        </p:txBody>
      </p:sp>
      <p:sp>
        <p:nvSpPr>
          <p:cNvPr id="55" name="Text 33"/>
          <p:cNvSpPr txBox="1"/>
          <p:nvPr/>
        </p:nvSpPr>
        <p:spPr>
          <a:xfrm>
            <a:off x="6325642" y="4392811"/>
            <a:ext cx="145047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1-page PDF</a:t>
            </a:r>
            <a:endParaRPr lang="en-US" sz="750" dirty="0"/>
          </a:p>
        </p:txBody>
      </p:sp>
      <p:sp>
        <p:nvSpPr>
          <p:cNvPr id="56" name="Shape 34"/>
          <p:cNvSpPr/>
          <p:nvPr/>
        </p:nvSpPr>
        <p:spPr>
          <a:xfrm>
            <a:off x="7981950" y="3857625"/>
            <a:ext cx="1676400" cy="771525"/>
          </a:xfrm>
          <a:prstGeom prst="roundRect">
            <a:avLst>
              <a:gd name="adj" fmla="val 14815"/>
            </a:avLst>
          </a:prstGeom>
          <a:solidFill>
            <a:srgbClr val="F9F8E4"/>
          </a:solidFill>
          <a:ln/>
        </p:spPr>
      </p:sp>
      <p:sp>
        <p:nvSpPr>
          <p:cNvPr id="57" name="Text 35"/>
          <p:cNvSpPr txBox="1"/>
          <p:nvPr/>
        </p:nvSpPr>
        <p:spPr>
          <a:xfrm>
            <a:off x="8100120" y="3968948"/>
            <a:ext cx="1450479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📱</a:t>
            </a:r>
            <a:endParaRPr lang="en-US" sz="1350" dirty="0"/>
          </a:p>
        </p:txBody>
      </p:sp>
      <p:sp>
        <p:nvSpPr>
          <p:cNvPr id="58" name="Text 36"/>
          <p:cNvSpPr txBox="1"/>
          <p:nvPr/>
        </p:nvSpPr>
        <p:spPr>
          <a:xfrm>
            <a:off x="8100120" y="4235648"/>
            <a:ext cx="145062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Offline PWA</a:t>
            </a:r>
            <a:endParaRPr lang="en-US" sz="825" dirty="0"/>
          </a:p>
        </p:txBody>
      </p:sp>
      <p:sp>
        <p:nvSpPr>
          <p:cNvPr id="59" name="Text 37"/>
          <p:cNvSpPr txBox="1"/>
          <p:nvPr/>
        </p:nvSpPr>
        <p:spPr>
          <a:xfrm>
            <a:off x="8100120" y="4392811"/>
            <a:ext cx="145047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After 1st load</a:t>
            </a:r>
            <a:endParaRPr lang="en-US" sz="750" dirty="0"/>
          </a:p>
        </p:txBody>
      </p:sp>
      <p:sp>
        <p:nvSpPr>
          <p:cNvPr id="60" name="Shape 38"/>
          <p:cNvSpPr/>
          <p:nvPr/>
        </p:nvSpPr>
        <p:spPr>
          <a:xfrm>
            <a:off x="9763125" y="3857625"/>
            <a:ext cx="1676400" cy="771525"/>
          </a:xfrm>
          <a:prstGeom prst="roundRect">
            <a:avLst>
              <a:gd name="adj" fmla="val 14815"/>
            </a:avLst>
          </a:prstGeom>
          <a:solidFill>
            <a:srgbClr val="F9F8E4"/>
          </a:solidFill>
          <a:ln/>
        </p:spPr>
      </p:sp>
      <p:sp>
        <p:nvSpPr>
          <p:cNvPr id="61" name="Text 39"/>
          <p:cNvSpPr txBox="1"/>
          <p:nvPr/>
        </p:nvSpPr>
        <p:spPr>
          <a:xfrm>
            <a:off x="9874597" y="3968948"/>
            <a:ext cx="1450479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♿</a:t>
            </a:r>
            <a:endParaRPr lang="en-US" sz="1350" dirty="0"/>
          </a:p>
        </p:txBody>
      </p:sp>
      <p:sp>
        <p:nvSpPr>
          <p:cNvPr id="62" name="Text 40"/>
          <p:cNvSpPr txBox="1"/>
          <p:nvPr/>
        </p:nvSpPr>
        <p:spPr>
          <a:xfrm>
            <a:off x="9874597" y="4235648"/>
            <a:ext cx="145047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Accessible</a:t>
            </a:r>
            <a:endParaRPr lang="en-US" sz="825" dirty="0"/>
          </a:p>
        </p:txBody>
      </p:sp>
      <p:sp>
        <p:nvSpPr>
          <p:cNvPr id="63" name="Text 41"/>
          <p:cNvSpPr txBox="1"/>
          <p:nvPr/>
        </p:nvSpPr>
        <p:spPr>
          <a:xfrm>
            <a:off x="9874597" y="4392811"/>
            <a:ext cx="145062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Font toggle + high contrast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77600" cy="4524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spcAft>
                <a:spcPts val="750"/>
              </a:spcAft>
              <a:buNone/>
            </a:pPr>
            <a:r>
              <a:rPr lang="en-US" sz="3750" b="1" spc="-75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Where analogies break — preventing misconceptions</a:t>
            </a:r>
            <a:endParaRPr lang="en-US" sz="3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3938"/>
            <a:ext cx="81915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1650"/>
              </a:spcAft>
              <a:buNone/>
            </a:pPr>
            <a:r>
              <a:rPr lang="en-US" sz="1125" dirty="0">
                <a:solidFill>
                  <a:srgbClr val="58554E">
                    <a:alpha val="8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 teach the limit of every story. That’s how your child learns to think, not just memorize. Every week has </a:t>
            </a:r>
            <a:pPr indent="0" marL="0">
              <a:buNone/>
            </a:pPr>
            <a:r>
              <a:rPr lang="en-US" sz="1125" i="1" dirty="0">
                <a:solidFill>
                  <a:srgbClr val="58554E">
                    <a:alpha val="8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Where it breaks</a:t>
            </a:r>
            <a:pPr indent="0" marL="0">
              <a:buNone/>
            </a:pPr>
            <a:r>
              <a:rPr lang="en-US" sz="1125" dirty="0">
                <a:solidFill>
                  <a:srgbClr val="58554E">
                    <a:alpha val="8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</a:t>
            </a:r>
            <a:pPr indent="0" marL="0">
              <a:buNone/>
            </a:pPr>
            <a:r>
              <a:rPr lang="en-US" sz="1125" i="1" dirty="0">
                <a:solidFill>
                  <a:srgbClr val="58554E">
                    <a:alpha val="8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Common Wrong</a:t>
            </a:r>
            <a:pPr indent="0" marL="0">
              <a:buNone/>
            </a:pPr>
            <a:r>
              <a:rPr lang="en-US" sz="1125" dirty="0">
                <a:solidFill>
                  <a:srgbClr val="58554E">
                    <a:alpha val="8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and </a:t>
            </a:r>
            <a:pPr indent="0" marL="0">
              <a:buNone/>
            </a:pPr>
            <a:r>
              <a:rPr lang="en-US" sz="1125" i="1" dirty="0">
                <a:solidFill>
                  <a:srgbClr val="58554E">
                    <a:alpha val="8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if?</a:t>
            </a:r>
            <a:pPr indent="0" marL="0">
              <a:buNone/>
            </a:pPr>
            <a:r>
              <a:rPr lang="en-US" sz="1125" dirty="0">
                <a:solidFill>
                  <a:srgbClr val="58554E">
                    <a:alpha val="8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to test immediately.</a:t>
            </a:r>
            <a:endParaRPr lang="en-US" sz="11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414463"/>
            <a:ext cx="4000500" cy="52911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66725" y="1652588"/>
            <a:ext cx="3638550" cy="38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657225" y="1852612"/>
            <a:ext cx="32575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66" kern="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EXAMPLE • WEEK 2 • CLASSIFICATION</a:t>
            </a:r>
            <a:endParaRPr lang="en-US" sz="825" dirty="0"/>
          </a:p>
        </p:txBody>
      </p:sp>
      <p:sp>
        <p:nvSpPr>
          <p:cNvPr id="7" name="Text 4"/>
          <p:cNvSpPr txBox="1"/>
          <p:nvPr/>
        </p:nvSpPr>
        <p:spPr>
          <a:xfrm>
            <a:off x="657225" y="2076450"/>
            <a:ext cx="325755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Bouncer at Club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381250"/>
            <a:ext cx="551408" cy="2381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2950" y="2438400"/>
            <a:ext cx="37995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45" kern="0" dirty="0">
                <a:solidFill>
                  <a:srgbClr val="2F6B43"/>
                </a:solidFill>
                <a:highlight>
                  <a:srgbClr val="E6EDE8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WORKS</a:t>
            </a:r>
            <a:endParaRPr lang="en-US" sz="750" dirty="0"/>
          </a:p>
        </p:txBody>
      </p:sp>
      <p:sp>
        <p:nvSpPr>
          <p:cNvPr id="10" name="Text 6"/>
          <p:cNvSpPr txBox="1"/>
          <p:nvPr/>
        </p:nvSpPr>
        <p:spPr>
          <a:xfrm>
            <a:off x="1284833" y="2390775"/>
            <a:ext cx="2629942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58554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Sorting people by rules — like a neuron sorting inputs (allow / deny). Easy to picture.</a:t>
            </a:r>
            <a:endParaRPr lang="en-US" sz="1013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938463"/>
            <a:ext cx="576411" cy="23812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2950" y="2995613"/>
            <a:ext cx="40496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45" kern="0" dirty="0">
                <a:solidFill>
                  <a:srgbClr val="B1531E"/>
                </a:solidFill>
                <a:highlight>
                  <a:srgbClr val="F6EA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BREAKS</a:t>
            </a:r>
            <a:endParaRPr lang="en-US" sz="750" dirty="0"/>
          </a:p>
        </p:txBody>
      </p:sp>
      <p:sp>
        <p:nvSpPr>
          <p:cNvPr id="13" name="Text 8"/>
          <p:cNvSpPr txBox="1"/>
          <p:nvPr/>
        </p:nvSpPr>
        <p:spPr>
          <a:xfrm>
            <a:off x="1309836" y="2947988"/>
            <a:ext cx="2604939" cy="5691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spcAft>
                <a:spcPts val="600"/>
              </a:spcAft>
              <a:buNone/>
            </a:pPr>
            <a:r>
              <a:rPr lang="en-US" sz="1013" b="1" dirty="0">
                <a:solidFill>
                  <a:srgbClr val="58554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Bouncer doesn't learn.</a:t>
            </a:r>
            <a:pPr indent="0" marL="0">
              <a:buNone/>
            </a:pPr>
            <a:r>
              <a:rPr lang="en-US" sz="1013" dirty="0">
                <a:solidFill>
                  <a:srgbClr val="58554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Real neuron does — via backprop adjusting weights. We say that out loud.</a:t>
            </a:r>
            <a:endParaRPr lang="en-US" sz="1013" dirty="0"/>
          </a:p>
        </p:txBody>
      </p:sp>
      <p:sp>
        <p:nvSpPr>
          <p:cNvPr id="14" name="Shape 9"/>
          <p:cNvSpPr/>
          <p:nvPr/>
        </p:nvSpPr>
        <p:spPr>
          <a:xfrm>
            <a:off x="647700" y="3781425"/>
            <a:ext cx="3257550" cy="9525"/>
          </a:xfrm>
          <a:prstGeom prst="rect">
            <a:avLst/>
          </a:prstGeom>
          <a:solidFill>
            <a:srgbClr val="271D14">
              <a:alpha val="10000"/>
            </a:srgbClr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57225" y="3898106"/>
            <a:ext cx="3257550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Common Wrong:</a:t>
            </a:r>
            <a:pPr indent="0" marL="0">
              <a:buNone/>
            </a:pPr>
            <a:r>
              <a:rPr lang="en-US" sz="938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“If it says no once, it always says no.” </a:t>
            </a:r>
            <a:pPr indent="0" marL="0">
              <a:buNone/>
            </a:pPr>
            <a:r>
              <a:rPr lang="en-US" sz="938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→ Actually, new data retrains it.</a:t>
            </a:r>
            <a:endParaRPr lang="en-US" sz="938" dirty="0"/>
          </a:p>
        </p:txBody>
      </p:sp>
      <p:sp>
        <p:nvSpPr>
          <p:cNvPr id="16" name="Shape 11"/>
          <p:cNvSpPr/>
          <p:nvPr/>
        </p:nvSpPr>
        <p:spPr>
          <a:xfrm>
            <a:off x="647700" y="5591175"/>
            <a:ext cx="3257550" cy="714375"/>
          </a:xfrm>
          <a:prstGeom prst="roundRect">
            <a:avLst>
              <a:gd name="adj" fmla="val 13333"/>
            </a:avLst>
          </a:prstGeom>
          <a:solidFill>
            <a:srgbClr val="F9F8E4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71525" y="5703094"/>
            <a:ext cx="30289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60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IF TEST</a:t>
            </a:r>
            <a:endParaRPr lang="en-US" sz="750" dirty="0"/>
          </a:p>
        </p:txBody>
      </p:sp>
      <p:sp>
        <p:nvSpPr>
          <p:cNvPr id="18" name="Text 13"/>
          <p:cNvSpPr txBox="1"/>
          <p:nvPr/>
        </p:nvSpPr>
        <p:spPr>
          <a:xfrm>
            <a:off x="771525" y="5884069"/>
            <a:ext cx="3028950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if music changes? Does bouncer rule still work? → Leads to bias discussion.</a:t>
            </a:r>
            <a:endParaRPr lang="en-US" sz="938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0" y="1414463"/>
            <a:ext cx="4000500" cy="52911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276725" y="1652588"/>
            <a:ext cx="3638550" cy="38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4467225" y="1852612"/>
            <a:ext cx="32575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66" kern="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EXAMPLE • L3 W1 • NEURAL NETS</a:t>
            </a:r>
            <a:endParaRPr lang="en-US" sz="825" dirty="0"/>
          </a:p>
        </p:txBody>
      </p:sp>
      <p:sp>
        <p:nvSpPr>
          <p:cNvPr id="22" name="Text 16"/>
          <p:cNvSpPr txBox="1"/>
          <p:nvPr/>
        </p:nvSpPr>
        <p:spPr>
          <a:xfrm>
            <a:off x="4467225" y="2076450"/>
            <a:ext cx="325755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LEGO Neurons</a:t>
            </a:r>
            <a:endParaRPr lang="en-US" sz="15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7225" y="2381250"/>
            <a:ext cx="551408" cy="23812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552950" y="2438400"/>
            <a:ext cx="37995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45" kern="0" dirty="0">
                <a:solidFill>
                  <a:srgbClr val="2F6B43"/>
                </a:solidFill>
                <a:highlight>
                  <a:srgbClr val="E6EDE8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WORKS</a:t>
            </a:r>
            <a:endParaRPr lang="en-US" sz="750" dirty="0"/>
          </a:p>
        </p:txBody>
      </p:sp>
      <p:sp>
        <p:nvSpPr>
          <p:cNvPr id="25" name="Text 18"/>
          <p:cNvSpPr txBox="1"/>
          <p:nvPr/>
        </p:nvSpPr>
        <p:spPr>
          <a:xfrm>
            <a:off x="5094833" y="2390775"/>
            <a:ext cx="2629942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58554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Bricks stack to build a decision. Add more bricks, more complex idea — like layers.</a:t>
            </a:r>
            <a:endParaRPr lang="en-US" sz="1013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7225" y="2938463"/>
            <a:ext cx="576411" cy="23812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552950" y="2995613"/>
            <a:ext cx="40496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45" kern="0" dirty="0">
                <a:solidFill>
                  <a:srgbClr val="B1531E"/>
                </a:solidFill>
                <a:highlight>
                  <a:srgbClr val="F6EA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BREAKS</a:t>
            </a:r>
            <a:endParaRPr lang="en-US" sz="750" dirty="0"/>
          </a:p>
        </p:txBody>
      </p:sp>
      <p:sp>
        <p:nvSpPr>
          <p:cNvPr id="28" name="Text 20"/>
          <p:cNvSpPr txBox="1"/>
          <p:nvPr/>
        </p:nvSpPr>
        <p:spPr>
          <a:xfrm>
            <a:off x="5119836" y="2947988"/>
            <a:ext cx="2604939" cy="5691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spcAft>
                <a:spcPts val="600"/>
              </a:spcAft>
              <a:buNone/>
            </a:pPr>
            <a:r>
              <a:rPr lang="en-US" sz="1013" b="1" dirty="0">
                <a:solidFill>
                  <a:srgbClr val="58554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Bricks are not continuous.</a:t>
            </a:r>
            <a:pPr indent="0" marL="0">
              <a:buNone/>
            </a:pPr>
            <a:r>
              <a:rPr lang="en-US" sz="1013" dirty="0">
                <a:solidFill>
                  <a:srgbClr val="58554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Real weights are 0.73, -0.12, not just 0 or 1. LEGO steps, nature slides.</a:t>
            </a:r>
            <a:endParaRPr lang="en-US" sz="1013" dirty="0"/>
          </a:p>
        </p:txBody>
      </p:sp>
      <p:sp>
        <p:nvSpPr>
          <p:cNvPr id="29" name="Shape 21"/>
          <p:cNvSpPr/>
          <p:nvPr/>
        </p:nvSpPr>
        <p:spPr>
          <a:xfrm>
            <a:off x="4457700" y="3781425"/>
            <a:ext cx="3257550" cy="9525"/>
          </a:xfrm>
          <a:prstGeom prst="rect">
            <a:avLst/>
          </a:prstGeom>
          <a:solidFill>
            <a:srgbClr val="271D14">
              <a:alpha val="10000"/>
            </a:srgbClr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4467225" y="3898106"/>
            <a:ext cx="3257550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Common Wrong:</a:t>
            </a:r>
            <a:pPr indent="0" marL="0">
              <a:buNone/>
            </a:pPr>
            <a:r>
              <a:rPr lang="en-US" sz="938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“More bricks = smarter.” </a:t>
            </a:r>
            <a:pPr indent="0" marL="0">
              <a:buNone/>
            </a:pPr>
            <a:r>
              <a:rPr lang="en-US" sz="938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→ Actually, too many bricks = overfitting — memorizes, doesn't generalize.</a:t>
            </a:r>
            <a:endParaRPr lang="en-US" sz="938" dirty="0"/>
          </a:p>
        </p:txBody>
      </p:sp>
      <p:sp>
        <p:nvSpPr>
          <p:cNvPr id="31" name="Shape 23"/>
          <p:cNvSpPr/>
          <p:nvPr/>
        </p:nvSpPr>
        <p:spPr>
          <a:xfrm>
            <a:off x="4457700" y="5591175"/>
            <a:ext cx="3257550" cy="714375"/>
          </a:xfrm>
          <a:prstGeom prst="roundRect">
            <a:avLst>
              <a:gd name="adj" fmla="val 13333"/>
            </a:avLst>
          </a:prstGeom>
          <a:solidFill>
            <a:srgbClr val="F9F8E4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4581525" y="5703094"/>
            <a:ext cx="30289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60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IF TEST</a:t>
            </a:r>
            <a:endParaRPr lang="en-US" sz="750" dirty="0"/>
          </a:p>
        </p:txBody>
      </p:sp>
      <p:sp>
        <p:nvSpPr>
          <p:cNvPr id="33" name="Text 25"/>
          <p:cNvSpPr txBox="1"/>
          <p:nvPr/>
        </p:nvSpPr>
        <p:spPr>
          <a:xfrm>
            <a:off x="4581525" y="5884069"/>
            <a:ext cx="3028950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if we use tiny bricks? → Introduces weight precision concept.</a:t>
            </a:r>
            <a:endParaRPr lang="en-US" sz="938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0" y="1414463"/>
            <a:ext cx="4000500" cy="529113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086725" y="1652588"/>
            <a:ext cx="3638550" cy="38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7225" y="1843088"/>
            <a:ext cx="304800" cy="3048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391079" y="1885950"/>
            <a:ext cx="190946" cy="26193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?</a:t>
            </a:r>
            <a:endParaRPr lang="en-US" sz="1350" dirty="0"/>
          </a:p>
        </p:txBody>
      </p:sp>
      <p:sp>
        <p:nvSpPr>
          <p:cNvPr id="38" name="Text 28"/>
          <p:cNvSpPr txBox="1"/>
          <p:nvPr/>
        </p:nvSpPr>
        <p:spPr>
          <a:xfrm>
            <a:off x="8658225" y="1926431"/>
            <a:ext cx="200843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LIVE SIMULATOR CHECK • L3 U1 W2</a:t>
            </a:r>
            <a:endParaRPr lang="en-US" sz="825" dirty="0"/>
          </a:p>
        </p:txBody>
      </p:sp>
      <p:sp>
        <p:nvSpPr>
          <p:cNvPr id="39" name="Text 29"/>
          <p:cNvSpPr txBox="1"/>
          <p:nvPr/>
        </p:nvSpPr>
        <p:spPr>
          <a:xfrm>
            <a:off x="8277225" y="2224088"/>
            <a:ext cx="3257550" cy="4191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“Many think weight = 0 ignores input”</a:t>
            </a:r>
            <a:endParaRPr lang="en-US" sz="1500" dirty="0"/>
          </a:p>
        </p:txBody>
      </p:sp>
      <p:sp>
        <p:nvSpPr>
          <p:cNvPr id="40" name="Text 30"/>
          <p:cNvSpPr txBox="1"/>
          <p:nvPr/>
        </p:nvSpPr>
        <p:spPr>
          <a:xfrm>
            <a:off x="8277225" y="2747963"/>
            <a:ext cx="3257550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58554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Correct, but </a:t>
            </a:r>
            <a:pPr indent="0" marL="0">
              <a:buNone/>
            </a:pPr>
            <a:r>
              <a:rPr lang="en-US" sz="1013" b="1" dirty="0">
                <a:solidFill>
                  <a:srgbClr val="58554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bias still matters — LED may still be ON</a:t>
            </a:r>
            <a:pPr indent="0" marL="0">
              <a:buNone/>
            </a:pPr>
            <a:r>
              <a:rPr lang="en-US" sz="1013" dirty="0">
                <a:solidFill>
                  <a:srgbClr val="58554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Kids miss this.</a:t>
            </a:r>
            <a:endParaRPr lang="en-US" sz="1013" dirty="0"/>
          </a:p>
        </p:txBody>
      </p:sp>
      <p:sp>
        <p:nvSpPr>
          <p:cNvPr id="41" name="Shape 31"/>
          <p:cNvSpPr/>
          <p:nvPr/>
        </p:nvSpPr>
        <p:spPr>
          <a:xfrm>
            <a:off x="8267700" y="3295650"/>
            <a:ext cx="3257550" cy="9525"/>
          </a:xfrm>
          <a:prstGeom prst="rect">
            <a:avLst/>
          </a:prstGeom>
          <a:solidFill>
            <a:srgbClr val="271D14">
              <a:alpha val="10000"/>
            </a:srgbClr>
          </a:solidFill>
          <a:ln/>
        </p:spPr>
      </p:sp>
      <p:sp>
        <p:nvSpPr>
          <p:cNvPr id="42" name="Shape 32"/>
          <p:cNvSpPr/>
          <p:nvPr/>
        </p:nvSpPr>
        <p:spPr>
          <a:xfrm>
            <a:off x="8267700" y="3400425"/>
            <a:ext cx="3257550" cy="1038225"/>
          </a:xfrm>
          <a:prstGeom prst="roundRect">
            <a:avLst>
              <a:gd name="adj" fmla="val 11009"/>
            </a:avLst>
          </a:prstGeom>
          <a:solidFill>
            <a:srgbClr val="241E18"/>
          </a:solidFill>
          <a:ln/>
        </p:spPr>
      </p:sp>
      <p:sp>
        <p:nvSpPr>
          <p:cNvPr id="43" name="Text 33"/>
          <p:cNvSpPr txBox="1"/>
          <p:nvPr/>
        </p:nvSpPr>
        <p:spPr>
          <a:xfrm>
            <a:off x="8410575" y="3543300"/>
            <a:ext cx="29908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spc="60" kern="0" dirty="0">
                <a:solidFill>
                  <a:srgbClr val="F9F8E4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TRY NOW IN CLASS</a:t>
            </a:r>
            <a:endParaRPr lang="en-US" sz="750" dirty="0"/>
          </a:p>
        </p:txBody>
      </p:sp>
      <p:sp>
        <p:nvSpPr>
          <p:cNvPr id="44" name="Text 34"/>
          <p:cNvSpPr txBox="1"/>
          <p:nvPr/>
        </p:nvSpPr>
        <p:spPr>
          <a:xfrm>
            <a:off x="8410575" y="3752850"/>
            <a:ext cx="2990850" cy="547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9F8E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w1=0, w2=1, bias = +0.2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9F8E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Input 0,0 → 0*0+1*0+0.2 = 0.2 → ON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BF8A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→ Weight zero didn't block bias</a:t>
            </a:r>
            <a:endParaRPr lang="en-US" sz="975" dirty="0"/>
          </a:p>
        </p:txBody>
      </p:sp>
      <p:sp>
        <p:nvSpPr>
          <p:cNvPr id="45" name="Shape 35"/>
          <p:cNvSpPr/>
          <p:nvPr/>
        </p:nvSpPr>
        <p:spPr>
          <a:xfrm>
            <a:off x="8267700" y="5591175"/>
            <a:ext cx="3257550" cy="714375"/>
          </a:xfrm>
          <a:prstGeom prst="roundRect">
            <a:avLst>
              <a:gd name="adj" fmla="val 13333"/>
            </a:avLst>
          </a:prstGeom>
          <a:solidFill>
            <a:srgbClr val="F7EEE9"/>
          </a:solidFill>
          <a:ln/>
        </p:spPr>
      </p:sp>
      <p:sp>
        <p:nvSpPr>
          <p:cNvPr id="46" name="Text 36"/>
          <p:cNvSpPr txBox="1"/>
          <p:nvPr/>
        </p:nvSpPr>
        <p:spPr>
          <a:xfrm>
            <a:off x="8391525" y="5703094"/>
            <a:ext cx="30289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60" kern="0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IF BIAS +5?</a:t>
            </a:r>
            <a:endParaRPr lang="en-US" sz="750" dirty="0"/>
          </a:p>
        </p:txBody>
      </p:sp>
      <p:sp>
        <p:nvSpPr>
          <p:cNvPr id="47" name="Text 37"/>
          <p:cNvSpPr txBox="1"/>
          <p:nvPr/>
        </p:nvSpPr>
        <p:spPr>
          <a:xfrm>
            <a:off x="8391525" y="5884069"/>
            <a:ext cx="3028950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→ Always ON, regardless of inputs. Kids slide it live and see.</a:t>
            </a:r>
            <a:endParaRPr lang="en-US" sz="93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457200"/>
            <a:ext cx="11201400" cy="84117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spcAft>
                <a:spcPts val="600"/>
              </a:spcAft>
              <a:buNone/>
            </a:pPr>
            <a:r>
              <a:rPr lang="en-US" sz="3450" b="1" spc="-69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Choice Board + Real Audience — Every child finds their way</a:t>
            </a:r>
            <a:endParaRPr lang="en-US" sz="3450" dirty="0"/>
          </a:p>
        </p:txBody>
      </p:sp>
      <p:sp>
        <p:nvSpPr>
          <p:cNvPr id="3" name="Text 1"/>
          <p:cNvSpPr txBox="1"/>
          <p:nvPr/>
        </p:nvSpPr>
        <p:spPr>
          <a:xfrm>
            <a:off x="495300" y="1393627"/>
            <a:ext cx="1120140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1650"/>
              </a:spcAft>
              <a:buNone/>
            </a:pPr>
            <a:r>
              <a:rPr lang="en-US" sz="975" spc="20" kern="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Same core skill, three doors in. Real people watching — not just teacher marks.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541264"/>
            <a:ext cx="3975050" cy="198253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969889"/>
            <a:ext cx="1516856" cy="25717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1525" y="2036564"/>
            <a:ext cx="132635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2F6B43"/>
                </a:solidFill>
                <a:highlight>
                  <a:srgbClr val="E2EAE5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OPTION A • SCIENCE FAIR</a:t>
            </a:r>
            <a:endParaRPr lang="en-US" sz="750" dirty="0"/>
          </a:p>
        </p:txBody>
      </p:sp>
      <p:sp>
        <p:nvSpPr>
          <p:cNvPr id="7" name="Text 3"/>
          <p:cNvSpPr txBox="1"/>
          <p:nvPr/>
        </p:nvSpPr>
        <p:spPr>
          <a:xfrm>
            <a:off x="3732461" y="1988939"/>
            <a:ext cx="214015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🔬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676275" y="2341364"/>
            <a:ext cx="3270200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spcAft>
                <a:spcPts val="450"/>
              </a:spcAft>
              <a:buNone/>
            </a:pPr>
            <a:r>
              <a:rPr lang="en-US" sz="1350" b="1" spc="-20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AND gate science board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676275" y="2596604"/>
            <a:ext cx="3270200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58554E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Build weighted voting with cards. Show w·x+b → LED.</a:t>
            </a:r>
            <a:endParaRPr lang="en-US" sz="97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861816"/>
            <a:ext cx="3270200" cy="27146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52475" y="2928491"/>
            <a:ext cx="31178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Skill: Weights + bias logic</a:t>
            </a:r>
            <a:endParaRPr lang="en-US" sz="825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400" y="1541264"/>
            <a:ext cx="3975050" cy="1982539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825" y="1969889"/>
            <a:ext cx="1322487" cy="25717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556075" y="2036564"/>
            <a:ext cx="113198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2A5DB0"/>
                </a:solidFill>
                <a:highlight>
                  <a:srgbClr val="E4EEFE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OPTION B • GAME LAB</a:t>
            </a:r>
            <a:endParaRPr lang="en-US" sz="750" dirty="0"/>
          </a:p>
        </p:txBody>
      </p:sp>
      <p:sp>
        <p:nvSpPr>
          <p:cNvPr id="15" name="Text 8"/>
          <p:cNvSpPr txBox="1"/>
          <p:nvPr/>
        </p:nvSpPr>
        <p:spPr>
          <a:xfrm>
            <a:off x="7517011" y="1988939"/>
            <a:ext cx="214015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🎮</a:t>
            </a:r>
            <a:endParaRPr lang="en-US" sz="1350" dirty="0"/>
          </a:p>
        </p:txBody>
      </p:sp>
      <p:sp>
        <p:nvSpPr>
          <p:cNvPr id="16" name="Text 9"/>
          <p:cNvSpPr txBox="1"/>
          <p:nvPr/>
        </p:nvSpPr>
        <p:spPr>
          <a:xfrm>
            <a:off x="4460825" y="2341364"/>
            <a:ext cx="3270200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spcAft>
                <a:spcPts val="450"/>
              </a:spcAft>
              <a:buNone/>
            </a:pPr>
            <a:r>
              <a:rPr lang="en-US" sz="1350" b="1" spc="-20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Bouncer decides who enters</a:t>
            </a:r>
            <a:endParaRPr lang="en-US" sz="1350" dirty="0"/>
          </a:p>
        </p:txBody>
      </p:sp>
      <p:sp>
        <p:nvSpPr>
          <p:cNvPr id="17" name="Text 10"/>
          <p:cNvSpPr txBox="1"/>
          <p:nvPr/>
        </p:nvSpPr>
        <p:spPr>
          <a:xfrm>
            <a:off x="4460825" y="2596604"/>
            <a:ext cx="3270200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58554E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Game character filters players by 2 rules. Fail? Fix bias.</a:t>
            </a:r>
            <a:endParaRPr lang="en-US" sz="975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0825" y="2861816"/>
            <a:ext cx="3270200" cy="271463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537025" y="2928491"/>
            <a:ext cx="31178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Same skill, play context</a:t>
            </a:r>
            <a:endParaRPr lang="en-US" sz="825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2951" y="1541264"/>
            <a:ext cx="3975199" cy="1982539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5376" y="1969889"/>
            <a:ext cx="1421160" cy="257175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8340626" y="2036564"/>
            <a:ext cx="123066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B1531E"/>
                </a:solidFill>
                <a:highlight>
                  <a:srgbClr val="F4E7E0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OPTION C • ART STUDIO</a:t>
            </a:r>
            <a:endParaRPr lang="en-US" sz="750" dirty="0"/>
          </a:p>
        </p:txBody>
      </p:sp>
      <p:sp>
        <p:nvSpPr>
          <p:cNvPr id="23" name="Text 13"/>
          <p:cNvSpPr txBox="1"/>
          <p:nvPr/>
        </p:nvSpPr>
        <p:spPr>
          <a:xfrm>
            <a:off x="11301710" y="1988939"/>
            <a:ext cx="214015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🎨</a:t>
            </a:r>
            <a:endParaRPr lang="en-US" sz="1350" dirty="0"/>
          </a:p>
        </p:txBody>
      </p:sp>
      <p:sp>
        <p:nvSpPr>
          <p:cNvPr id="24" name="Text 14"/>
          <p:cNvSpPr txBox="1"/>
          <p:nvPr/>
        </p:nvSpPr>
        <p:spPr>
          <a:xfrm>
            <a:off x="8245376" y="2341364"/>
            <a:ext cx="3270349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spcAft>
                <a:spcPts val="450"/>
              </a:spcAft>
              <a:buNone/>
            </a:pPr>
            <a:r>
              <a:rPr lang="en-US" sz="1350" b="1" spc="-20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Light Switch controls LED art</a:t>
            </a:r>
            <a:endParaRPr lang="en-US" sz="1350" dirty="0"/>
          </a:p>
        </p:txBody>
      </p:sp>
      <p:sp>
        <p:nvSpPr>
          <p:cNvPr id="25" name="Text 15"/>
          <p:cNvSpPr txBox="1"/>
          <p:nvPr/>
        </p:nvSpPr>
        <p:spPr>
          <a:xfrm>
            <a:off x="8245376" y="2596604"/>
            <a:ext cx="3270349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58554E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Diwali lights pattern reacts to inputs — art that thinks.</a:t>
            </a:r>
            <a:endParaRPr lang="en-US" sz="975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5376" y="2861816"/>
            <a:ext cx="3270349" cy="271463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8321576" y="2928491"/>
            <a:ext cx="311794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Same skill, creative voice</a:t>
            </a:r>
            <a:endParaRPr lang="en-US" sz="825" dirty="0"/>
          </a:p>
        </p:txBody>
      </p:sp>
      <p:sp>
        <p:nvSpPr>
          <p:cNvPr id="28" name="Shape 17"/>
          <p:cNvSpPr/>
          <p:nvPr/>
        </p:nvSpPr>
        <p:spPr>
          <a:xfrm>
            <a:off x="495300" y="3467100"/>
            <a:ext cx="6353175" cy="1552575"/>
          </a:xfrm>
          <a:prstGeom prst="roundRect">
            <a:avLst>
              <a:gd name="adj" fmla="val 9816"/>
            </a:avLst>
          </a:prstGeom>
          <a:solidFill>
            <a:srgbClr val="241E18"/>
          </a:solidFill>
          <a:ln/>
        </p:spPr>
      </p:sp>
      <p:sp>
        <p:nvSpPr>
          <p:cNvPr id="29" name="Text 18"/>
          <p:cNvSpPr txBox="1"/>
          <p:nvPr/>
        </p:nvSpPr>
        <p:spPr>
          <a:xfrm>
            <a:off x="666750" y="3647926"/>
            <a:ext cx="6010275" cy="1827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spc="-1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 Audience → 60-sec pitch</a:t>
            </a:r>
            <a:endParaRPr lang="en-US" sz="1200" dirty="0"/>
          </a:p>
        </p:txBody>
      </p:sp>
      <p:sp>
        <p:nvSpPr>
          <p:cNvPr id="30" name="Text 19"/>
          <p:cNvSpPr txBox="1"/>
          <p:nvPr/>
        </p:nvSpPr>
        <p:spPr>
          <a:xfrm>
            <a:off x="666750" y="3897362"/>
            <a:ext cx="6010275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58554E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Portfolio builds live. Demo Day at L4 end — parents, other class, website.</a:t>
            </a:r>
            <a:endParaRPr lang="en-US" sz="938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750" y="4142631"/>
            <a:ext cx="6010275" cy="32385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762000" y="4237881"/>
            <a:ext cx="5819775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“My model… Works when… Fails when… Ethical risk… Next…” — structure they keep.</a:t>
            </a:r>
            <a:endParaRPr lang="en-US" sz="9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4561731"/>
            <a:ext cx="1014710" cy="271463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762000" y="4628406"/>
            <a:ext cx="82421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9F8E4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✓ Photo of model</a:t>
            </a:r>
            <a:endParaRPr lang="en-US" sz="825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7660" y="4561731"/>
            <a:ext cx="907256" cy="271463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1852910" y="4628406"/>
            <a:ext cx="71675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9F8E4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✓ 60-sec video</a:t>
            </a:r>
            <a:endParaRPr lang="en-US" sz="825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1116" y="4561731"/>
            <a:ext cx="1001316" cy="271463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2836366" y="4628406"/>
            <a:ext cx="81081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9F8E4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✓ My AI Portfolio</a:t>
            </a:r>
            <a:endParaRPr lang="en-US" sz="825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0875" y="3466654"/>
            <a:ext cx="4695825" cy="1547813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7181850" y="3628579"/>
            <a:ext cx="433387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spc="-11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Differentiation baked in</a:t>
            </a:r>
            <a:endParaRPr lang="en-US" sz="1125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81850" y="3876229"/>
            <a:ext cx="190500" cy="190500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7248376" y="3914329"/>
            <a:ext cx="123974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</a:t>
            </a:r>
            <a:endParaRPr lang="en-US" sz="750" dirty="0"/>
          </a:p>
        </p:txBody>
      </p:sp>
      <p:sp>
        <p:nvSpPr>
          <p:cNvPr id="43" name="Text 26"/>
          <p:cNvSpPr txBox="1"/>
          <p:nvPr/>
        </p:nvSpPr>
        <p:spPr>
          <a:xfrm>
            <a:off x="7448550" y="3885754"/>
            <a:ext cx="2892028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Struggling:</a:t>
            </a:r>
            <a:pPr indent="0" marL="0">
              <a:buNone/>
            </a:pPr>
            <a:r>
              <a:rPr lang="en-US" sz="9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Fill blanks, cards pre-cut, sentence starters</a:t>
            </a:r>
            <a:endParaRPr lang="en-US" sz="900" dirty="0"/>
          </a:p>
        </p:txBody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81850" y="4123879"/>
            <a:ext cx="190500" cy="190500"/>
          </a:xfrm>
          <a:prstGeom prst="rect">
            <a:avLst/>
          </a:prstGeom>
        </p:spPr>
      </p:pic>
      <p:sp>
        <p:nvSpPr>
          <p:cNvPr id="45" name="Text 27"/>
          <p:cNvSpPr txBox="1"/>
          <p:nvPr/>
        </p:nvSpPr>
        <p:spPr>
          <a:xfrm>
            <a:off x="7242125" y="4161979"/>
            <a:ext cx="130225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A5DB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</a:t>
            </a:r>
            <a:endParaRPr lang="en-US" sz="750" dirty="0"/>
          </a:p>
        </p:txBody>
      </p:sp>
      <p:sp>
        <p:nvSpPr>
          <p:cNvPr id="46" name="Text 28"/>
          <p:cNvSpPr txBox="1"/>
          <p:nvPr/>
        </p:nvSpPr>
        <p:spPr>
          <a:xfrm>
            <a:off x="7448550" y="4133404"/>
            <a:ext cx="2642443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On-level:</a:t>
            </a:r>
            <a:pPr indent="0" marL="0">
              <a:buNone/>
            </a:pPr>
            <a:r>
              <a:rPr lang="en-US" sz="9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Build from scratch, simulator sliders live</a:t>
            </a:r>
            <a:endParaRPr lang="en-US" sz="900" dirty="0"/>
          </a:p>
        </p:txBody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81850" y="4371529"/>
            <a:ext cx="190500" cy="190500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7243018" y="4409629"/>
            <a:ext cx="129332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</a:t>
            </a:r>
            <a:endParaRPr lang="en-US" sz="750" dirty="0"/>
          </a:p>
        </p:txBody>
      </p:sp>
      <p:sp>
        <p:nvSpPr>
          <p:cNvPr id="49" name="Text 30"/>
          <p:cNvSpPr txBox="1"/>
          <p:nvPr/>
        </p:nvSpPr>
        <p:spPr>
          <a:xfrm>
            <a:off x="7448550" y="4381054"/>
            <a:ext cx="3316039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Advanced:</a:t>
            </a:r>
            <a:pPr indent="0" marL="0">
              <a:buNone/>
            </a:pPr>
            <a:r>
              <a:rPr lang="en-US" sz="9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Add XOR 2nd layer — when one neuron isn't enough</a:t>
            </a:r>
            <a:endParaRPr lang="en-US" sz="900" dirty="0"/>
          </a:p>
        </p:txBody>
      </p:sp>
      <p:sp>
        <p:nvSpPr>
          <p:cNvPr id="50" name="Text 31"/>
          <p:cNvSpPr txBox="1"/>
          <p:nvPr/>
        </p:nvSpPr>
        <p:spPr>
          <a:xfrm>
            <a:off x="7181850" y="4704904"/>
            <a:ext cx="433387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Parents tell us: “My child finally felt capable, not compared.”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1145977"/>
            <a:ext cx="6275784" cy="904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750" b="1" spc="-75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Global standards,</a:t>
            </a:r>
            <a:endParaRPr lang="en-US" sz="3750" dirty="0"/>
          </a:p>
          <a:p>
            <a:pPr algn="l" indent="0" marL="0">
              <a:lnSpc>
                <a:spcPts val="3750"/>
              </a:lnSpc>
              <a:spcAft>
                <a:spcPts val="1200"/>
              </a:spcAft>
              <a:buNone/>
            </a:pPr>
            <a:r>
              <a:rPr lang="en-US" sz="3750" b="1" i="1" spc="-75" kern="0" dirty="0">
                <a:solidFill>
                  <a:srgbClr val="B1531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local stories.</a:t>
            </a:r>
            <a:endParaRPr lang="en-US" sz="375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2222302"/>
            <a:ext cx="4953000" cy="48279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spcAft>
                <a:spcPts val="1500"/>
              </a:spcAft>
              <a:buNone/>
            </a:pPr>
            <a:r>
              <a:rPr lang="en-US" sz="1275" dirty="0">
                <a:solidFill>
                  <a:srgbClr val="58554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Two of every six examples are Indian — so your child sees themselves in the learning, not an imported worksheet.</a:t>
            </a:r>
            <a:endParaRPr lang="en-US" sz="12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819400"/>
            <a:ext cx="381000" cy="323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3400" y="2895600"/>
            <a:ext cx="266700" cy="171450"/>
          </a:xfrm>
          <a:prstGeom prst="rect">
            <a:avLst/>
          </a:prstGeom>
          <a:ln/>
        </p:spPr>
        <p:txBody>
          <a:bodyPr wrap="none" lIns="114300" tIns="66675" rIns="114300" bIns="66675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Made for your child</a:t>
            </a:r>
            <a:endParaRPr lang="en-US" sz="8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895600"/>
            <a:ext cx="2254002" cy="30956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7225" y="2981325"/>
            <a:ext cx="200635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Hyderabad • Delhi • Chennai pooling</a:t>
            </a:r>
            <a:endParaRPr lang="en-US" sz="825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02" y="2895600"/>
            <a:ext cx="1870323" cy="30956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987427" y="2981325"/>
            <a:ext cx="162267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Telugu / Hindi vocab optional</a:t>
            </a:r>
            <a:endParaRPr lang="en-US" sz="825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376613"/>
            <a:ext cx="3090267" cy="780901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76275" y="3509963"/>
            <a:ext cx="280451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spc="50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REGRESSION</a:t>
            </a:r>
            <a:endParaRPr lang="en-US" sz="825" dirty="0"/>
          </a:p>
        </p:txBody>
      </p:sp>
      <p:sp>
        <p:nvSpPr>
          <p:cNvPr id="12" name="Text 6"/>
          <p:cNvSpPr txBox="1"/>
          <p:nvPr/>
        </p:nvSpPr>
        <p:spPr>
          <a:xfrm>
            <a:off x="676275" y="3705225"/>
            <a:ext cx="2804517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Auto-rickshaw fare</a:t>
            </a:r>
            <a:endParaRPr lang="en-US" sz="975" dirty="0"/>
          </a:p>
        </p:txBody>
      </p:sp>
      <p:sp>
        <p:nvSpPr>
          <p:cNvPr id="13" name="Text 7"/>
          <p:cNvSpPr txBox="1"/>
          <p:nvPr/>
        </p:nvSpPr>
        <p:spPr>
          <a:xfrm>
            <a:off x="676275" y="3897511"/>
            <a:ext cx="2804517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241E18">
                    <a:alpha val="6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Distance vs time vs traffic → predictable fare</a:t>
            </a:r>
            <a:endParaRPr lang="en-US" sz="825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917" y="3376613"/>
            <a:ext cx="3090267" cy="780901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3861792" y="3509963"/>
            <a:ext cx="280451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spc="50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CLASSIFICATION</a:t>
            </a:r>
            <a:endParaRPr lang="en-US" sz="825" dirty="0"/>
          </a:p>
        </p:txBody>
      </p:sp>
      <p:sp>
        <p:nvSpPr>
          <p:cNvPr id="16" name="Text 9"/>
          <p:cNvSpPr txBox="1"/>
          <p:nvPr/>
        </p:nvSpPr>
        <p:spPr>
          <a:xfrm>
            <a:off x="3861792" y="3705225"/>
            <a:ext cx="2804517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Monsoon crop</a:t>
            </a:r>
            <a:endParaRPr lang="en-US" sz="975" dirty="0"/>
          </a:p>
        </p:txBody>
      </p:sp>
      <p:sp>
        <p:nvSpPr>
          <p:cNvPr id="17" name="Text 10"/>
          <p:cNvSpPr txBox="1"/>
          <p:nvPr/>
        </p:nvSpPr>
        <p:spPr>
          <a:xfrm>
            <a:off x="3861792" y="3897511"/>
            <a:ext cx="2804517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241E18">
                    <a:alpha val="6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Leaf image → healthy / stressed</a:t>
            </a:r>
            <a:endParaRPr lang="en-US" sz="825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252764"/>
            <a:ext cx="3090267" cy="780901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76275" y="4386114"/>
            <a:ext cx="280451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spc="50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VISION</a:t>
            </a:r>
            <a:endParaRPr lang="en-US" sz="825" dirty="0"/>
          </a:p>
        </p:txBody>
      </p:sp>
      <p:sp>
        <p:nvSpPr>
          <p:cNvPr id="20" name="Text 12"/>
          <p:cNvSpPr txBox="1"/>
          <p:nvPr/>
        </p:nvSpPr>
        <p:spPr>
          <a:xfrm>
            <a:off x="676275" y="4581376"/>
            <a:ext cx="2804517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Cricket ball line</a:t>
            </a:r>
            <a:endParaRPr lang="en-US" sz="975" dirty="0"/>
          </a:p>
        </p:txBody>
      </p:sp>
      <p:sp>
        <p:nvSpPr>
          <p:cNvPr id="21" name="Text 13"/>
          <p:cNvSpPr txBox="1"/>
          <p:nvPr/>
        </p:nvSpPr>
        <p:spPr>
          <a:xfrm>
            <a:off x="676275" y="4773662"/>
            <a:ext cx="2804517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241E18">
                    <a:alpha val="6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Camera detects out or in — same as VAR</a:t>
            </a:r>
            <a:endParaRPr lang="en-US" sz="825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8917" y="4252764"/>
            <a:ext cx="3090267" cy="780901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3861792" y="4386114"/>
            <a:ext cx="280451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spc="50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SLAM • L4</a:t>
            </a:r>
            <a:endParaRPr lang="en-US" sz="825" dirty="0"/>
          </a:p>
        </p:txBody>
      </p:sp>
      <p:sp>
        <p:nvSpPr>
          <p:cNvPr id="24" name="Text 15"/>
          <p:cNvSpPr txBox="1"/>
          <p:nvPr/>
        </p:nvSpPr>
        <p:spPr>
          <a:xfrm>
            <a:off x="3861792" y="4581376"/>
            <a:ext cx="2804517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Tiffin delivery route</a:t>
            </a:r>
            <a:endParaRPr lang="en-US" sz="975" dirty="0"/>
          </a:p>
        </p:txBody>
      </p:sp>
      <p:sp>
        <p:nvSpPr>
          <p:cNvPr id="25" name="Text 16"/>
          <p:cNvSpPr txBox="1"/>
          <p:nvPr/>
        </p:nvSpPr>
        <p:spPr>
          <a:xfrm>
            <a:off x="3861792" y="4773662"/>
            <a:ext cx="2804517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241E18">
                    <a:alpha val="6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Blindfolded map — tiffin wallah's memory</a:t>
            </a:r>
            <a:endParaRPr lang="en-US" sz="825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4434" y="860227"/>
            <a:ext cx="4963716" cy="413742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314009" y="1379339"/>
            <a:ext cx="2615208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72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COMMUNITY POOL — DIVERSITY MATTERS</a:t>
            </a:r>
            <a:endParaRPr lang="en-US" sz="9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006" y="1346002"/>
            <a:ext cx="886569" cy="200025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10648206" y="1384102"/>
            <a:ext cx="73416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72" kern="0" dirty="0">
                <a:solidFill>
                  <a:srgbClr val="FFFFFF"/>
                </a:solidFill>
                <a:highlight>
                  <a:srgbClr val="241E18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ANONYMIZED</a:t>
            </a:r>
            <a:endParaRPr lang="en-US" sz="7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4009" y="1660327"/>
            <a:ext cx="4144566" cy="2000250"/>
          </a:xfrm>
          <a:prstGeom prst="rect">
            <a:avLst/>
          </a:prstGeom>
        </p:spPr>
      </p:pic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8589" y="1828205"/>
            <a:ext cx="1815405" cy="1664494"/>
          </a:xfrm>
          <a:prstGeom prst="rect">
            <a:avLst/>
          </a:prstGeom>
        </p:spPr>
      </p:pic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3991" y="2703016"/>
            <a:ext cx="228600" cy="266700"/>
          </a:xfrm>
          <a:prstGeom prst="rect">
            <a:avLst/>
          </a:prstGeom>
        </p:spPr>
      </p:pic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64092" y="2029420"/>
            <a:ext cx="228600" cy="266700"/>
          </a:xfrm>
          <a:prstGeom prst="rect">
            <a:avLst/>
          </a:prstGeom>
        </p:spPr>
      </p:pic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64092" y="3138934"/>
            <a:ext cx="228600" cy="266700"/>
          </a:xfrm>
          <a:prstGeom prst="rect">
            <a:avLst/>
          </a:prstGeom>
        </p:spPr>
      </p:pic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10472" y="2813566"/>
            <a:ext cx="205740" cy="243840"/>
          </a:xfrm>
          <a:prstGeom prst="rect">
            <a:avLst/>
          </a:prstGeom>
        </p:spPr>
      </p:pic>
      <p:pic>
        <p:nvPicPr>
          <p:cNvPr id="3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40572" y="2120176"/>
            <a:ext cx="205740" cy="243840"/>
          </a:xfrm>
          <a:prstGeom prst="rect">
            <a:avLst/>
          </a:prstGeom>
        </p:spPr>
      </p:pic>
      <p:pic>
        <p:nvPicPr>
          <p:cNvPr id="3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40572" y="3051245"/>
            <a:ext cx="205740" cy="243840"/>
          </a:xfrm>
          <a:prstGeom prst="rect">
            <a:avLst/>
          </a:prstGeom>
        </p:spPr>
      </p:pic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37834" y="3289102"/>
            <a:ext cx="1691283" cy="266700"/>
          </a:xfrm>
          <a:prstGeom prst="rect">
            <a:avLst/>
          </a:prstGeom>
        </p:spPr>
      </p:pic>
      <p:sp>
        <p:nvSpPr>
          <p:cNvPr id="39" name="Text 19"/>
          <p:cNvSpPr txBox="1"/>
          <p:nvPr/>
        </p:nvSpPr>
        <p:spPr>
          <a:xfrm>
            <a:off x="7628334" y="3355777"/>
            <a:ext cx="48503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Hyderabad</a:t>
            </a:r>
            <a:endParaRPr lang="en-US" sz="750" dirty="0"/>
          </a:p>
        </p:txBody>
      </p:sp>
      <p:pic>
        <p:nvPicPr>
          <p:cNvPr id="4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23559" y="3384352"/>
            <a:ext cx="66675" cy="66675"/>
          </a:xfrm>
          <a:prstGeom prst="rect">
            <a:avLst/>
          </a:prstGeom>
        </p:spPr>
      </p:pic>
      <p:sp>
        <p:nvSpPr>
          <p:cNvPr id="41" name="Text 20"/>
          <p:cNvSpPr txBox="1"/>
          <p:nvPr/>
        </p:nvSpPr>
        <p:spPr>
          <a:xfrm>
            <a:off x="7496175" y="3352800"/>
            <a:ext cx="66675" cy="666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21"/>
          <p:cNvSpPr txBox="1"/>
          <p:nvPr/>
        </p:nvSpPr>
        <p:spPr>
          <a:xfrm>
            <a:off x="8275290" y="3355777"/>
            <a:ext cx="2350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Delhi</a:t>
            </a:r>
            <a:endParaRPr lang="en-US" sz="750" dirty="0"/>
          </a:p>
        </p:txBody>
      </p:sp>
      <p:pic>
        <p:nvPicPr>
          <p:cNvPr id="4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70515" y="3384352"/>
            <a:ext cx="66675" cy="66675"/>
          </a:xfrm>
          <a:prstGeom prst="rect">
            <a:avLst/>
          </a:prstGeom>
        </p:spPr>
      </p:pic>
      <p:sp>
        <p:nvSpPr>
          <p:cNvPr id="44" name="Text 22"/>
          <p:cNvSpPr txBox="1"/>
          <p:nvPr/>
        </p:nvSpPr>
        <p:spPr>
          <a:xfrm>
            <a:off x="8143875" y="3352800"/>
            <a:ext cx="66675" cy="666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23"/>
          <p:cNvSpPr txBox="1"/>
          <p:nvPr/>
        </p:nvSpPr>
        <p:spPr>
          <a:xfrm>
            <a:off x="8672215" y="3355777"/>
            <a:ext cx="37117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Chennai</a:t>
            </a:r>
            <a:endParaRPr lang="en-US" sz="750" dirty="0"/>
          </a:p>
        </p:txBody>
      </p:sp>
      <p:pic>
        <p:nvPicPr>
          <p:cNvPr id="4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67440" y="3384352"/>
            <a:ext cx="66675" cy="66675"/>
          </a:xfrm>
          <a:prstGeom prst="rect">
            <a:avLst/>
          </a:prstGeom>
        </p:spPr>
      </p:pic>
      <p:sp>
        <p:nvSpPr>
          <p:cNvPr id="47" name="Text 24"/>
          <p:cNvSpPr txBox="1"/>
          <p:nvPr/>
        </p:nvSpPr>
        <p:spPr>
          <a:xfrm>
            <a:off x="8543925" y="3352800"/>
            <a:ext cx="66675" cy="666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25"/>
          <p:cNvSpPr/>
          <p:nvPr/>
        </p:nvSpPr>
        <p:spPr>
          <a:xfrm>
            <a:off x="7305675" y="3781425"/>
            <a:ext cx="4143375" cy="752475"/>
          </a:xfrm>
          <a:prstGeom prst="roundRect">
            <a:avLst>
              <a:gd name="adj" fmla="val 15190"/>
            </a:avLst>
          </a:prstGeom>
          <a:solidFill>
            <a:srgbClr val="F9F8E4"/>
          </a:solidFill>
          <a:ln/>
        </p:spPr>
      </p:sp>
      <p:sp>
        <p:nvSpPr>
          <p:cNvPr id="49" name="Text 26"/>
          <p:cNvSpPr txBox="1"/>
          <p:nvPr/>
        </p:nvSpPr>
        <p:spPr>
          <a:xfrm>
            <a:off x="7447359" y="3889177"/>
            <a:ext cx="1757958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One city only</a:t>
            </a:r>
            <a:endParaRPr lang="en-US" sz="825" dirty="0"/>
          </a:p>
        </p:txBody>
      </p:sp>
      <p:sp>
        <p:nvSpPr>
          <p:cNvPr id="50" name="Text 27"/>
          <p:cNvSpPr txBox="1"/>
          <p:nvPr/>
        </p:nvSpPr>
        <p:spPr>
          <a:xfrm>
            <a:off x="7447359" y="4024313"/>
            <a:ext cx="1757958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41E18">
                    <a:alpha val="6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72%</a:t>
            </a:r>
            <a:endParaRPr lang="en-US" sz="1650" dirty="0"/>
          </a:p>
        </p:txBody>
      </p:sp>
      <p:sp>
        <p:nvSpPr>
          <p:cNvPr id="51" name="Text 28"/>
          <p:cNvSpPr txBox="1"/>
          <p:nvPr/>
        </p:nvSpPr>
        <p:spPr>
          <a:xfrm>
            <a:off x="7447359" y="4329113"/>
            <a:ext cx="1757958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biased accuracy</a:t>
            </a:r>
            <a:endParaRPr lang="en-US" sz="825" dirty="0"/>
          </a:p>
        </p:txBody>
      </p:sp>
      <p:sp>
        <p:nvSpPr>
          <p:cNvPr id="52" name="Text 29"/>
          <p:cNvSpPr txBox="1"/>
          <p:nvPr/>
        </p:nvSpPr>
        <p:spPr>
          <a:xfrm>
            <a:off x="9300567" y="4062412"/>
            <a:ext cx="171450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→</a:t>
            </a:r>
            <a:endParaRPr lang="en-US" sz="1350" dirty="0"/>
          </a:p>
        </p:txBody>
      </p:sp>
      <p:sp>
        <p:nvSpPr>
          <p:cNvPr id="53" name="Text 30"/>
          <p:cNvSpPr txBox="1"/>
          <p:nvPr/>
        </p:nvSpPr>
        <p:spPr>
          <a:xfrm>
            <a:off x="9567267" y="3889177"/>
            <a:ext cx="1757958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Three cities diverse</a:t>
            </a:r>
            <a:endParaRPr lang="en-US" sz="825" dirty="0"/>
          </a:p>
        </p:txBody>
      </p:sp>
      <p:sp>
        <p:nvSpPr>
          <p:cNvPr id="54" name="Text 31"/>
          <p:cNvSpPr txBox="1"/>
          <p:nvPr/>
        </p:nvSpPr>
        <p:spPr>
          <a:xfrm>
            <a:off x="9567267" y="4024313"/>
            <a:ext cx="1757958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F6B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88%</a:t>
            </a:r>
            <a:endParaRPr lang="en-US" sz="1650" dirty="0"/>
          </a:p>
        </p:txBody>
      </p:sp>
      <p:sp>
        <p:nvSpPr>
          <p:cNvPr id="55" name="Text 32"/>
          <p:cNvSpPr txBox="1"/>
          <p:nvPr/>
        </p:nvSpPr>
        <p:spPr>
          <a:xfrm>
            <a:off x="9567267" y="4329113"/>
            <a:ext cx="1757958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fair + robust</a:t>
            </a:r>
            <a:endParaRPr lang="en-US" sz="825" dirty="0"/>
          </a:p>
        </p:txBody>
      </p:sp>
      <p:pic>
        <p:nvPicPr>
          <p:cNvPr id="5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13984" y="4845248"/>
            <a:ext cx="4544616" cy="962025"/>
          </a:xfrm>
          <a:prstGeom prst="rect">
            <a:avLst/>
          </a:prstGeom>
        </p:spPr>
      </p:pic>
      <p:sp>
        <p:nvSpPr>
          <p:cNvPr id="57" name="Text 33"/>
          <p:cNvSpPr txBox="1"/>
          <p:nvPr/>
        </p:nvSpPr>
        <p:spPr>
          <a:xfrm>
            <a:off x="7256859" y="4978598"/>
            <a:ext cx="4258866" cy="704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Vocab that sticks:</a:t>
            </a:r>
            <a:pPr indent="0" marL="0">
              <a:buNone/>
            </a:pPr>
            <a:r>
              <a:rPr lang="en-US" sz="938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weight = “bharuvu” (how much it pulls) — Telugu/Hindi gesture + pronunciation. Kids remember when language is theirs. Bias is taught with Diwali lights: “If we only train on white lights, we miss colorful diyas.”</a:t>
            </a:r>
            <a:endParaRPr lang="en-US" sz="93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419100"/>
            <a:ext cx="11201400" cy="4161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450" b="1" spc="-69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Safety, privacy &amp; ethics — </a:t>
            </a:r>
            <a:pPr indent="0" marL="0">
              <a:buNone/>
            </a:pPr>
            <a:r>
              <a:rPr lang="en-US" sz="3450" b="1" i="1" spc="-69" kern="0" dirty="0">
                <a:solidFill>
                  <a:srgbClr val="B1531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action, not just talk</a:t>
            </a:r>
            <a:endParaRPr lang="en-US" sz="3450" dirty="0"/>
          </a:p>
        </p:txBody>
      </p:sp>
      <p:sp>
        <p:nvSpPr>
          <p:cNvPr id="3" name="Text 1"/>
          <p:cNvSpPr txBox="1"/>
          <p:nvPr/>
        </p:nvSpPr>
        <p:spPr>
          <a:xfrm>
            <a:off x="495300" y="1006673"/>
            <a:ext cx="838200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58554E">
                    <a:alpha val="7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 teach consent before code, consequences before convenience. Privacy is practiced in class, not promised in a policy doc.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092398"/>
            <a:ext cx="5416600" cy="217199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5325" y="1542455"/>
            <a:ext cx="166300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PRIVACY • COMMUNITY POOL</a:t>
            </a:r>
            <a:endParaRPr lang="en-US" sz="8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133" y="1501973"/>
            <a:ext cx="1067842" cy="2190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77333" y="1549598"/>
            <a:ext cx="91544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  <a:highlight>
                  <a:srgbClr val="2F6B43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ANONYMIZED ONLY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1835348"/>
            <a:ext cx="4673650" cy="606623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1968698"/>
            <a:ext cx="190500" cy="1905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75258" y="1997273"/>
            <a:ext cx="78135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5"/>
          <p:cNvSpPr txBox="1"/>
          <p:nvPr/>
        </p:nvSpPr>
        <p:spPr>
          <a:xfrm>
            <a:off x="1123950" y="1968698"/>
            <a:ext cx="4121200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 pool counts only — no names, no photos, no IDs.</a:t>
            </a:r>
            <a:pPr indent="0" marL="0"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“Hyderabad class: 12/20 sorted correctly” — not who did it. Opt-out anytime.</a:t>
            </a:r>
            <a:endParaRPr lang="en-US" sz="975" dirty="0"/>
          </a:p>
        </p:txBody>
      </p:sp>
      <p:sp>
        <p:nvSpPr>
          <p:cNvPr id="12" name="Text 6"/>
          <p:cNvSpPr txBox="1"/>
          <p:nvPr/>
        </p:nvSpPr>
        <p:spPr>
          <a:xfrm>
            <a:off x="714375" y="2546747"/>
            <a:ext cx="4654600" cy="3080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spcBef>
                <a:spcPts val="750"/>
              </a:spcBef>
              <a:buNone/>
            </a:pPr>
            <a:r>
              <a:rPr lang="en-US" sz="863" dirty="0">
                <a:solidFill>
                  <a:srgbClr val="241E18">
                    <a:alpha val="6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Kids practice consent: every pooling has a checkbox they read aloud: “I understand this is anonymous and I can opt-out.” Taught as digital citizenship.</a:t>
            </a:r>
            <a:endParaRPr lang="en-US" sz="863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" y="2940546"/>
            <a:ext cx="5416600" cy="1509713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95325" y="3359646"/>
            <a:ext cx="145896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ENVIRONMENTAL ETHICS</a:t>
            </a:r>
            <a:endParaRPr lang="en-US" sz="825" dirty="0"/>
          </a:p>
        </p:txBody>
      </p:sp>
      <p:sp>
        <p:nvSpPr>
          <p:cNvPr id="15" name="Text 8"/>
          <p:cNvSpPr txBox="1"/>
          <p:nvPr/>
        </p:nvSpPr>
        <p:spPr>
          <a:xfrm>
            <a:off x="4746427" y="3359646"/>
            <a:ext cx="62254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241E18">
                    <a:alpha val="5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 COST</a:t>
            </a:r>
            <a:endParaRPr lang="en-US" sz="825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3621584"/>
            <a:ext cx="533400" cy="4191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24198" y="3716834"/>
            <a:ext cx="504527" cy="3238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🛺🛺</a:t>
            </a:r>
            <a:endParaRPr lang="en-US" sz="1500" dirty="0"/>
          </a:p>
        </p:txBody>
      </p:sp>
      <p:sp>
        <p:nvSpPr>
          <p:cNvPr id="18" name="Text 10"/>
          <p:cNvSpPr txBox="1"/>
          <p:nvPr/>
        </p:nvSpPr>
        <p:spPr>
          <a:xfrm>
            <a:off x="1362075" y="3643610"/>
            <a:ext cx="4006900" cy="3750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 model training = 5 auto-rickshaw rides </a:t>
            </a:r>
            <a:pPr indent="0" marL="0">
              <a:buNone/>
            </a:pPr>
            <a:r>
              <a:rPr lang="en-US" sz="90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Energy infographic kids calculate in L4 — when to train vs. when to reuse</a:t>
            </a:r>
            <a:pPr indent="0" marL="0">
              <a:buNone/>
            </a:pPr>
            <a:r>
              <a:rPr lang="en-US" sz="16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</a:t>
            </a:r>
            <a:endParaRPr lang="en-US" sz="16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9000" y="1092398"/>
            <a:ext cx="6299150" cy="2747070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5753100" y="1333500"/>
            <a:ext cx="819150" cy="2266950"/>
          </a:xfrm>
          <a:prstGeom prst="rect">
            <a:avLst/>
          </a:prstGeom>
          <a:solidFill>
            <a:srgbClr val="241E18"/>
          </a:solidFill>
          <a:ln/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4275" y="1713458"/>
            <a:ext cx="590550" cy="59055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6019800" y="1939677"/>
            <a:ext cx="301675" cy="2309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STOP</a:t>
            </a:r>
            <a:endParaRPr lang="en-US" sz="825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7625" y="2304008"/>
            <a:ext cx="323850" cy="32385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6133951" y="2396877"/>
            <a:ext cx="187523" cy="2309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?</a:t>
            </a:r>
            <a:endParaRPr lang="en-US" sz="825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7625" y="2761208"/>
            <a:ext cx="323850" cy="32385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6079480" y="2854077"/>
            <a:ext cx="241995" cy="2309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GO</a:t>
            </a:r>
            <a:endParaRPr lang="en-US" sz="825" dirty="0"/>
          </a:p>
        </p:txBody>
      </p:sp>
      <p:sp>
        <p:nvSpPr>
          <p:cNvPr id="27" name="Text 15"/>
          <p:cNvSpPr txBox="1"/>
          <p:nvPr/>
        </p:nvSpPr>
        <p:spPr>
          <a:xfrm>
            <a:off x="6740575" y="1492448"/>
            <a:ext cx="47751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66" kern="0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TRAFFIC LIGHT • ASK BEFORE YOU ACT</a:t>
            </a:r>
            <a:endParaRPr lang="en-US" sz="825" dirty="0"/>
          </a:p>
        </p:txBody>
      </p:sp>
      <p:sp>
        <p:nvSpPr>
          <p:cNvPr id="28" name="Text 16"/>
          <p:cNvSpPr txBox="1"/>
          <p:nvPr/>
        </p:nvSpPr>
        <p:spPr>
          <a:xfrm>
            <a:off x="6873925" y="1744861"/>
            <a:ext cx="46418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RED 2018 • GENDER SHADES</a:t>
            </a:r>
            <a:endParaRPr lang="en-US" sz="75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0575" y="1767036"/>
            <a:ext cx="76200" cy="7620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6743700" y="177165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18"/>
          <p:cNvSpPr txBox="1"/>
          <p:nvPr/>
        </p:nvSpPr>
        <p:spPr>
          <a:xfrm>
            <a:off x="6740575" y="1897261"/>
            <a:ext cx="4775150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013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Facial recognition bias — 34% error on darker women</a:t>
            </a:r>
            <a:endParaRPr lang="en-US" sz="1013" dirty="0"/>
          </a:p>
        </p:txBody>
      </p:sp>
      <p:sp>
        <p:nvSpPr>
          <p:cNvPr id="32" name="Text 19"/>
          <p:cNvSpPr txBox="1"/>
          <p:nvPr/>
        </p:nvSpPr>
        <p:spPr>
          <a:xfrm>
            <a:off x="6740575" y="2086570"/>
            <a:ext cx="4775150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241E18">
                    <a:alpha val="7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Joy Buolamwini MIT study. We show our own pooling bias demo.</a:t>
            </a:r>
            <a:endParaRPr lang="en-US" sz="863" dirty="0"/>
          </a:p>
        </p:txBody>
      </p:sp>
      <p:sp>
        <p:nvSpPr>
          <p:cNvPr id="33" name="Text 20"/>
          <p:cNvSpPr txBox="1"/>
          <p:nvPr/>
        </p:nvSpPr>
        <p:spPr>
          <a:xfrm>
            <a:off x="6873925" y="2354163"/>
            <a:ext cx="46418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YELLOW 2023 • GETTY VS STABILITY AI</a:t>
            </a:r>
            <a:endParaRPr lang="en-US" sz="75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0575" y="2376339"/>
            <a:ext cx="76200" cy="76200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6743700" y="237172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2"/>
          <p:cNvSpPr txBox="1"/>
          <p:nvPr/>
        </p:nvSpPr>
        <p:spPr>
          <a:xfrm>
            <a:off x="6740575" y="2506563"/>
            <a:ext cx="4775150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013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Who owns training data? Permission Slip — Copyright</a:t>
            </a:r>
            <a:endParaRPr lang="en-US" sz="1013" dirty="0"/>
          </a:p>
        </p:txBody>
      </p:sp>
      <p:sp>
        <p:nvSpPr>
          <p:cNvPr id="37" name="Text 23"/>
          <p:cNvSpPr txBox="1"/>
          <p:nvPr/>
        </p:nvSpPr>
        <p:spPr>
          <a:xfrm>
            <a:off x="6740575" y="2695873"/>
            <a:ext cx="4775150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241E18">
                    <a:alpha val="7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Artists sue AI trained on their work. Kids debate: cake ownership.</a:t>
            </a:r>
            <a:endParaRPr lang="en-US" sz="863" dirty="0"/>
          </a:p>
        </p:txBody>
      </p:sp>
      <p:sp>
        <p:nvSpPr>
          <p:cNvPr id="38" name="Text 24"/>
          <p:cNvSpPr txBox="1"/>
          <p:nvPr/>
        </p:nvSpPr>
        <p:spPr>
          <a:xfrm>
            <a:off x="6873925" y="2963466"/>
            <a:ext cx="46418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GREEN 2024 • DEEPFAKE CHECK</a:t>
            </a:r>
            <a:endParaRPr lang="en-US" sz="75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0575" y="2985641"/>
            <a:ext cx="76200" cy="76200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6743700" y="298132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26"/>
          <p:cNvSpPr txBox="1"/>
          <p:nvPr/>
        </p:nvSpPr>
        <p:spPr>
          <a:xfrm>
            <a:off x="6740575" y="3115866"/>
            <a:ext cx="4775150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013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Taylor Swift deepfake — consent + harm discussion</a:t>
            </a:r>
            <a:endParaRPr lang="en-US" sz="1013" dirty="0"/>
          </a:p>
        </p:txBody>
      </p:sp>
      <p:sp>
        <p:nvSpPr>
          <p:cNvPr id="42" name="Text 27"/>
          <p:cNvSpPr txBox="1"/>
          <p:nvPr/>
        </p:nvSpPr>
        <p:spPr>
          <a:xfrm>
            <a:off x="6740575" y="3305175"/>
            <a:ext cx="4775150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241E18">
                    <a:alpha val="7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When is generation harmful? Green only with consent + labeling.</a:t>
            </a:r>
            <a:endParaRPr lang="en-US" sz="863" dirty="0"/>
          </a:p>
        </p:txBody>
      </p:sp>
      <p:sp>
        <p:nvSpPr>
          <p:cNvPr id="43" name="Shape 28"/>
          <p:cNvSpPr/>
          <p:nvPr/>
        </p:nvSpPr>
        <p:spPr>
          <a:xfrm>
            <a:off x="5743575" y="3743325"/>
            <a:ext cx="5953125" cy="1095375"/>
          </a:xfrm>
          <a:prstGeom prst="roundRect">
            <a:avLst>
              <a:gd name="adj" fmla="val 12174"/>
            </a:avLst>
          </a:prstGeom>
          <a:solidFill>
            <a:srgbClr val="241E18"/>
          </a:solidFill>
          <a:ln/>
        </p:spPr>
      </p:sp>
      <p:sp>
        <p:nvSpPr>
          <p:cNvPr id="44" name="Text 29"/>
          <p:cNvSpPr txBox="1"/>
          <p:nvPr/>
        </p:nvSpPr>
        <p:spPr>
          <a:xfrm>
            <a:off x="5911900" y="4023271"/>
            <a:ext cx="2616101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would YOU do?</a:t>
            </a:r>
            <a:endParaRPr lang="en-US" sz="1125" dirty="0"/>
          </a:p>
        </p:txBody>
      </p:sp>
      <p:sp>
        <p:nvSpPr>
          <p:cNvPr id="45" name="Text 30"/>
          <p:cNvSpPr txBox="1"/>
          <p:nvPr/>
        </p:nvSpPr>
        <p:spPr>
          <a:xfrm>
            <a:off x="5911900" y="4242346"/>
            <a:ext cx="2616101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8554E">
                    <a:alpha val="8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Pledge + 1 action before project starts. Written, not clicked.</a:t>
            </a:r>
            <a:endParaRPr lang="en-US" sz="90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61350" y="3877568"/>
            <a:ext cx="2863900" cy="832396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8785175" y="3991868"/>
            <a:ext cx="25375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41E18">
                    <a:alpha val="5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 will</a:t>
            </a:r>
            <a:endParaRPr lang="en-US" sz="900" dirty="0"/>
          </a:p>
        </p:txBody>
      </p:sp>
      <p:sp>
        <p:nvSpPr>
          <p:cNvPr id="48" name="Text 32"/>
          <p:cNvSpPr txBox="1"/>
          <p:nvPr/>
        </p:nvSpPr>
        <p:spPr>
          <a:xfrm>
            <a:off x="8785175" y="3991868"/>
            <a:ext cx="2531269" cy="29334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check dataset bias before training — show my counts by city/gender.</a:t>
            </a:r>
            <a:endParaRPr lang="en-US" sz="900" dirty="0"/>
          </a:p>
        </p:txBody>
      </p:sp>
      <p:sp>
        <p:nvSpPr>
          <p:cNvPr id="49" name="Shape 33"/>
          <p:cNvSpPr/>
          <p:nvPr/>
        </p:nvSpPr>
        <p:spPr>
          <a:xfrm>
            <a:off x="8782050" y="4381500"/>
            <a:ext cx="2619375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50" name="Text 34"/>
          <p:cNvSpPr txBox="1"/>
          <p:nvPr/>
        </p:nvSpPr>
        <p:spPr>
          <a:xfrm>
            <a:off x="8785175" y="4454723"/>
            <a:ext cx="2616250" cy="1504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241E18">
                    <a:alpha val="5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Student signs: ___________ Date: _______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25200" cy="4723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Teacher training — </a:t>
            </a:r>
            <a:pPr indent="0" marL="0">
              <a:buNone/>
            </a:pPr>
            <a:r>
              <a:rPr lang="en-US" sz="3600" b="1" spc="-72" kern="0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zero-to-hero in 15 minutes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062930"/>
            <a:ext cx="781050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 AI background needed. Every week comes with exact scripts, misconceptions, and management tips — so any teacher can run it with confidence.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1386780"/>
            <a:ext cx="3009900" cy="447823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815405"/>
            <a:ext cx="304800" cy="304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37902" y="1886843"/>
            <a:ext cx="181273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714375" y="2215455"/>
            <a:ext cx="2305050" cy="18618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6"/>
              </a:lnSpc>
              <a:buNone/>
            </a:pPr>
            <a:r>
              <a:rPr lang="en-US" sz="12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One-sentence core idea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714375" y="2506414"/>
            <a:ext cx="2305050" cy="5262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41E18">
                    <a:alpha val="88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Week core locked: “Neuron = weighted vote + bias + decision.” Teacher starts from clarity, not jargon.</a:t>
            </a:r>
            <a:endParaRPr lang="en-US" sz="938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127921"/>
            <a:ext cx="2305050" cy="84727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38200" y="3251746"/>
            <a:ext cx="2057400" cy="61867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25" b="1" spc="50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SAY EXACTLY:</a:t>
            </a:r>
            <a:endParaRPr lang="en-US" sz="825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“This neuron votes. Weight says how loud. Bias says how stubborn. Then it decides.”</a:t>
            </a:r>
            <a:endParaRPr lang="en-US" sz="825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350" y="1386780"/>
            <a:ext cx="3009900" cy="4478238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775" y="1815405"/>
            <a:ext cx="304800" cy="3048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3648521" y="1886843"/>
            <a:ext cx="190054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7"/>
          <p:cNvSpPr txBox="1"/>
          <p:nvPr/>
        </p:nvSpPr>
        <p:spPr>
          <a:xfrm>
            <a:off x="3533775" y="2215455"/>
            <a:ext cx="2305050" cy="18618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6"/>
              </a:lnSpc>
              <a:buNone/>
            </a:pPr>
            <a:r>
              <a:rPr lang="en-US" sz="12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Exact script + checks</a:t>
            </a:r>
            <a:endParaRPr lang="en-US" sz="1275" dirty="0"/>
          </a:p>
        </p:txBody>
      </p:sp>
      <p:sp>
        <p:nvSpPr>
          <p:cNvPr id="15" name="Text 8"/>
          <p:cNvSpPr txBox="1"/>
          <p:nvPr/>
        </p:nvSpPr>
        <p:spPr>
          <a:xfrm>
            <a:off x="3533775" y="2506414"/>
            <a:ext cx="230505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41E18">
                    <a:alpha val="88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Each phase: </a:t>
            </a:r>
            <a:pPr indent="0" marL="0">
              <a:buNone/>
            </a:pPr>
            <a:r>
              <a:rPr lang="en-US" sz="938" b="1" dirty="0">
                <a:solidFill>
                  <a:srgbClr val="241E18">
                    <a:alpha val="88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Say:</a:t>
            </a:r>
            <a:pPr indent="0" marL="0">
              <a:buNone/>
            </a:pPr>
            <a:r>
              <a:rPr lang="en-US" sz="938" dirty="0">
                <a:solidFill>
                  <a:srgbClr val="241E18">
                    <a:alpha val="88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+ student action + ✅ Green check + 🟠 If stuck.</a:t>
            </a:r>
            <a:endParaRPr lang="en-US" sz="938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3775" y="2949327"/>
            <a:ext cx="2305050" cy="688479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3657600" y="3073152"/>
            <a:ext cx="2057400" cy="45987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25" b="1" spc="50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CHECK EVERY 10M:</a:t>
            </a:r>
            <a:endParaRPr lang="en-US" sz="825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✅ LED glows? ✅ Kids explain w+b?</a:t>
            </a:r>
            <a:endParaRPr lang="en-US" sz="825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🟠 If stuck: “What if bias +5? Try slider.”</a:t>
            </a:r>
            <a:endParaRPr lang="en-US" sz="825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3775" y="5236369"/>
            <a:ext cx="791468" cy="23812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3609975" y="5293519"/>
            <a:ext cx="63906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Timer visible</a:t>
            </a:r>
            <a:endParaRPr lang="en-US" sz="7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2393" y="5236369"/>
            <a:ext cx="820341" cy="23812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4458593" y="5293519"/>
            <a:ext cx="66794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Cards pre-cut</a:t>
            </a:r>
            <a:endParaRPr lang="en-US" sz="7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750" y="1386780"/>
            <a:ext cx="3009900" cy="4478238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3175" y="1815405"/>
            <a:ext cx="304800" cy="304800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6467029" y="1886843"/>
            <a:ext cx="190946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13"/>
          <p:cNvSpPr txBox="1"/>
          <p:nvPr/>
        </p:nvSpPr>
        <p:spPr>
          <a:xfrm>
            <a:off x="6353175" y="2215455"/>
            <a:ext cx="2305050" cy="18618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6"/>
              </a:lnSpc>
              <a:buNone/>
            </a:pPr>
            <a:r>
              <a:rPr lang="en-US" sz="12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Misconceptions mapped</a:t>
            </a:r>
            <a:endParaRPr lang="en-US" sz="1275" dirty="0"/>
          </a:p>
        </p:txBody>
      </p:sp>
      <p:sp>
        <p:nvSpPr>
          <p:cNvPr id="26" name="Text 14"/>
          <p:cNvSpPr txBox="1"/>
          <p:nvPr/>
        </p:nvSpPr>
        <p:spPr>
          <a:xfrm>
            <a:off x="6353175" y="2506414"/>
            <a:ext cx="2305050" cy="5262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241E18">
                    <a:alpha val="88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 Common Wrong + 2 What Kids Get Confused</a:t>
            </a:r>
            <a:pPr indent="0" marL="0">
              <a:buNone/>
            </a:pPr>
            <a:r>
              <a:rPr lang="en-US" sz="938" dirty="0">
                <a:solidFill>
                  <a:srgbClr val="241E18">
                    <a:alpha val="88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+ fix + what to say. Socratic stems, not lectures.</a:t>
            </a:r>
            <a:endParaRPr lang="en-US" sz="938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3175" y="3127921"/>
            <a:ext cx="2305050" cy="84727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6477000" y="3251746"/>
            <a:ext cx="2057400" cy="61867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25" b="1" spc="50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SOCRATIC 342 STEMS:</a:t>
            </a:r>
            <a:endParaRPr lang="en-US" sz="825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 “What do you notice?”</a:t>
            </a:r>
            <a:endParaRPr lang="en-US" sz="825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 “What do you wonder?”</a:t>
            </a:r>
            <a:endParaRPr lang="en-US" sz="825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 “How is X like Y?”</a:t>
            </a:r>
            <a:endParaRPr lang="en-US" sz="825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3175" y="5236369"/>
            <a:ext cx="811857" cy="238125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6429375" y="5293519"/>
            <a:ext cx="65945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Don't tell, ask</a:t>
            </a:r>
            <a:endParaRPr lang="en-US" sz="75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20150" y="1386780"/>
            <a:ext cx="3009900" cy="4478238"/>
          </a:xfrm>
          <a:prstGeom prst="rect">
            <a:avLst/>
          </a:prstGeom>
        </p:spPr>
      </p:pic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72575" y="1815405"/>
            <a:ext cx="304800" cy="304800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9284345" y="1886843"/>
            <a:ext cx="193030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18"/>
          <p:cNvSpPr txBox="1"/>
          <p:nvPr/>
        </p:nvSpPr>
        <p:spPr>
          <a:xfrm>
            <a:off x="9172575" y="2215455"/>
            <a:ext cx="2305050" cy="18618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6"/>
              </a:lnSpc>
              <a:buNone/>
            </a:pPr>
            <a:r>
              <a:rPr lang="en-US" sz="12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Tips + credential</a:t>
            </a:r>
            <a:endParaRPr lang="en-US" sz="1275" dirty="0"/>
          </a:p>
        </p:txBody>
      </p:sp>
      <p:sp>
        <p:nvSpPr>
          <p:cNvPr id="35" name="Text 19"/>
          <p:cNvSpPr txBox="1"/>
          <p:nvPr/>
        </p:nvSpPr>
        <p:spPr>
          <a:xfrm>
            <a:off x="9172575" y="2506414"/>
            <a:ext cx="230505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41E18">
                    <a:alpha val="88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Management: music during Project 20m, 30 dots ready. Growth ladder for teachers.</a:t>
            </a:r>
            <a:endParaRPr lang="en-US" sz="938" dirty="0"/>
          </a:p>
        </p:txBody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72575" y="2949327"/>
            <a:ext cx="2305050" cy="847279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9296400" y="3073152"/>
            <a:ext cx="2057400" cy="61867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25" b="1" spc="50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MICRO-CREDENTIAL:</a:t>
            </a:r>
            <a:endParaRPr lang="en-US" sz="825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L1 Explorer Guide →</a:t>
            </a:r>
            <a:endParaRPr lang="en-US" sz="825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L2 Builder → L3 Creator →</a:t>
            </a:r>
            <a:endParaRPr lang="en-US" sz="825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L4 Innovator badge</a:t>
            </a:r>
            <a:endParaRPr lang="en-US" sz="825" dirty="0"/>
          </a:p>
        </p:txBody>
      </p:sp>
      <p:pic>
        <p:nvPicPr>
          <p:cNvPr id="3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72575" y="5236369"/>
            <a:ext cx="1010989" cy="238125"/>
          </a:xfrm>
          <a:prstGeom prst="rect">
            <a:avLst/>
          </a:prstGeom>
        </p:spPr>
      </p:pic>
      <p:sp>
        <p:nvSpPr>
          <p:cNvPr id="39" name="Text 21"/>
          <p:cNvSpPr txBox="1"/>
          <p:nvPr/>
        </p:nvSpPr>
        <p:spPr>
          <a:xfrm>
            <a:off x="9248775" y="5293519"/>
            <a:ext cx="85858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Peer checklist 5m</a:t>
            </a:r>
            <a:endParaRPr lang="en-US" sz="750" dirty="0"/>
          </a:p>
        </p:txBody>
      </p:sp>
      <p:pic>
        <p:nvPicPr>
          <p:cNvPr id="4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40714" y="5236369"/>
            <a:ext cx="882402" cy="238125"/>
          </a:xfrm>
          <a:prstGeom prst="rect">
            <a:avLst/>
          </a:prstGeom>
        </p:spPr>
      </p:pic>
      <p:sp>
        <p:nvSpPr>
          <p:cNvPr id="41" name="Text 22"/>
          <p:cNvSpPr txBox="1"/>
          <p:nvPr/>
        </p:nvSpPr>
        <p:spPr>
          <a:xfrm>
            <a:off x="10316914" y="5293519"/>
            <a:ext cx="73000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LinkedIn share</a:t>
            </a:r>
            <a:endParaRPr lang="en-US" sz="750" dirty="0"/>
          </a:p>
        </p:txBody>
      </p:sp>
      <p:pic>
        <p:nvPicPr>
          <p:cNvPr id="4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400" y="5807869"/>
            <a:ext cx="5486400" cy="592931"/>
          </a:xfrm>
          <a:prstGeom prst="rect">
            <a:avLst/>
          </a:prstGeom>
        </p:spPr>
      </p:pic>
      <p:pic>
        <p:nvPicPr>
          <p:cNvPr id="4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5325" y="5932884"/>
            <a:ext cx="233065" cy="342900"/>
          </a:xfrm>
          <a:prstGeom prst="rect">
            <a:avLst/>
          </a:prstGeom>
        </p:spPr>
      </p:pic>
      <p:sp>
        <p:nvSpPr>
          <p:cNvPr id="44" name="Text 23"/>
          <p:cNvSpPr txBox="1"/>
          <p:nvPr/>
        </p:nvSpPr>
        <p:spPr>
          <a:xfrm>
            <a:off x="716756" y="6009084"/>
            <a:ext cx="211634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💬</a:t>
            </a:r>
            <a:endParaRPr lang="en-US" sz="1200" dirty="0"/>
          </a:p>
        </p:txBody>
      </p:sp>
      <p:sp>
        <p:nvSpPr>
          <p:cNvPr id="45" name="Text 24"/>
          <p:cNvSpPr txBox="1"/>
          <p:nvPr/>
        </p:nvSpPr>
        <p:spPr>
          <a:xfrm>
            <a:off x="1042690" y="5941219"/>
            <a:ext cx="4815185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Socratic, not telling:</a:t>
            </a:r>
            <a:pPr indent="0" marL="0">
              <a:buNone/>
            </a:pPr>
            <a:r>
              <a:rPr lang="en-US" sz="938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If early finisher → XOR ladder. If stuck → 30-sec action. Teacher models failing first: “Watch me fail, then fix.”</a:t>
            </a:r>
            <a:endParaRPr lang="en-US" sz="938" dirty="0"/>
          </a:p>
        </p:txBody>
      </p:sp>
      <p:sp>
        <p:nvSpPr>
          <p:cNvPr id="46" name="Shape 25"/>
          <p:cNvSpPr/>
          <p:nvPr/>
        </p:nvSpPr>
        <p:spPr>
          <a:xfrm>
            <a:off x="6172200" y="5810250"/>
            <a:ext cx="5486400" cy="590550"/>
          </a:xfrm>
          <a:prstGeom prst="roundRect">
            <a:avLst>
              <a:gd name="adj" fmla="val 22581"/>
            </a:avLst>
          </a:prstGeom>
          <a:solidFill>
            <a:srgbClr val="241E18"/>
          </a:solidFill>
          <a:ln/>
        </p:spPr>
      </p:sp>
      <p:pic>
        <p:nvPicPr>
          <p:cNvPr id="4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5932884"/>
            <a:ext cx="299442" cy="342900"/>
          </a:xfrm>
          <a:prstGeom prst="rect">
            <a:avLst/>
          </a:prstGeom>
        </p:spPr>
      </p:pic>
      <p:sp>
        <p:nvSpPr>
          <p:cNvPr id="48" name="Text 26"/>
          <p:cNvSpPr txBox="1"/>
          <p:nvPr/>
        </p:nvSpPr>
        <p:spPr>
          <a:xfrm>
            <a:off x="6415683" y="5994797"/>
            <a:ext cx="208359" cy="2809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✓</a:t>
            </a:r>
            <a:endParaRPr lang="en-US" sz="1350" dirty="0"/>
          </a:p>
        </p:txBody>
      </p:sp>
      <p:sp>
        <p:nvSpPr>
          <p:cNvPr id="49" name="Text 27"/>
          <p:cNvSpPr txBox="1"/>
          <p:nvPr/>
        </p:nvSpPr>
        <p:spPr>
          <a:xfrm>
            <a:off x="6738342" y="5941219"/>
            <a:ext cx="4767858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b="1" dirty="0">
                <a:solidFill>
                  <a:srgbClr val="F9F8E4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Result:</a:t>
            </a:r>
            <a:pPr indent="0" marL="0">
              <a:buNone/>
            </a:pPr>
            <a:r>
              <a:rPr lang="en-US" sz="938" dirty="0">
                <a:solidFill>
                  <a:srgbClr val="F9F8E4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Zero prep panic — </a:t>
            </a:r>
            <a:pPr indent="0" marL="0">
              <a:buNone/>
            </a:pPr>
            <a:r>
              <a:rPr lang="en-US" sz="938" i="1" dirty="0">
                <a:solidFill>
                  <a:srgbClr val="FFBF8A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any teacher runs Day 1</a:t>
            </a:r>
            <a:pPr indent="0" marL="0">
              <a:buNone/>
            </a:pPr>
            <a:r>
              <a:rPr lang="en-US" sz="938" dirty="0">
                <a:solidFill>
                  <a:srgbClr val="F9F8E4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Parent trust because teacher confidence is visible.</a:t>
            </a:r>
            <a:endParaRPr lang="en-US" sz="93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438150"/>
            <a:ext cx="3258889" cy="173712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How it benefits your child —</a:t>
            </a:r>
            <a:endParaRPr lang="en-US" sz="36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600" b="1" i="1" spc="-72" kern="0" dirty="0">
                <a:solidFill>
                  <a:srgbClr val="B1531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skills that last beyond AI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3982789" y="1551384"/>
            <a:ext cx="5334000" cy="623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58554E">
                    <a:alpha val="78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 don't teach tricks for today's tools. We build judgment for tomorrow's problems — the same six skills parents value, tied to how the model actually runs.</a:t>
            </a:r>
            <a:endParaRPr lang="en-US" sz="11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5389" y="1884759"/>
            <a:ext cx="2151311" cy="29051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59689" y="1960959"/>
            <a:ext cx="192271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F9F8E4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VERIFIED 144 WEEKS • 114 SKILLS</a:t>
            </a:r>
            <a:endParaRPr lang="en-US" sz="8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2099072"/>
            <a:ext cx="3987701" cy="191333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4825" y="2337197"/>
            <a:ext cx="38100" cy="143708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508647"/>
            <a:ext cx="342900" cy="342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80901" y="2570559"/>
            <a:ext cx="238274" cy="2809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◧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1114425" y="2596307"/>
            <a:ext cx="989261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spc="-1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 Thinking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676275" y="2937272"/>
            <a:ext cx="3282851" cy="35123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960" dirty="0">
                <a:solidFill>
                  <a:srgbClr val="58554E">
                    <a:alpha val="86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80% of real AI work is cleaning. Messy Room analogy — sort, filter, keep what matters.</a:t>
            </a:r>
            <a:endParaRPr lang="en-US" sz="96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3383756"/>
            <a:ext cx="995958" cy="23812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62000" y="3440906"/>
            <a:ext cx="82450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Messy data cards</a:t>
            </a:r>
            <a:endParaRPr lang="en-US" sz="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383" y="3383756"/>
            <a:ext cx="1115318" cy="23812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815108" y="3440906"/>
            <a:ext cx="94386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Auto-rickshaw fare</a:t>
            </a:r>
            <a:endParaRPr lang="en-US" sz="7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2001" y="2099072"/>
            <a:ext cx="3987850" cy="1913334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4282976" y="2337197"/>
            <a:ext cx="38100" cy="143708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426" y="2508647"/>
            <a:ext cx="342900" cy="34290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4590008" y="2570559"/>
            <a:ext cx="207318" cy="2809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?</a:t>
            </a:r>
            <a:endParaRPr lang="en-US" sz="1350" dirty="0"/>
          </a:p>
        </p:txBody>
      </p:sp>
      <p:sp>
        <p:nvSpPr>
          <p:cNvPr id="20" name="Text 11"/>
          <p:cNvSpPr txBox="1"/>
          <p:nvPr/>
        </p:nvSpPr>
        <p:spPr>
          <a:xfrm>
            <a:off x="4892576" y="2596307"/>
            <a:ext cx="1185416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spc="-1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Critical Thinking</a:t>
            </a:r>
            <a:endParaRPr lang="en-US" sz="1200" dirty="0"/>
          </a:p>
        </p:txBody>
      </p:sp>
      <p:sp>
        <p:nvSpPr>
          <p:cNvPr id="21" name="Text 12"/>
          <p:cNvSpPr txBox="1"/>
          <p:nvPr/>
        </p:nvSpPr>
        <p:spPr>
          <a:xfrm>
            <a:off x="4454426" y="2937272"/>
            <a:ext cx="3283000" cy="35123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960" dirty="0">
                <a:solidFill>
                  <a:srgbClr val="58554E">
                    <a:alpha val="86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Where analogy breaks + Common Wrong + What If testing. Asks “when does this fail?”</a:t>
            </a:r>
            <a:endParaRPr lang="en-US" sz="96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426" y="3383756"/>
            <a:ext cx="1095821" cy="23812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4540151" y="3440906"/>
            <a:ext cx="92437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Bouncer ≠ learning</a:t>
            </a:r>
            <a:endParaRPr lang="en-US" sz="7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7397" y="3383756"/>
            <a:ext cx="917228" cy="238125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5693122" y="3440906"/>
            <a:ext cx="74577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weight=0, bias?</a:t>
            </a:r>
            <a:endParaRPr lang="en-US" sz="7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0300" y="2099072"/>
            <a:ext cx="3987701" cy="1913334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8061275" y="2337197"/>
            <a:ext cx="38100" cy="143708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2725" y="2508647"/>
            <a:ext cx="342900" cy="34290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8337352" y="2570559"/>
            <a:ext cx="238274" cy="2809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✦</a:t>
            </a:r>
            <a:endParaRPr lang="en-US" sz="1350" dirty="0"/>
          </a:p>
        </p:txBody>
      </p:sp>
      <p:sp>
        <p:nvSpPr>
          <p:cNvPr id="30" name="Text 17"/>
          <p:cNvSpPr txBox="1"/>
          <p:nvPr/>
        </p:nvSpPr>
        <p:spPr>
          <a:xfrm>
            <a:off x="8670875" y="2596307"/>
            <a:ext cx="676275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spc="-1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Creativity</a:t>
            </a:r>
            <a:endParaRPr lang="en-US" sz="1200" dirty="0"/>
          </a:p>
        </p:txBody>
      </p:sp>
      <p:sp>
        <p:nvSpPr>
          <p:cNvPr id="31" name="Text 18"/>
          <p:cNvSpPr txBox="1"/>
          <p:nvPr/>
        </p:nvSpPr>
        <p:spPr>
          <a:xfrm>
            <a:off x="8232725" y="2937272"/>
            <a:ext cx="3282851" cy="35123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960" dirty="0">
                <a:solidFill>
                  <a:srgbClr val="58554E">
                    <a:alpha val="86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Choice Board A/B/C — Science Fair, Game, Art. Dream Machine GANs to diffusion.</a:t>
            </a:r>
            <a:endParaRPr lang="en-US" sz="96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2725" y="3383756"/>
            <a:ext cx="859929" cy="238125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8318450" y="3440906"/>
            <a:ext cx="68847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LED Diwali art</a:t>
            </a:r>
            <a:endParaRPr lang="en-US" sz="75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9804" y="3383756"/>
            <a:ext cx="932557" cy="238125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9235529" y="3440906"/>
            <a:ext cx="76110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Dream Machine</a:t>
            </a:r>
            <a:endParaRPr lang="en-US" sz="75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3850" y="3688556"/>
            <a:ext cx="3987701" cy="1913334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504825" y="3926681"/>
            <a:ext cx="38100" cy="143708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" y="4098131"/>
            <a:ext cx="342900" cy="342900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714226" y="4160044"/>
            <a:ext cx="304949" cy="2809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A5DB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◍◍</a:t>
            </a:r>
            <a:endParaRPr lang="en-US" sz="1350" dirty="0"/>
          </a:p>
        </p:txBody>
      </p:sp>
      <p:sp>
        <p:nvSpPr>
          <p:cNvPr id="40" name="Text 23"/>
          <p:cNvSpPr txBox="1"/>
          <p:nvPr/>
        </p:nvSpPr>
        <p:spPr>
          <a:xfrm>
            <a:off x="1114425" y="4185791"/>
            <a:ext cx="953839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spc="-1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41" name="Text 24"/>
          <p:cNvSpPr txBox="1"/>
          <p:nvPr/>
        </p:nvSpPr>
        <p:spPr>
          <a:xfrm>
            <a:off x="676275" y="4526756"/>
            <a:ext cx="3282851" cy="35123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960" dirty="0">
                <a:solidFill>
                  <a:srgbClr val="58554E">
                    <a:alpha val="86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Community Pooling 60→180, team agents AutoGen 2023, multi-modal building together.</a:t>
            </a:r>
            <a:endParaRPr lang="en-US" sz="960" dirty="0"/>
          </a:p>
        </p:txBody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4973241"/>
            <a:ext cx="782241" cy="238125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762000" y="5030391"/>
            <a:ext cx="61079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Hyd/Del/Che</a:t>
            </a:r>
            <a:endParaRPr lang="en-US" sz="750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15666" y="4973241"/>
            <a:ext cx="720030" cy="238125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1601391" y="5030391"/>
            <a:ext cx="54858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72% → 88%</a:t>
            </a:r>
            <a:endParaRPr lang="en-US" sz="750" dirty="0"/>
          </a:p>
        </p:txBody>
      </p:sp>
      <p:pic>
        <p:nvPicPr>
          <p:cNvPr id="4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02001" y="3688556"/>
            <a:ext cx="3987850" cy="1913334"/>
          </a:xfrm>
          <a:prstGeom prst="rect">
            <a:avLst/>
          </a:prstGeom>
        </p:spPr>
      </p:pic>
      <p:sp>
        <p:nvSpPr>
          <p:cNvPr id="47" name="Text 27"/>
          <p:cNvSpPr txBox="1"/>
          <p:nvPr/>
        </p:nvSpPr>
        <p:spPr>
          <a:xfrm>
            <a:off x="4282976" y="3926681"/>
            <a:ext cx="38100" cy="143708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54426" y="4098131"/>
            <a:ext cx="342900" cy="342900"/>
          </a:xfrm>
          <a:prstGeom prst="rect">
            <a:avLst/>
          </a:prstGeom>
        </p:spPr>
      </p:pic>
      <p:sp>
        <p:nvSpPr>
          <p:cNvPr id="49" name="Text 28"/>
          <p:cNvSpPr txBox="1"/>
          <p:nvPr/>
        </p:nvSpPr>
        <p:spPr>
          <a:xfrm>
            <a:off x="4559052" y="4160044"/>
            <a:ext cx="238274" cy="2809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6B3FC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⚑</a:t>
            </a:r>
            <a:endParaRPr lang="en-US" sz="1350" dirty="0"/>
          </a:p>
        </p:txBody>
      </p:sp>
      <p:sp>
        <p:nvSpPr>
          <p:cNvPr id="50" name="Text 29"/>
          <p:cNvSpPr txBox="1"/>
          <p:nvPr/>
        </p:nvSpPr>
        <p:spPr>
          <a:xfrm>
            <a:off x="4892576" y="4185791"/>
            <a:ext cx="1617464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spc="-1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Ethics &amp; Responsibility</a:t>
            </a:r>
            <a:endParaRPr lang="en-US" sz="1200" dirty="0"/>
          </a:p>
        </p:txBody>
      </p:sp>
      <p:sp>
        <p:nvSpPr>
          <p:cNvPr id="51" name="Text 30"/>
          <p:cNvSpPr txBox="1"/>
          <p:nvPr/>
        </p:nvSpPr>
        <p:spPr>
          <a:xfrm>
            <a:off x="4454426" y="4526756"/>
            <a:ext cx="3283000" cy="35123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960" dirty="0">
                <a:solidFill>
                  <a:srgbClr val="58554E">
                    <a:alpha val="86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Permission Slip Copyright, Who Owns Cake, Fair Referee — action pledge, not lecture.</a:t>
            </a:r>
            <a:endParaRPr lang="en-US" sz="960" dirty="0"/>
          </a:p>
        </p:txBody>
      </p:sp>
      <p:pic>
        <p:nvPicPr>
          <p:cNvPr id="5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54426" y="4973241"/>
            <a:ext cx="1052513" cy="238125"/>
          </a:xfrm>
          <a:prstGeom prst="rect">
            <a:avLst/>
          </a:prstGeom>
        </p:spPr>
      </p:pic>
      <p:sp>
        <p:nvSpPr>
          <p:cNvPr id="53" name="Text 31"/>
          <p:cNvSpPr txBox="1"/>
          <p:nvPr/>
        </p:nvSpPr>
        <p:spPr>
          <a:xfrm>
            <a:off x="4540151" y="5030391"/>
            <a:ext cx="88106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Traffic light R/Y/G</a:t>
            </a:r>
            <a:endParaRPr lang="en-US" sz="750" dirty="0"/>
          </a:p>
        </p:txBody>
      </p:sp>
      <p:pic>
        <p:nvPicPr>
          <p:cNvPr id="5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64088" y="4973241"/>
            <a:ext cx="902643" cy="238125"/>
          </a:xfrm>
          <a:prstGeom prst="rect">
            <a:avLst/>
          </a:prstGeom>
        </p:spPr>
      </p:pic>
      <p:sp>
        <p:nvSpPr>
          <p:cNvPr id="55" name="Text 32"/>
          <p:cNvSpPr txBox="1"/>
          <p:nvPr/>
        </p:nvSpPr>
        <p:spPr>
          <a:xfrm>
            <a:off x="5649813" y="5030391"/>
            <a:ext cx="73119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Gender Shades</a:t>
            </a:r>
            <a:endParaRPr lang="en-US" sz="750" dirty="0"/>
          </a:p>
        </p:txBody>
      </p:sp>
      <p:pic>
        <p:nvPicPr>
          <p:cNvPr id="5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80300" y="3688556"/>
            <a:ext cx="3987701" cy="1913334"/>
          </a:xfrm>
          <a:prstGeom prst="rect">
            <a:avLst/>
          </a:prstGeom>
        </p:spPr>
      </p:pic>
      <p:sp>
        <p:nvSpPr>
          <p:cNvPr id="57" name="Text 33"/>
          <p:cNvSpPr txBox="1"/>
          <p:nvPr/>
        </p:nvSpPr>
        <p:spPr>
          <a:xfrm>
            <a:off x="8061275" y="3926681"/>
            <a:ext cx="38100" cy="143708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5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32725" y="4098131"/>
            <a:ext cx="342900" cy="342900"/>
          </a:xfrm>
          <a:prstGeom prst="rect">
            <a:avLst/>
          </a:prstGeom>
        </p:spPr>
      </p:pic>
      <p:sp>
        <p:nvSpPr>
          <p:cNvPr id="59" name="Text 34"/>
          <p:cNvSpPr txBox="1"/>
          <p:nvPr/>
        </p:nvSpPr>
        <p:spPr>
          <a:xfrm>
            <a:off x="8337352" y="4160044"/>
            <a:ext cx="238274" cy="2809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↻</a:t>
            </a:r>
            <a:endParaRPr lang="en-US" sz="1350" dirty="0"/>
          </a:p>
        </p:txBody>
      </p:sp>
      <p:sp>
        <p:nvSpPr>
          <p:cNvPr id="60" name="Text 35"/>
          <p:cNvSpPr txBox="1"/>
          <p:nvPr/>
        </p:nvSpPr>
        <p:spPr>
          <a:xfrm>
            <a:off x="8670875" y="4185791"/>
            <a:ext cx="702766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spc="-1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61" name="Text 36"/>
          <p:cNvSpPr txBox="1"/>
          <p:nvPr/>
        </p:nvSpPr>
        <p:spPr>
          <a:xfrm>
            <a:off x="8232725" y="4526756"/>
            <a:ext cx="3282851" cy="35123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960" dirty="0">
                <a:solidFill>
                  <a:srgbClr val="58554E">
                    <a:alpha val="86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Failure Museum 3 fails per lab + troubleshooting. “Watch me fail first, then fix.”</a:t>
            </a:r>
            <a:endParaRPr lang="en-US" sz="960" dirty="0"/>
          </a:p>
        </p:txBody>
      </p:sp>
      <p:pic>
        <p:nvPicPr>
          <p:cNvPr id="62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32725" y="4973241"/>
            <a:ext cx="1578322" cy="238125"/>
          </a:xfrm>
          <a:prstGeom prst="rect">
            <a:avLst/>
          </a:prstGeom>
        </p:spPr>
      </p:pic>
      <p:sp>
        <p:nvSpPr>
          <p:cNvPr id="63" name="Text 37"/>
          <p:cNvSpPr txBox="1"/>
          <p:nvPr/>
        </p:nvSpPr>
        <p:spPr>
          <a:xfrm>
            <a:off x="8318450" y="5030391"/>
            <a:ext cx="140687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LED always ON → bias -2 to -1</a:t>
            </a:r>
            <a:endParaRPr lang="en-US" sz="750" dirty="0"/>
          </a:p>
        </p:txBody>
      </p:sp>
      <p:pic>
        <p:nvPicPr>
          <p:cNvPr id="6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868198" y="4973241"/>
            <a:ext cx="962620" cy="238125"/>
          </a:xfrm>
          <a:prstGeom prst="rect">
            <a:avLst/>
          </a:prstGeom>
        </p:spPr>
      </p:pic>
      <p:sp>
        <p:nvSpPr>
          <p:cNvPr id="65" name="Text 38"/>
          <p:cNvSpPr txBox="1"/>
          <p:nvPr/>
        </p:nvSpPr>
        <p:spPr>
          <a:xfrm>
            <a:off x="9953923" y="5030391"/>
            <a:ext cx="79117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Growth mindset</a:t>
            </a:r>
            <a:endParaRPr lang="en-US" sz="750" dirty="0"/>
          </a:p>
        </p:txBody>
      </p:sp>
      <p:pic>
        <p:nvPicPr>
          <p:cNvPr id="66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5300" y="5924550"/>
            <a:ext cx="11201400" cy="552450"/>
          </a:xfrm>
          <a:prstGeom prst="rect">
            <a:avLst/>
          </a:prstGeom>
        </p:spPr>
      </p:pic>
      <p:pic>
        <p:nvPicPr>
          <p:cNvPr id="67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7225" y="6048375"/>
            <a:ext cx="304800" cy="304800"/>
          </a:xfrm>
          <a:prstGeom prst="rect">
            <a:avLst/>
          </a:prstGeom>
        </p:spPr>
      </p:pic>
      <p:sp>
        <p:nvSpPr>
          <p:cNvPr id="68" name="Text 39"/>
          <p:cNvSpPr txBox="1"/>
          <p:nvPr/>
        </p:nvSpPr>
        <p:spPr>
          <a:xfrm>
            <a:off x="767209" y="6120557"/>
            <a:ext cx="194816" cy="23261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✓</a:t>
            </a:r>
            <a:endParaRPr lang="en-US" sz="975" dirty="0"/>
          </a:p>
        </p:txBody>
      </p:sp>
      <p:sp>
        <p:nvSpPr>
          <p:cNvPr id="69" name="Text 40"/>
          <p:cNvSpPr txBox="1"/>
          <p:nvPr/>
        </p:nvSpPr>
        <p:spPr>
          <a:xfrm>
            <a:off x="1076325" y="6120557"/>
            <a:ext cx="10199340" cy="1699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parents see:</a:t>
            </a:r>
            <a:pPr indent="0" marL="0">
              <a:buNone/>
            </a:pPr>
            <a:r>
              <a:rPr lang="en-US" sz="975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Not screen time — thinking time. Your child explains “My model worked when… but failed when… Ethical risk…” in 60 seconds. That's transferable, not temporary.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419100"/>
            <a:ext cx="11201400" cy="4388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Results you can see — not just grades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724644"/>
            <a:ext cx="5081736" cy="607620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0" y="0"/>
            <a:ext cx="1181100" cy="11811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145381" y="3531691"/>
            <a:ext cx="318939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78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1187351" y="3846016"/>
            <a:ext cx="23514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5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/100</a:t>
            </a:r>
            <a:endParaRPr lang="en-US" sz="825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2827883"/>
            <a:ext cx="2151906" cy="23812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238375" y="2885033"/>
            <a:ext cx="196140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L2 U3 W14 • STRONG: DATA CLEANING</a:t>
            </a:r>
            <a:endParaRPr lang="en-US" sz="750" dirty="0"/>
          </a:p>
        </p:txBody>
      </p:sp>
      <p:sp>
        <p:nvSpPr>
          <p:cNvPr id="9" name="Text 4"/>
          <p:cNvSpPr txBox="1"/>
          <p:nvPr/>
        </p:nvSpPr>
        <p:spPr>
          <a:xfrm>
            <a:off x="2143125" y="3142208"/>
            <a:ext cx="2757636" cy="38844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Skill breakdown that means something</a:t>
            </a:r>
            <a:endParaRPr lang="en-US" sz="1275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25" y="3606850"/>
            <a:ext cx="2757636" cy="90011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266950" y="3721150"/>
            <a:ext cx="2509986" cy="681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Strong:</a:t>
            </a:r>
            <a:pPr indent="0" marL="0">
              <a:buNone/>
            </a:pPr>
            <a:r>
              <a:rPr lang="en-US" sz="938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Data cleaning • </a:t>
            </a:r>
            <a:pPr indent="0" marL="0">
              <a:buNone/>
            </a:pPr>
            <a:r>
              <a:rPr lang="en-US" sz="938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Needs:</a:t>
            </a:r>
            <a:pPr indent="0" marL="0">
              <a:buNone/>
            </a:pPr>
            <a:r>
              <a:rPr lang="en-US" sz="938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Bias / Variance • </a:t>
            </a:r>
            <a:pPr indent="0" marL="0">
              <a:buNone/>
            </a:pPr>
            <a:r>
              <a:rPr lang="en-US" sz="938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Next:</a:t>
            </a:r>
            <a:pPr indent="0" marL="0">
              <a:buNone/>
            </a:pPr>
            <a:r>
              <a:rPr lang="en-US" sz="938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Goldilocks overfit zone</a:t>
            </a:r>
            <a:endParaRPr lang="en-US" sz="938" dirty="0"/>
          </a:p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Adaptive practice: unlimited variants, not same worksheet.</a:t>
            </a:r>
            <a:endParaRPr lang="en-US" sz="938" dirty="0"/>
          </a:p>
        </p:txBody>
      </p:sp>
      <p:sp>
        <p:nvSpPr>
          <p:cNvPr id="12" name="Shape 6"/>
          <p:cNvSpPr/>
          <p:nvPr/>
        </p:nvSpPr>
        <p:spPr>
          <a:xfrm>
            <a:off x="2143125" y="4619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6B43"/>
          </a:solidFill>
          <a:ln/>
        </p:spPr>
      </p:sp>
      <p:sp>
        <p:nvSpPr>
          <p:cNvPr id="13" name="Shape 7"/>
          <p:cNvSpPr/>
          <p:nvPr/>
        </p:nvSpPr>
        <p:spPr>
          <a:xfrm>
            <a:off x="2257425" y="4619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6B43"/>
          </a:solidFill>
          <a:ln/>
        </p:spPr>
      </p:sp>
      <p:sp>
        <p:nvSpPr>
          <p:cNvPr id="14" name="Shape 8"/>
          <p:cNvSpPr/>
          <p:nvPr/>
        </p:nvSpPr>
        <p:spPr>
          <a:xfrm>
            <a:off x="2371725" y="4619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6B43"/>
          </a:solidFill>
          <a:ln/>
        </p:spPr>
      </p:sp>
      <p:sp>
        <p:nvSpPr>
          <p:cNvPr id="15" name="Shape 9"/>
          <p:cNvSpPr/>
          <p:nvPr/>
        </p:nvSpPr>
        <p:spPr>
          <a:xfrm>
            <a:off x="2486025" y="4619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6" name="Shape 10"/>
          <p:cNvSpPr/>
          <p:nvPr/>
        </p:nvSpPr>
        <p:spPr>
          <a:xfrm>
            <a:off x="2600325" y="4619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7" name="Shape 11"/>
          <p:cNvSpPr/>
          <p:nvPr/>
        </p:nvSpPr>
        <p:spPr>
          <a:xfrm>
            <a:off x="2714625" y="4619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8" name="Shape 12"/>
          <p:cNvSpPr/>
          <p:nvPr/>
        </p:nvSpPr>
        <p:spPr>
          <a:xfrm>
            <a:off x="2828925" y="4619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9" name="Shape 13"/>
          <p:cNvSpPr/>
          <p:nvPr/>
        </p:nvSpPr>
        <p:spPr>
          <a:xfrm>
            <a:off x="2943225" y="4619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0" name="Shape 14"/>
          <p:cNvSpPr/>
          <p:nvPr/>
        </p:nvSpPr>
        <p:spPr>
          <a:xfrm>
            <a:off x="3057525" y="4619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6B43"/>
          </a:solidFill>
          <a:ln/>
        </p:spPr>
      </p:sp>
      <p:sp>
        <p:nvSpPr>
          <p:cNvPr id="21" name="Shape 15"/>
          <p:cNvSpPr/>
          <p:nvPr/>
        </p:nvSpPr>
        <p:spPr>
          <a:xfrm>
            <a:off x="3171825" y="4619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6B43"/>
          </a:solidFill>
          <a:ln/>
        </p:spPr>
      </p:sp>
      <p:sp>
        <p:nvSpPr>
          <p:cNvPr id="22" name="Shape 16"/>
          <p:cNvSpPr/>
          <p:nvPr/>
        </p:nvSpPr>
        <p:spPr>
          <a:xfrm>
            <a:off x="3286125" y="4619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3" name="Shape 17"/>
          <p:cNvSpPr/>
          <p:nvPr/>
        </p:nvSpPr>
        <p:spPr>
          <a:xfrm>
            <a:off x="3400425" y="4619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4" name="Shape 18"/>
          <p:cNvSpPr/>
          <p:nvPr/>
        </p:nvSpPr>
        <p:spPr>
          <a:xfrm>
            <a:off x="3514725" y="4619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6B43"/>
          </a:solidFill>
          <a:ln/>
        </p:spPr>
      </p:sp>
      <p:sp>
        <p:nvSpPr>
          <p:cNvPr id="25" name="Shape 19"/>
          <p:cNvSpPr/>
          <p:nvPr/>
        </p:nvSpPr>
        <p:spPr>
          <a:xfrm>
            <a:off x="3629025" y="4619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6B43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310336" y="1066651"/>
            <a:ext cx="3133725" cy="1970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350" b="1" spc="-20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My AI Portfolio — auto-builds in browser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788" y="1029444"/>
            <a:ext cx="1439912" cy="27146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352038" y="1096119"/>
            <a:ext cx="124941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F9F8E4"/>
                </a:solidFill>
                <a:highlight>
                  <a:srgbClr val="241E18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DEMO DAY WEBSITE →</a:t>
            </a:r>
            <a:endParaRPr lang="en-US" sz="825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6986" y="1262807"/>
            <a:ext cx="2331988" cy="2063502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3211" y="1577132"/>
            <a:ext cx="1779538" cy="70485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188422" y="1781919"/>
            <a:ext cx="1034802" cy="4905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🃏</a:t>
            </a:r>
            <a:endParaRPr lang="en-US" sz="1950" dirty="0"/>
          </a:p>
        </p:txBody>
      </p:sp>
      <p:sp>
        <p:nvSpPr>
          <p:cNvPr id="32" name="Text 23"/>
          <p:cNvSpPr txBox="1"/>
          <p:nvPr/>
        </p:nvSpPr>
        <p:spPr>
          <a:xfrm>
            <a:off x="5453211" y="2358182"/>
            <a:ext cx="1779538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spc="-9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W2 AND gate card model</a:t>
            </a:r>
            <a:endParaRPr lang="en-US" sz="938" dirty="0"/>
          </a:p>
        </p:txBody>
      </p:sp>
      <p:sp>
        <p:nvSpPr>
          <p:cNvPr id="33" name="Text 24"/>
          <p:cNvSpPr txBox="1"/>
          <p:nvPr/>
        </p:nvSpPr>
        <p:spPr>
          <a:xfrm>
            <a:off x="5453211" y="2598688"/>
            <a:ext cx="1779538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8554E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Photo + 60-sec pitch + reflection</a:t>
            </a:r>
            <a:endParaRPr lang="en-US" sz="825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3211" y="2811959"/>
            <a:ext cx="666452" cy="21907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519886" y="2859584"/>
            <a:ext cx="53310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G6 Explorer</a:t>
            </a:r>
            <a:endParaRPr lang="en-US" sz="7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7524" y="1262807"/>
            <a:ext cx="2331988" cy="2063502"/>
          </a:xfrm>
          <a:prstGeom prst="rect">
            <a:avLst/>
          </a:prstGeom>
        </p:spPr>
      </p:pic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3749" y="1577132"/>
            <a:ext cx="1779538" cy="704850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8348960" y="1781919"/>
            <a:ext cx="1034802" cy="4905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🚕</a:t>
            </a:r>
            <a:endParaRPr lang="en-US" sz="1950" dirty="0"/>
          </a:p>
        </p:txBody>
      </p:sp>
      <p:sp>
        <p:nvSpPr>
          <p:cNvPr id="39" name="Text 27"/>
          <p:cNvSpPr txBox="1"/>
          <p:nvPr/>
        </p:nvSpPr>
        <p:spPr>
          <a:xfrm>
            <a:off x="7613749" y="2358182"/>
            <a:ext cx="1779538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spc="-9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Auto-rickshaw fare predictor</a:t>
            </a:r>
            <a:endParaRPr lang="en-US" sz="938" dirty="0"/>
          </a:p>
        </p:txBody>
      </p:sp>
      <p:sp>
        <p:nvSpPr>
          <p:cNvPr id="40" name="Text 28"/>
          <p:cNvSpPr txBox="1"/>
          <p:nvPr/>
        </p:nvSpPr>
        <p:spPr>
          <a:xfrm>
            <a:off x="7613749" y="2598688"/>
            <a:ext cx="1779538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8554E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Regression chart + ethics check</a:t>
            </a:r>
            <a:endParaRPr lang="en-US" sz="825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3749" y="2811959"/>
            <a:ext cx="605433" cy="219075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7680424" y="2859584"/>
            <a:ext cx="47208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G7 Builder</a:t>
            </a:r>
            <a:endParaRPr lang="en-US" sz="75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98062" y="1262807"/>
            <a:ext cx="2331988" cy="2063502"/>
          </a:xfrm>
          <a:prstGeom prst="rect">
            <a:avLst/>
          </a:prstGeom>
        </p:spPr>
      </p:pic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4287" y="1577132"/>
            <a:ext cx="1779538" cy="704850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10509498" y="1781919"/>
            <a:ext cx="1034802" cy="4905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🗺️</a:t>
            </a:r>
            <a:endParaRPr lang="en-US" sz="1950" dirty="0"/>
          </a:p>
        </p:txBody>
      </p:sp>
      <p:sp>
        <p:nvSpPr>
          <p:cNvPr id="46" name="Text 31"/>
          <p:cNvSpPr txBox="1"/>
          <p:nvPr/>
        </p:nvSpPr>
        <p:spPr>
          <a:xfrm>
            <a:off x="9774287" y="2358182"/>
            <a:ext cx="1779538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spc="-9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Tiffin SLAM map</a:t>
            </a:r>
            <a:endParaRPr lang="en-US" sz="938" dirty="0"/>
          </a:p>
        </p:txBody>
      </p:sp>
      <p:sp>
        <p:nvSpPr>
          <p:cNvPr id="47" name="Text 32"/>
          <p:cNvSpPr txBox="1"/>
          <p:nvPr/>
        </p:nvSpPr>
        <p:spPr>
          <a:xfrm>
            <a:off x="9774287" y="2598688"/>
            <a:ext cx="1779538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8554E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Distance scan • servo • map built</a:t>
            </a:r>
            <a:endParaRPr lang="en-US" sz="825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74287" y="2811959"/>
            <a:ext cx="725091" cy="219075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9840962" y="2859584"/>
            <a:ext cx="59174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G9 Innovator</a:t>
            </a:r>
            <a:endParaRPr lang="en-US" sz="750" dirty="0"/>
          </a:p>
        </p:txBody>
      </p:sp>
      <p:sp>
        <p:nvSpPr>
          <p:cNvPr id="50" name="Shape 34"/>
          <p:cNvSpPr/>
          <p:nvPr/>
        </p:nvSpPr>
        <p:spPr>
          <a:xfrm>
            <a:off x="5314950" y="3286125"/>
            <a:ext cx="3124200" cy="904875"/>
          </a:xfrm>
          <a:prstGeom prst="roundRect">
            <a:avLst>
              <a:gd name="adj" fmla="val 14737"/>
            </a:avLst>
          </a:prstGeom>
          <a:solidFill>
            <a:srgbClr val="241E18"/>
          </a:solidFill>
          <a:ln/>
        </p:spPr>
      </p:sp>
      <p:sp>
        <p:nvSpPr>
          <p:cNvPr id="51" name="Text 35"/>
          <p:cNvSpPr txBox="1"/>
          <p:nvPr/>
        </p:nvSpPr>
        <p:spPr>
          <a:xfrm>
            <a:off x="5462736" y="3421559"/>
            <a:ext cx="2017514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1050" b="1" spc="-11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Mastery Map 114 skills</a:t>
            </a:r>
            <a:endParaRPr lang="en-US" sz="1050" dirty="0"/>
          </a:p>
        </p:txBody>
      </p:sp>
      <p:sp>
        <p:nvSpPr>
          <p:cNvPr id="52" name="Text 36"/>
          <p:cNvSpPr txBox="1"/>
          <p:nvPr/>
        </p:nvSpPr>
        <p:spPr>
          <a:xfrm>
            <a:off x="5462736" y="3610124"/>
            <a:ext cx="2017514" cy="45035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58554E">
                    <a:alpha val="7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Red = start • Yellow = trying</a:t>
            </a:r>
            <a:endParaRPr lang="en-US" sz="863" dirty="0"/>
          </a:p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58554E">
                    <a:alpha val="7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Blue = getting it • Green = mastered • See gaps at a glance</a:t>
            </a:r>
            <a:endParaRPr lang="en-US" sz="863" dirty="0"/>
          </a:p>
        </p:txBody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9519" y="3598069"/>
            <a:ext cx="76200" cy="76200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7581900" y="360045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84294" y="3598069"/>
            <a:ext cx="76200" cy="76200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7686675" y="360045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89069" y="3598069"/>
            <a:ext cx="76200" cy="76200"/>
          </a:xfrm>
          <a:prstGeom prst="rect">
            <a:avLst/>
          </a:prstGeom>
        </p:spPr>
      </p:pic>
      <p:sp>
        <p:nvSpPr>
          <p:cNvPr id="58" name="Text 39"/>
          <p:cNvSpPr txBox="1"/>
          <p:nvPr/>
        </p:nvSpPr>
        <p:spPr>
          <a:xfrm>
            <a:off x="7791450" y="360045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93844" y="3598069"/>
            <a:ext cx="76200" cy="76200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7896225" y="360045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98619" y="3598069"/>
            <a:ext cx="76200" cy="76200"/>
          </a:xfrm>
          <a:prstGeom prst="rect">
            <a:avLst/>
          </a:prstGeom>
        </p:spPr>
      </p:pic>
      <p:sp>
        <p:nvSpPr>
          <p:cNvPr id="62" name="Text 41"/>
          <p:cNvSpPr txBox="1"/>
          <p:nvPr/>
        </p:nvSpPr>
        <p:spPr>
          <a:xfrm>
            <a:off x="8001000" y="360045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03394" y="3598069"/>
            <a:ext cx="76200" cy="76200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8105775" y="360045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08169" y="3598069"/>
            <a:ext cx="76200" cy="76200"/>
          </a:xfrm>
          <a:prstGeom prst="rect">
            <a:avLst/>
          </a:prstGeom>
        </p:spPr>
      </p:pic>
      <p:sp>
        <p:nvSpPr>
          <p:cNvPr id="66" name="Text 43"/>
          <p:cNvSpPr txBox="1"/>
          <p:nvPr/>
        </p:nvSpPr>
        <p:spPr>
          <a:xfrm>
            <a:off x="8210550" y="360045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79519" y="3702844"/>
            <a:ext cx="76200" cy="76200"/>
          </a:xfrm>
          <a:prstGeom prst="rect">
            <a:avLst/>
          </a:prstGeom>
        </p:spPr>
      </p:pic>
      <p:sp>
        <p:nvSpPr>
          <p:cNvPr id="68" name="Text 44"/>
          <p:cNvSpPr txBox="1"/>
          <p:nvPr/>
        </p:nvSpPr>
        <p:spPr>
          <a:xfrm>
            <a:off x="7581900" y="370522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84294" y="3702844"/>
            <a:ext cx="76200" cy="76200"/>
          </a:xfrm>
          <a:prstGeom prst="rect">
            <a:avLst/>
          </a:prstGeom>
        </p:spPr>
      </p:pic>
      <p:sp>
        <p:nvSpPr>
          <p:cNvPr id="70" name="Text 45"/>
          <p:cNvSpPr txBox="1"/>
          <p:nvPr/>
        </p:nvSpPr>
        <p:spPr>
          <a:xfrm>
            <a:off x="7686675" y="370522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789069" y="3702844"/>
            <a:ext cx="76200" cy="76200"/>
          </a:xfrm>
          <a:prstGeom prst="rect">
            <a:avLst/>
          </a:prstGeom>
        </p:spPr>
      </p:pic>
      <p:sp>
        <p:nvSpPr>
          <p:cNvPr id="72" name="Text 46"/>
          <p:cNvSpPr txBox="1"/>
          <p:nvPr/>
        </p:nvSpPr>
        <p:spPr>
          <a:xfrm>
            <a:off x="7791450" y="370522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93844" y="3702844"/>
            <a:ext cx="76200" cy="76200"/>
          </a:xfrm>
          <a:prstGeom prst="rect">
            <a:avLst/>
          </a:prstGeom>
        </p:spPr>
      </p:pic>
      <p:sp>
        <p:nvSpPr>
          <p:cNvPr id="74" name="Text 47"/>
          <p:cNvSpPr txBox="1"/>
          <p:nvPr/>
        </p:nvSpPr>
        <p:spPr>
          <a:xfrm>
            <a:off x="7896225" y="370522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998619" y="3702844"/>
            <a:ext cx="76200" cy="76200"/>
          </a:xfrm>
          <a:prstGeom prst="rect">
            <a:avLst/>
          </a:prstGeom>
        </p:spPr>
      </p:pic>
      <p:sp>
        <p:nvSpPr>
          <p:cNvPr id="76" name="Text 48"/>
          <p:cNvSpPr txBox="1"/>
          <p:nvPr/>
        </p:nvSpPr>
        <p:spPr>
          <a:xfrm>
            <a:off x="8001000" y="370522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7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03394" y="3702844"/>
            <a:ext cx="76200" cy="76200"/>
          </a:xfrm>
          <a:prstGeom prst="rect">
            <a:avLst/>
          </a:prstGeom>
        </p:spPr>
      </p:pic>
      <p:sp>
        <p:nvSpPr>
          <p:cNvPr id="78" name="Text 49"/>
          <p:cNvSpPr txBox="1"/>
          <p:nvPr/>
        </p:nvSpPr>
        <p:spPr>
          <a:xfrm>
            <a:off x="8105775" y="370522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08169" y="3702844"/>
            <a:ext cx="76200" cy="76200"/>
          </a:xfrm>
          <a:prstGeom prst="rect">
            <a:avLst/>
          </a:prstGeom>
        </p:spPr>
      </p:pic>
      <p:sp>
        <p:nvSpPr>
          <p:cNvPr id="80" name="Text 50"/>
          <p:cNvSpPr txBox="1"/>
          <p:nvPr/>
        </p:nvSpPr>
        <p:spPr>
          <a:xfrm>
            <a:off x="8210550" y="370522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84294" y="3807619"/>
            <a:ext cx="76200" cy="76200"/>
          </a:xfrm>
          <a:prstGeom prst="rect">
            <a:avLst/>
          </a:prstGeom>
        </p:spPr>
      </p:pic>
      <p:sp>
        <p:nvSpPr>
          <p:cNvPr id="82" name="Text 51"/>
          <p:cNvSpPr txBox="1"/>
          <p:nvPr/>
        </p:nvSpPr>
        <p:spPr>
          <a:xfrm>
            <a:off x="7686675" y="381000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89069" y="3807619"/>
            <a:ext cx="76200" cy="76200"/>
          </a:xfrm>
          <a:prstGeom prst="rect">
            <a:avLst/>
          </a:prstGeom>
        </p:spPr>
      </p:pic>
      <p:sp>
        <p:nvSpPr>
          <p:cNvPr id="84" name="Text 52"/>
          <p:cNvSpPr txBox="1"/>
          <p:nvPr/>
        </p:nvSpPr>
        <p:spPr>
          <a:xfrm>
            <a:off x="7791450" y="381000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93844" y="3807619"/>
            <a:ext cx="76200" cy="76200"/>
          </a:xfrm>
          <a:prstGeom prst="rect">
            <a:avLst/>
          </a:prstGeom>
        </p:spPr>
      </p:pic>
      <p:sp>
        <p:nvSpPr>
          <p:cNvPr id="86" name="Text 53"/>
          <p:cNvSpPr txBox="1"/>
          <p:nvPr/>
        </p:nvSpPr>
        <p:spPr>
          <a:xfrm>
            <a:off x="7896225" y="381000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7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998619" y="3807619"/>
            <a:ext cx="76200" cy="76200"/>
          </a:xfrm>
          <a:prstGeom prst="rect">
            <a:avLst/>
          </a:prstGeom>
        </p:spPr>
      </p:pic>
      <p:sp>
        <p:nvSpPr>
          <p:cNvPr id="88" name="Text 54"/>
          <p:cNvSpPr txBox="1"/>
          <p:nvPr/>
        </p:nvSpPr>
        <p:spPr>
          <a:xfrm>
            <a:off x="8001000" y="381000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9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03394" y="3807619"/>
            <a:ext cx="76200" cy="76200"/>
          </a:xfrm>
          <a:prstGeom prst="rect">
            <a:avLst/>
          </a:prstGeom>
        </p:spPr>
      </p:pic>
      <p:sp>
        <p:nvSpPr>
          <p:cNvPr id="90" name="Text 55"/>
          <p:cNvSpPr txBox="1"/>
          <p:nvPr/>
        </p:nvSpPr>
        <p:spPr>
          <a:xfrm>
            <a:off x="8105775" y="381000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1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208169" y="3807619"/>
            <a:ext cx="76200" cy="76200"/>
          </a:xfrm>
          <a:prstGeom prst="rect">
            <a:avLst/>
          </a:prstGeom>
        </p:spPr>
      </p:pic>
      <p:sp>
        <p:nvSpPr>
          <p:cNvPr id="92" name="Text 56"/>
          <p:cNvSpPr txBox="1"/>
          <p:nvPr/>
        </p:nvSpPr>
        <p:spPr>
          <a:xfrm>
            <a:off x="8210550" y="381000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70119" y="3288209"/>
            <a:ext cx="3126581" cy="905619"/>
          </a:xfrm>
          <a:prstGeom prst="rect">
            <a:avLst/>
          </a:prstGeom>
        </p:spPr>
      </p:pic>
      <p:sp>
        <p:nvSpPr>
          <p:cNvPr id="94" name="Text 57"/>
          <p:cNvSpPr txBox="1"/>
          <p:nvPr/>
        </p:nvSpPr>
        <p:spPr>
          <a:xfrm>
            <a:off x="8732044" y="3498205"/>
            <a:ext cx="25351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1050" b="1" spc="-11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Unlimited practice, offline</a:t>
            </a:r>
            <a:endParaRPr lang="en-US" sz="1050" dirty="0"/>
          </a:p>
        </p:txBody>
      </p:sp>
      <p:sp>
        <p:nvSpPr>
          <p:cNvPr id="95" name="Text 58"/>
          <p:cNvSpPr txBox="1"/>
          <p:nvPr/>
        </p:nvSpPr>
        <p:spPr>
          <a:xfrm>
            <a:off x="8732044" y="3686770"/>
            <a:ext cx="2535138" cy="2970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localStorage, no login tracking</a:t>
            </a:r>
            <a:endParaRPr lang="en-US" sz="863" dirty="0"/>
          </a:p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Parent weekly email: “Ask them: What if bias = +5?”</a:t>
            </a:r>
            <a:endParaRPr lang="en-US" sz="863" dirty="0"/>
          </a:p>
        </p:txBody>
      </p:sp>
      <p:sp>
        <p:nvSpPr>
          <p:cNvPr id="96" name="Text 59"/>
          <p:cNvSpPr txBox="1"/>
          <p:nvPr/>
        </p:nvSpPr>
        <p:spPr>
          <a:xfrm>
            <a:off x="11273284" y="3612356"/>
            <a:ext cx="261491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📧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457200"/>
            <a:ext cx="4811167" cy="8322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spcAft>
                <a:spcPts val="750"/>
              </a:spcAft>
              <a:buNone/>
            </a:pPr>
            <a:r>
              <a:rPr lang="en-US" sz="3450" b="1" spc="-69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to ask at home — </a:t>
            </a:r>
            <a:pPr indent="0" marL="0">
              <a:buNone/>
            </a:pPr>
            <a:r>
              <a:rPr lang="en-US" sz="3450" b="1" i="1" spc="-69" kern="0" dirty="0">
                <a:solidFill>
                  <a:srgbClr val="B1531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parent dashboard</a:t>
            </a:r>
            <a:endParaRPr lang="en-US" sz="3450" dirty="0"/>
          </a:p>
        </p:txBody>
      </p:sp>
      <p:sp>
        <p:nvSpPr>
          <p:cNvPr id="3" name="Text 1"/>
          <p:cNvSpPr txBox="1"/>
          <p:nvPr/>
        </p:nvSpPr>
        <p:spPr>
          <a:xfrm>
            <a:off x="495300" y="1403747"/>
            <a:ext cx="4381500" cy="666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350"/>
              </a:spcAft>
              <a:buNone/>
            </a:pPr>
            <a:r>
              <a:rPr lang="en-US" sz="1200" dirty="0">
                <a:solidFill>
                  <a:srgbClr val="58554E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 homework pressure. 90 minutes happens in class. At home: 5 minutes of reflection, no screens needed — cards and conversation.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975247"/>
            <a:ext cx="5192167" cy="22431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5325" y="2470547"/>
            <a:ext cx="160704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WEEKLY EMAIL — COPYABLE</a:t>
            </a:r>
            <a:endParaRPr lang="en-US" sz="8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414" y="2422922"/>
            <a:ext cx="460028" cy="23336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41664" y="2470547"/>
            <a:ext cx="26952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COPY</a:t>
            </a:r>
            <a:endParaRPr lang="en-US" sz="825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751534"/>
            <a:ext cx="4411117" cy="101917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38200" y="2884884"/>
            <a:ext cx="4125367" cy="7620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</a:t>
            </a:r>
            <a:pPr indent="0" marL="0">
              <a:buNone/>
            </a:pPr>
            <a:r>
              <a:rPr lang="en-US" sz="1013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This week: Neural Skill — Weighted Sum</a:t>
            </a:r>
            <a:endParaRPr lang="en-US" sz="1013" dirty="0"/>
          </a:p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Your child built AND gate with cards.</a:t>
            </a:r>
            <a:endParaRPr lang="en-US" sz="1013" dirty="0"/>
          </a:p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Skill Score </a:t>
            </a:r>
            <a:pPr indent="0" marL="0">
              <a:buNone/>
            </a:pPr>
            <a:r>
              <a:rPr lang="en-US" sz="1013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+3 → 78/100</a:t>
            </a:r>
            <a:pPr indent="0" marL="0">
              <a:buNone/>
            </a:pPr>
            <a:r>
              <a:rPr lang="en-US" sz="101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Strong: Data Cleaning</a:t>
            </a:r>
            <a:endParaRPr lang="en-US" sz="1013" dirty="0"/>
          </a:p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</a:t>
            </a:r>
            <a:pPr indent="0" marL="0">
              <a:buNone/>
            </a:pPr>
            <a:r>
              <a:rPr lang="en-US" sz="1013" b="1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Ask them:</a:t>
            </a:r>
            <a:pPr indent="0" marL="0">
              <a:buNone/>
            </a:pPr>
            <a:r>
              <a:rPr lang="en-US" sz="1013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“What if bias = +5? Would LED stay ON?” </a:t>
            </a:r>
            <a:endParaRPr lang="en-US" sz="1013" dirty="0"/>
          </a:p>
        </p:txBody>
      </p:sp>
      <p:sp>
        <p:nvSpPr>
          <p:cNvPr id="10" name="Shape 5"/>
          <p:cNvSpPr/>
          <p:nvPr/>
        </p:nvSpPr>
        <p:spPr>
          <a:xfrm>
            <a:off x="495300" y="4086225"/>
            <a:ext cx="2352675" cy="809625"/>
          </a:xfrm>
          <a:prstGeom prst="roundRect">
            <a:avLst>
              <a:gd name="adj" fmla="val 16471"/>
            </a:avLst>
          </a:prstGeom>
          <a:solidFill>
            <a:srgbClr val="241E18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628650" y="4218384"/>
            <a:ext cx="2081659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spc="-11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90-min in class, 5-min at home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628650" y="4445050"/>
            <a:ext cx="2081659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58554E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 worksheets. Just talk. Research shows reflection outlasts repetition.</a:t>
            </a:r>
            <a:endParaRPr lang="en-US" sz="863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959" y="4085034"/>
            <a:ext cx="2348508" cy="80947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100834" y="4227909"/>
            <a:ext cx="206275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spc="-11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Metacognition prompt</a:t>
            </a:r>
            <a:endParaRPr lang="en-US" sz="1050" dirty="0"/>
          </a:p>
        </p:txBody>
      </p:sp>
      <p:sp>
        <p:nvSpPr>
          <p:cNvPr id="15" name="Text 9"/>
          <p:cNvSpPr txBox="1"/>
          <p:nvPr/>
        </p:nvSpPr>
        <p:spPr>
          <a:xfrm>
            <a:off x="3100834" y="4454575"/>
            <a:ext cx="2062758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58554E">
                    <a:alpha val="8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“One thing I learned, one question I have, one thing I want to try tomorrow.”</a:t>
            </a:r>
            <a:endParaRPr lang="en-US" sz="863" dirty="0"/>
          </a:p>
        </p:txBody>
      </p:sp>
      <p:sp>
        <p:nvSpPr>
          <p:cNvPr id="16" name="Text 10"/>
          <p:cNvSpPr txBox="1"/>
          <p:nvPr/>
        </p:nvSpPr>
        <p:spPr>
          <a:xfrm>
            <a:off x="5573167" y="466725"/>
            <a:ext cx="612353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66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CONVERSATION STARTERS THAT WORK</a:t>
            </a:r>
            <a:endParaRPr lang="en-US" sz="82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167" y="709613"/>
            <a:ext cx="6123533" cy="582216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6042" y="833438"/>
            <a:ext cx="266700" cy="2667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822603" y="892969"/>
            <a:ext cx="160139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</a:t>
            </a:r>
            <a:endParaRPr lang="en-US" sz="975" dirty="0"/>
          </a:p>
        </p:txBody>
      </p:sp>
      <p:sp>
        <p:nvSpPr>
          <p:cNvPr id="20" name="Text 12"/>
          <p:cNvSpPr txBox="1"/>
          <p:nvPr/>
        </p:nvSpPr>
        <p:spPr>
          <a:xfrm>
            <a:off x="6116092" y="842963"/>
            <a:ext cx="5437733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“Explain to a 5-year-old what a neuron does?”</a:t>
            </a:r>
            <a:endParaRPr lang="en-US" sz="975" dirty="0"/>
          </a:p>
        </p:txBody>
      </p:sp>
      <p:sp>
        <p:nvSpPr>
          <p:cNvPr id="21" name="Text 13"/>
          <p:cNvSpPr txBox="1"/>
          <p:nvPr/>
        </p:nvSpPr>
        <p:spPr>
          <a:xfrm>
            <a:off x="6116092" y="1025723"/>
            <a:ext cx="5437733" cy="1422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Checks real understanding vs memorized words. If they can simplify, they truly get it.</a:t>
            </a:r>
            <a:endParaRPr lang="en-US" sz="863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3167" y="1387078"/>
            <a:ext cx="6123533" cy="582216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6042" y="1510903"/>
            <a:ext cx="266700" cy="2667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5814417" y="1570434"/>
            <a:ext cx="168325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975" dirty="0"/>
          </a:p>
        </p:txBody>
      </p:sp>
      <p:sp>
        <p:nvSpPr>
          <p:cNvPr id="25" name="Text 15"/>
          <p:cNvSpPr txBox="1"/>
          <p:nvPr/>
        </p:nvSpPr>
        <p:spPr>
          <a:xfrm>
            <a:off x="6116092" y="1520428"/>
            <a:ext cx="5437733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“My model worked when… but failed when… I fixed by…”</a:t>
            </a:r>
            <a:endParaRPr lang="en-US" sz="975" dirty="0"/>
          </a:p>
        </p:txBody>
      </p:sp>
      <p:sp>
        <p:nvSpPr>
          <p:cNvPr id="26" name="Text 16"/>
          <p:cNvSpPr txBox="1"/>
          <p:nvPr/>
        </p:nvSpPr>
        <p:spPr>
          <a:xfrm>
            <a:off x="6116092" y="1703189"/>
            <a:ext cx="5437733" cy="1422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Sentence starters from workbook. Normalizes failure — our Failure Museum.</a:t>
            </a:r>
            <a:endParaRPr lang="en-US" sz="863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3167" y="2064544"/>
            <a:ext cx="6123533" cy="582216"/>
          </a:xfrm>
          <a:prstGeom prst="rect">
            <a:avLst/>
          </a:prstGeom>
        </p:spPr>
      </p:pic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6042" y="2188369"/>
            <a:ext cx="266700" cy="266700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5813673" y="2247900"/>
            <a:ext cx="169069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975" dirty="0"/>
          </a:p>
        </p:txBody>
      </p:sp>
      <p:sp>
        <p:nvSpPr>
          <p:cNvPr id="30" name="Text 18"/>
          <p:cNvSpPr txBox="1"/>
          <p:nvPr/>
        </p:nvSpPr>
        <p:spPr>
          <a:xfrm>
            <a:off x="6116092" y="2197894"/>
            <a:ext cx="5437733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“Where does this analogy break?”</a:t>
            </a:r>
            <a:endParaRPr lang="en-US" sz="975" dirty="0"/>
          </a:p>
        </p:txBody>
      </p:sp>
      <p:sp>
        <p:nvSpPr>
          <p:cNvPr id="31" name="Text 19"/>
          <p:cNvSpPr txBox="1"/>
          <p:nvPr/>
        </p:nvSpPr>
        <p:spPr>
          <a:xfrm>
            <a:off x="6116092" y="2380655"/>
            <a:ext cx="5437733" cy="1422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241E18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Bouncer at Club doesn't learn — neuron does. Critical thinking over blind trust.</a:t>
            </a:r>
            <a:endParaRPr lang="en-US" sz="863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3167" y="2818209"/>
            <a:ext cx="6123533" cy="628650"/>
          </a:xfrm>
          <a:prstGeom prst="rect">
            <a:avLst/>
          </a:prstGeom>
        </p:spPr>
      </p:pic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35092" y="2961084"/>
            <a:ext cx="228154" cy="34290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742087" y="3022997"/>
            <a:ext cx="221159" cy="2809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💬</a:t>
            </a:r>
            <a:endParaRPr lang="en-US" sz="1350" dirty="0"/>
          </a:p>
        </p:txBody>
      </p:sp>
      <p:sp>
        <p:nvSpPr>
          <p:cNvPr id="35" name="Text 21"/>
          <p:cNvSpPr txBox="1"/>
          <p:nvPr/>
        </p:nvSpPr>
        <p:spPr>
          <a:xfrm>
            <a:off x="6077545" y="2976414"/>
            <a:ext cx="545723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Tip from teachers:</a:t>
            </a:r>
            <a:pPr indent="0" marL="0">
              <a:buNone/>
            </a:pPr>
            <a:r>
              <a:rPr lang="en-US" sz="9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Keep cards on dining table. When they teach you the AND gate with w=2, bias=-1 — let them be the expert. Portfolio grows from that pride.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25200" cy="8685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Safety &amp; access — </a:t>
            </a:r>
            <a:pPr indent="0" marL="0">
              <a:buNone/>
            </a:pPr>
            <a:r>
              <a:rPr lang="en-US" sz="3600" b="1" i="1" spc="-72" kern="0" dirty="0">
                <a:solidFill>
                  <a:srgbClr val="B1531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 hardware, no trademarks, offline ready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306711"/>
            <a:ext cx="781050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8554E">
                    <a:alpha val="7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Built so every school can run it — and every child can learn safely. No purchases, no brand names, no internet required after first load.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1630561"/>
            <a:ext cx="3949601" cy="2263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2925" y="1868686"/>
            <a:ext cx="47625" cy="178683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2059186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7868" y="2121098"/>
            <a:ext cx="278457" cy="2809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F6B43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🃏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921" y="2111573"/>
            <a:ext cx="1428155" cy="23812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597646" y="2168723"/>
            <a:ext cx="125670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DEFAULT • EVERY CLASS</a:t>
            </a:r>
            <a:endParaRPr lang="en-US" sz="750" dirty="0"/>
          </a:p>
        </p:txBody>
      </p:sp>
      <p:sp>
        <p:nvSpPr>
          <p:cNvPr id="10" name="Text 5"/>
          <p:cNvSpPr txBox="1"/>
          <p:nvPr/>
        </p:nvSpPr>
        <p:spPr>
          <a:xfrm>
            <a:off x="733425" y="2516386"/>
            <a:ext cx="3206651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buNone/>
            </a:pPr>
            <a:r>
              <a:rPr lang="en-US" sz="210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 hardware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733425" y="2887861"/>
            <a:ext cx="320665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CARDS / PAPER / PHONE</a:t>
            </a:r>
            <a:endParaRPr lang="en-US" sz="825" dirty="0"/>
          </a:p>
        </p:txBody>
      </p:sp>
      <p:sp>
        <p:nvSpPr>
          <p:cNvPr id="12" name="Text 7"/>
          <p:cNvSpPr txBox="1"/>
          <p:nvPr/>
        </p:nvSpPr>
        <p:spPr>
          <a:xfrm>
            <a:off x="733425" y="3140273"/>
            <a:ext cx="3206651" cy="34379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241E18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No-tech cards are the default. Works on floor, no projector. Optional kit is bonus, not required for grade.</a:t>
            </a:r>
            <a:endParaRPr lang="en-US" sz="96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051" y="1630561"/>
            <a:ext cx="3949750" cy="2263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302026" y="1868686"/>
            <a:ext cx="47625" cy="178683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2526" y="2059186"/>
            <a:ext cx="342900" cy="3429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556968" y="2121098"/>
            <a:ext cx="278457" cy="2809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©️</a:t>
            </a:r>
            <a:endParaRPr lang="en-US" sz="13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7332" y="2111573"/>
            <a:ext cx="1181993" cy="23812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603057" y="2168723"/>
            <a:ext cx="101054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SAFE FOR SCHOOLS</a:t>
            </a:r>
            <a:endParaRPr lang="en-US" sz="750" dirty="0"/>
          </a:p>
        </p:txBody>
      </p:sp>
      <p:sp>
        <p:nvSpPr>
          <p:cNvPr id="19" name="Text 11"/>
          <p:cNvSpPr txBox="1"/>
          <p:nvPr/>
        </p:nvSpPr>
        <p:spPr>
          <a:xfrm>
            <a:off x="4492526" y="2516386"/>
            <a:ext cx="3206800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buNone/>
            </a:pPr>
            <a:r>
              <a:rPr lang="en-US" sz="210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 trademarks</a:t>
            </a:r>
            <a:endParaRPr lang="en-US" sz="2100" dirty="0"/>
          </a:p>
        </p:txBody>
      </p:sp>
      <p:sp>
        <p:nvSpPr>
          <p:cNvPr id="20" name="Text 12"/>
          <p:cNvSpPr txBox="1"/>
          <p:nvPr/>
        </p:nvSpPr>
        <p:spPr>
          <a:xfrm>
            <a:off x="4492526" y="2887861"/>
            <a:ext cx="32068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GENERIC TERMS ONLY</a:t>
            </a:r>
            <a:endParaRPr lang="en-US" sz="825" dirty="0"/>
          </a:p>
        </p:txBody>
      </p:sp>
      <p:sp>
        <p:nvSpPr>
          <p:cNvPr id="21" name="Text 13"/>
          <p:cNvSpPr txBox="1"/>
          <p:nvPr/>
        </p:nvSpPr>
        <p:spPr>
          <a:xfrm>
            <a:off x="4492526" y="3140273"/>
            <a:ext cx="3206800" cy="34379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241E18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 say “controller board” not brand names. No AOPS/IXL-style terms. Safe to deploy anywhere.</a:t>
            </a:r>
            <a:endParaRPr lang="en-US" sz="96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0300" y="1630561"/>
            <a:ext cx="3949601" cy="226308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8061275" y="1868686"/>
            <a:ext cx="47625" cy="178683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1775" y="2059186"/>
            <a:ext cx="342900" cy="3429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8316218" y="2121098"/>
            <a:ext cx="278457" cy="2809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1531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📴</a:t>
            </a:r>
            <a:endParaRPr lang="en-US" sz="13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8456" y="2111573"/>
            <a:ext cx="949970" cy="23812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10594181" y="2168723"/>
            <a:ext cx="77852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241E18"/>
                </a:solidFill>
                <a:highlight>
                  <a:srgbClr val="F9F8E4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PWA • OFFLINE</a:t>
            </a:r>
            <a:endParaRPr lang="en-US" sz="750" dirty="0"/>
          </a:p>
        </p:txBody>
      </p:sp>
      <p:sp>
        <p:nvSpPr>
          <p:cNvPr id="28" name="Text 17"/>
          <p:cNvSpPr txBox="1"/>
          <p:nvPr/>
        </p:nvSpPr>
        <p:spPr>
          <a:xfrm>
            <a:off x="8251775" y="2516386"/>
            <a:ext cx="3206651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buNone/>
            </a:pPr>
            <a:r>
              <a:rPr lang="en-US" sz="2100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Offline ready</a:t>
            </a:r>
            <a:endParaRPr lang="en-US" sz="2100" dirty="0"/>
          </a:p>
        </p:txBody>
      </p:sp>
      <p:sp>
        <p:nvSpPr>
          <p:cNvPr id="29" name="Text 18"/>
          <p:cNvSpPr txBox="1"/>
          <p:nvPr/>
        </p:nvSpPr>
        <p:spPr>
          <a:xfrm>
            <a:off x="8251775" y="2887861"/>
            <a:ext cx="320665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241E18">
                    <a:alpha val="6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SERVICE WORKER CACHED</a:t>
            </a:r>
            <a:endParaRPr lang="en-US" sz="825" dirty="0"/>
          </a:p>
        </p:txBody>
      </p:sp>
      <p:sp>
        <p:nvSpPr>
          <p:cNvPr id="30" name="Text 19"/>
          <p:cNvSpPr txBox="1"/>
          <p:nvPr/>
        </p:nvSpPr>
        <p:spPr>
          <a:xfrm>
            <a:off x="8251775" y="3140273"/>
            <a:ext cx="3206651" cy="34379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241E18">
                    <a:alpha val="8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After first load, it runs offline. Schools with no internet can still run all 144 weeks. File ~212KB.</a:t>
            </a:r>
            <a:endParaRPr lang="en-US" sz="96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855541"/>
            <a:ext cx="3606701" cy="922734"/>
          </a:xfrm>
          <a:prstGeom prst="rect">
            <a:avLst/>
          </a:prstGeom>
        </p:spPr>
      </p:pic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325" y="3998416"/>
            <a:ext cx="304800" cy="30480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752624" y="4055566"/>
            <a:ext cx="247501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🖨️</a:t>
            </a:r>
            <a:endParaRPr lang="en-US" sz="1200" dirty="0"/>
          </a:p>
        </p:txBody>
      </p:sp>
      <p:sp>
        <p:nvSpPr>
          <p:cNvPr id="34" name="Text 21"/>
          <p:cNvSpPr txBox="1"/>
          <p:nvPr/>
        </p:nvSpPr>
        <p:spPr>
          <a:xfrm>
            <a:off x="1114425" y="3998416"/>
            <a:ext cx="2863751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25"/>
              </a:spcAft>
              <a:buNone/>
            </a:pPr>
            <a:r>
              <a:rPr lang="en-US" sz="975" b="1" spc="-10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Printable 1-page cards</a:t>
            </a:r>
            <a:endParaRPr lang="en-US" sz="975" dirty="0"/>
          </a:p>
        </p:txBody>
      </p:sp>
      <p:sp>
        <p:nvSpPr>
          <p:cNvPr id="35" name="Text 22"/>
          <p:cNvSpPr txBox="1"/>
          <p:nvPr/>
        </p:nvSpPr>
        <p:spPr>
          <a:xfrm>
            <a:off x="1114425" y="4185047"/>
            <a:ext cx="2863751" cy="45035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58554E">
                    <a:alpha val="7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Weights / bias / inputs pre-cut. 1 page per week. No color printing needed. Timer visible, music during Project 20m.</a:t>
            </a:r>
            <a:endParaRPr lang="en-US" sz="863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2501" y="3855541"/>
            <a:ext cx="3606850" cy="922734"/>
          </a:xfrm>
          <a:prstGeom prst="rect">
            <a:avLst/>
          </a:prstGeom>
        </p:spPr>
      </p:pic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4426" y="3998416"/>
            <a:ext cx="304800" cy="304800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4512766" y="4055566"/>
            <a:ext cx="246459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Aa</a:t>
            </a:r>
            <a:endParaRPr lang="en-US" sz="1200" dirty="0"/>
          </a:p>
        </p:txBody>
      </p:sp>
      <p:sp>
        <p:nvSpPr>
          <p:cNvPr id="39" name="Text 24"/>
          <p:cNvSpPr txBox="1"/>
          <p:nvPr/>
        </p:nvSpPr>
        <p:spPr>
          <a:xfrm>
            <a:off x="4873526" y="3998416"/>
            <a:ext cx="2863900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25"/>
              </a:spcAft>
              <a:buNone/>
            </a:pPr>
            <a:r>
              <a:rPr lang="en-US" sz="975" b="1" spc="-10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Dyslexia-friendly + accessible</a:t>
            </a:r>
            <a:endParaRPr lang="en-US" sz="975" dirty="0"/>
          </a:p>
        </p:txBody>
      </p:sp>
      <p:sp>
        <p:nvSpPr>
          <p:cNvPr id="40" name="Text 25"/>
          <p:cNvSpPr txBox="1"/>
          <p:nvPr/>
        </p:nvSpPr>
        <p:spPr>
          <a:xfrm>
            <a:off x="4873526" y="4185047"/>
            <a:ext cx="2863900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58554E">
                    <a:alpha val="7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Font toggle Nunito ↔ OpenDyslexic, high contrast toggle, size slider. Design for inclusion, not afterthought.</a:t>
            </a:r>
            <a:endParaRPr lang="en-US" sz="863" dirty="0"/>
          </a:p>
        </p:txBody>
      </p:sp>
      <p:sp>
        <p:nvSpPr>
          <p:cNvPr id="41" name="Shape 26"/>
          <p:cNvSpPr/>
          <p:nvPr/>
        </p:nvSpPr>
        <p:spPr>
          <a:xfrm>
            <a:off x="8048625" y="3857625"/>
            <a:ext cx="3609975" cy="923925"/>
          </a:xfrm>
          <a:prstGeom prst="roundRect">
            <a:avLst>
              <a:gd name="adj" fmla="val 14433"/>
            </a:avLst>
          </a:prstGeom>
          <a:solidFill>
            <a:srgbClr val="241E18"/>
          </a:solidFill>
          <a:ln/>
        </p:spPr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04150" y="3988891"/>
            <a:ext cx="304800" cy="304800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8261449" y="4046041"/>
            <a:ext cx="247501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9F8E4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🔒</a:t>
            </a:r>
            <a:endParaRPr lang="en-US" sz="1200" dirty="0"/>
          </a:p>
        </p:txBody>
      </p:sp>
      <p:sp>
        <p:nvSpPr>
          <p:cNvPr id="44" name="Text 28"/>
          <p:cNvSpPr txBox="1"/>
          <p:nvPr/>
        </p:nvSpPr>
        <p:spPr>
          <a:xfrm>
            <a:off x="8623250" y="3988891"/>
            <a:ext cx="2882801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25"/>
              </a:spcAft>
              <a:buNone/>
            </a:pPr>
            <a:r>
              <a:rPr lang="en-US" sz="975" b="1" spc="-10" kern="0" dirty="0">
                <a:solidFill>
                  <a:srgbClr val="F9F8E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Private by design</a:t>
            </a:r>
            <a:endParaRPr lang="en-US" sz="975" dirty="0"/>
          </a:p>
        </p:txBody>
      </p:sp>
      <p:sp>
        <p:nvSpPr>
          <p:cNvPr id="45" name="Text 29"/>
          <p:cNvSpPr txBox="1"/>
          <p:nvPr/>
        </p:nvSpPr>
        <p:spPr>
          <a:xfrm>
            <a:off x="8623250" y="4175522"/>
            <a:ext cx="2882801" cy="45035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58554E">
                    <a:alpha val="7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Passwords hashed SHA-256, no hint in UI. Session only. Cloudflare Pages $0 hosting • 25MB limit • localStorage portfolio.</a:t>
            </a:r>
            <a:endParaRPr lang="en-US" sz="863" dirty="0"/>
          </a:p>
        </p:txBody>
      </p:sp>
      <p:sp>
        <p:nvSpPr>
          <p:cNvPr id="46" name="Shape 30"/>
          <p:cNvSpPr/>
          <p:nvPr/>
        </p:nvSpPr>
        <p:spPr>
          <a:xfrm>
            <a:off x="533400" y="6134100"/>
            <a:ext cx="6438900" cy="352425"/>
          </a:xfrm>
          <a:prstGeom prst="roundRect">
            <a:avLst>
              <a:gd name="adj" fmla="val 2700000"/>
            </a:avLst>
          </a:prstGeom>
          <a:solidFill>
            <a:srgbClr val="1A1A1A">
              <a:alpha val="4000"/>
            </a:srgbClr>
          </a:solidFill>
          <a:ln/>
        </p:spPr>
      </p:sp>
      <p:sp>
        <p:nvSpPr>
          <p:cNvPr id="47" name="Shape 31"/>
          <p:cNvSpPr/>
          <p:nvPr/>
        </p:nvSpPr>
        <p:spPr>
          <a:xfrm>
            <a:off x="704850" y="6267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F6B43"/>
          </a:solidFill>
          <a:ln/>
          <a:effectLst>
            <a:outerShdw sx="100000" sy="100000" kx="0" ky="0" algn="bl" rotWithShape="0" blurRad="3997" dist="1756" dir="5400000">
              <a:srgbClr val="000000">
                <a:alpha val="100000"/>
              </a:srgbClr>
            </a:outerShdw>
          </a:effectLst>
        </p:spPr>
      </p:sp>
      <p:sp>
        <p:nvSpPr>
          <p:cNvPr id="48" name="Text 32"/>
          <p:cNvSpPr txBox="1"/>
          <p:nvPr/>
        </p:nvSpPr>
        <p:spPr>
          <a:xfrm>
            <a:off x="895350" y="6234113"/>
            <a:ext cx="590922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For parents:</a:t>
            </a:r>
            <a:pPr indent="0" marL="0">
              <a:buNone/>
            </a:pPr>
            <a:r>
              <a:rPr lang="en-US" sz="825" spc="33" kern="0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No data leaves device. No photos collected. Anonymized counts only. Opt-out taught as consent skill.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-1143000"/>
            <a:ext cx="5334000" cy="5334000"/>
          </a:xfrm>
          <a:prstGeom prst="roundRect">
            <a:avLst>
              <a:gd name="adj" fmla="val 50000"/>
            </a:avLst>
          </a:prstGeom>
          <a:solidFill>
            <a:srgbClr val="B14E1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63000" y="4381500"/>
            <a:ext cx="4000500" cy="4000500"/>
          </a:xfrm>
          <a:prstGeom prst="roundRect">
            <a:avLst>
              <a:gd name="adj" fmla="val 50000"/>
            </a:avLst>
          </a:prstGeom>
          <a:solidFill>
            <a:srgbClr val="336640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349079" y="1526530"/>
            <a:ext cx="5493841" cy="4906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spc="-84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Next steps — </a:t>
            </a:r>
            <a:pPr indent="0" marL="0">
              <a:buNone/>
            </a:pPr>
            <a:r>
              <a:rPr lang="en-US" sz="4200" b="1" i="1" spc="-84" kern="0" dirty="0">
                <a:solidFill>
                  <a:srgbClr val="B1531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try it today</a:t>
            </a:r>
            <a:endParaRPr lang="en-US" sz="4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550" y="1979116"/>
            <a:ext cx="3048000" cy="2363837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2369641"/>
            <a:ext cx="884783" cy="23812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71700" y="2426791"/>
            <a:ext cx="71333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01 • LIVE SITE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2085975" y="2683966"/>
            <a:ext cx="234315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1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Open the academy</a:t>
            </a:r>
            <a:endParaRPr lang="en-US" sz="1125" dirty="0"/>
          </a:p>
        </p:txBody>
      </p:sp>
      <p:sp>
        <p:nvSpPr>
          <p:cNvPr id="9" name="Text 5"/>
          <p:cNvSpPr txBox="1"/>
          <p:nvPr/>
        </p:nvSpPr>
        <p:spPr>
          <a:xfrm>
            <a:off x="2085975" y="2941141"/>
            <a:ext cx="2343150" cy="1561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8554E">
                    <a:alpha val="8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Works on phone, offline after first load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75" y="3173462"/>
            <a:ext cx="2343150" cy="6048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171700" y="3259187"/>
            <a:ext cx="2171700" cy="4524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241E1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ai-academy.pages.dev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241E1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Student: student1234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241E1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Teacher: teacher1234</a:t>
            </a:r>
            <a:endParaRPr lang="en-US" sz="825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79116"/>
            <a:ext cx="3048000" cy="2363837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425" y="2369641"/>
            <a:ext cx="1037332" cy="23812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010150" y="2426791"/>
            <a:ext cx="86588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02 • START HERE</a:t>
            </a:r>
            <a:endParaRPr lang="en-US" sz="750" dirty="0"/>
          </a:p>
        </p:txBody>
      </p:sp>
      <p:sp>
        <p:nvSpPr>
          <p:cNvPr id="15" name="Text 8"/>
          <p:cNvSpPr txBox="1"/>
          <p:nvPr/>
        </p:nvSpPr>
        <p:spPr>
          <a:xfrm>
            <a:off x="4924425" y="2683966"/>
            <a:ext cx="234315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1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90 minutes, no hardware</a:t>
            </a:r>
            <a:endParaRPr lang="en-US" sz="1125" dirty="0"/>
          </a:p>
        </p:txBody>
      </p:sp>
      <p:sp>
        <p:nvSpPr>
          <p:cNvPr id="16" name="Text 9"/>
          <p:cNvSpPr txBox="1"/>
          <p:nvPr/>
        </p:nvSpPr>
        <p:spPr>
          <a:xfrm>
            <a:off x="4924425" y="2941141"/>
            <a:ext cx="2343150" cy="487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8554E">
                    <a:alpha val="8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Begin with L1 W1 Pattern Detector — Sock Sorting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8554E">
                    <a:alpha val="8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or L3 U1 W2 Neural Skill — Weighted Sum</a:t>
            </a:r>
            <a:endParaRPr lang="en-US" sz="9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425" y="3504754"/>
            <a:ext cx="2343150" cy="44767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010150" y="3590479"/>
            <a:ext cx="2171700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241E1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 cards → slider simulator → Demo</a:t>
            </a:r>
            <a:endParaRPr lang="en-US" sz="825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0450" y="1979116"/>
            <a:ext cx="3048000" cy="2363837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2875" y="2369641"/>
            <a:ext cx="1116211" cy="23812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848600" y="2426791"/>
            <a:ext cx="94476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03 • REAL ENDING</a:t>
            </a:r>
            <a:endParaRPr lang="en-US" sz="750" dirty="0"/>
          </a:p>
        </p:txBody>
      </p:sp>
      <p:sp>
        <p:nvSpPr>
          <p:cNvPr id="22" name="Text 12"/>
          <p:cNvSpPr txBox="1"/>
          <p:nvPr/>
        </p:nvSpPr>
        <p:spPr>
          <a:xfrm>
            <a:off x="7762875" y="2683966"/>
            <a:ext cx="234315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1" kern="0" dirty="0">
                <a:solidFill>
                  <a:srgbClr val="241E1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Demo Day at end of L4</a:t>
            </a:r>
            <a:endParaRPr lang="en-US" sz="1125" dirty="0"/>
          </a:p>
        </p:txBody>
      </p:sp>
      <p:sp>
        <p:nvSpPr>
          <p:cNvPr id="23" name="Text 13"/>
          <p:cNvSpPr txBox="1"/>
          <p:nvPr/>
        </p:nvSpPr>
        <p:spPr>
          <a:xfrm>
            <a:off x="7762875" y="2941141"/>
            <a:ext cx="2343150" cy="487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8554E">
                    <a:alpha val="80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 audience — parents, other classes, community website. Portfolio auto-builds to show high school.</a:t>
            </a:r>
            <a:endParaRPr lang="en-US" sz="9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2875" y="3504754"/>
            <a:ext cx="2343150" cy="447675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7848600" y="3590479"/>
            <a:ext cx="2171700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241E1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Ask teacher: “Choice Board + My AI Portfolio link?”</a:t>
            </a:r>
            <a:endParaRPr lang="en-US" sz="825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5385" y="4342954"/>
            <a:ext cx="3514130" cy="428625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2814935" y="4476304"/>
            <a:ext cx="309503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spc="21" kern="0" dirty="0">
                <a:solidFill>
                  <a:srgbClr val="F9F8E4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Ask your teacher for Choice Board + Portfolio →</a:t>
            </a:r>
            <a:endParaRPr lang="en-US" sz="10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815" y="4359622"/>
            <a:ext cx="3352800" cy="395288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6414790" y="4483447"/>
            <a:ext cx="299085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41E18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GitHub: github.com/ramanaraokamma/ai-academy</a:t>
            </a:r>
            <a:endParaRPr lang="en-US" sz="975" dirty="0"/>
          </a:p>
        </p:txBody>
      </p:sp>
      <p:sp>
        <p:nvSpPr>
          <p:cNvPr id="30" name="Text 17"/>
          <p:cNvSpPr txBox="1"/>
          <p:nvPr/>
        </p:nvSpPr>
        <p:spPr>
          <a:xfrm>
            <a:off x="2857500" y="5047804"/>
            <a:ext cx="6477000" cy="2836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241E18">
                    <a:alpha val="55000"/>
                  </a:srgb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 hardware • No trademarks • Classroom PWA $0 hosting • 212KB verified • 144 weeks • Dyslexia-friendly font toggle • This is for your child — global standards, local stories like auto-rickshaw fares, tiffin SLAM, Diwali lights.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AI-Academy-Future-Ready-Skills-for-Grades-6-9</dc:title>
  <dc:subject>PptxGenJS Presentation</dc:subject>
  <dc:creator>PptxGenJS</dc:creator>
  <cp:lastModifiedBy>PptxGenJS</cp:lastModifiedBy>
  <cp:revision>1</cp:revision>
  <dcterms:created xsi:type="dcterms:W3CDTF">2026-09-25T20:51:29Z</dcterms:created>
  <dcterms:modified xsi:type="dcterms:W3CDTF">2026-09-25T20:51:29Z</dcterms:modified>
</cp:coreProperties>
</file>